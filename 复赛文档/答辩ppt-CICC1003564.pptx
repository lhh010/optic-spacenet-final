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7" r:id="rId2"/>
    <p:sldId id="275" r:id="rId3"/>
    <p:sldId id="276" r:id="rId4"/>
    <p:sldId id="265" r:id="rId5"/>
    <p:sldId id="259" r:id="rId6"/>
    <p:sldId id="260" r:id="rId7"/>
    <p:sldId id="261" r:id="rId8"/>
    <p:sldId id="262" r:id="rId9"/>
    <p:sldId id="273" r:id="rId10"/>
    <p:sldId id="267" r:id="rId11"/>
    <p:sldId id="274" r:id="rId12"/>
    <p:sldId id="271" r:id="rId13"/>
    <p:sldId id="269" r:id="rId14"/>
    <p:sldId id="266" r:id="rId15"/>
    <p:sldId id="268" r:id="rId16"/>
    <p:sldId id="263" r:id="rId17"/>
    <p:sldId id="264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75F1B"/>
    <a:srgbClr val="336600"/>
    <a:srgbClr val="000099"/>
    <a:srgbClr val="990033"/>
    <a:srgbClr val="A404CA"/>
    <a:srgbClr val="DA6579"/>
    <a:srgbClr val="588FE8"/>
    <a:srgbClr val="10BE84"/>
    <a:srgbClr val="FFFFFF"/>
    <a:srgbClr val="2A27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96" y="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hhisdd@163.com" userId="2506bc780afbb998" providerId="LiveId" clId="{68026A53-0B08-4D3B-8D84-A965C5E49912}"/>
    <pc:docChg chg="modSld">
      <pc:chgData name="lhhisdd@163.com" userId="2506bc780afbb998" providerId="LiveId" clId="{68026A53-0B08-4D3B-8D84-A965C5E49912}" dt="2026-07-19T14:50:03.164" v="3" actId="2711"/>
      <pc:docMkLst>
        <pc:docMk/>
      </pc:docMkLst>
      <pc:sldChg chg="modSp mod">
        <pc:chgData name="lhhisdd@163.com" userId="2506bc780afbb998" providerId="LiveId" clId="{68026A53-0B08-4D3B-8D84-A965C5E49912}" dt="2026-07-19T14:50:03.164" v="3" actId="2711"/>
        <pc:sldMkLst>
          <pc:docMk/>
          <pc:sldMk cId="0" sldId="265"/>
        </pc:sldMkLst>
        <pc:spChg chg="mod">
          <ac:chgData name="lhhisdd@163.com" userId="2506bc780afbb998" providerId="LiveId" clId="{68026A53-0B08-4D3B-8D84-A965C5E49912}" dt="2026-07-19T14:50:03.164" v="3" actId="2711"/>
          <ac:spMkLst>
            <pc:docMk/>
            <pc:sldMk cId="0" sldId="265"/>
            <ac:spMk id="4" creationId="{00000000-0000-0000-0000-000000000000}"/>
          </ac:spMkLst>
        </pc:spChg>
        <pc:spChg chg="mod">
          <ac:chgData name="lhhisdd@163.com" userId="2506bc780afbb998" providerId="LiveId" clId="{68026A53-0B08-4D3B-8D84-A965C5E49912}" dt="2026-07-19T14:50:03.164" v="3" actId="2711"/>
          <ac:spMkLst>
            <pc:docMk/>
            <pc:sldMk cId="0" sldId="265"/>
            <ac:spMk id="6" creationId="{00000000-0000-0000-0000-000000000000}"/>
          </ac:spMkLst>
        </pc:spChg>
        <pc:spChg chg="mod">
          <ac:chgData name="lhhisdd@163.com" userId="2506bc780afbb998" providerId="LiveId" clId="{68026A53-0B08-4D3B-8D84-A965C5E49912}" dt="2026-07-19T14:50:03.164" v="3" actId="2711"/>
          <ac:spMkLst>
            <pc:docMk/>
            <pc:sldMk cId="0" sldId="265"/>
            <ac:spMk id="111" creationId="{00000000-0000-0000-0000-000000000000}"/>
          </ac:spMkLst>
        </pc:spChg>
        <pc:spChg chg="mod">
          <ac:chgData name="lhhisdd@163.com" userId="2506bc780afbb998" providerId="LiveId" clId="{68026A53-0B08-4D3B-8D84-A965C5E49912}" dt="2026-07-19T14:50:03.164" v="3" actId="2711"/>
          <ac:spMkLst>
            <pc:docMk/>
            <pc:sldMk cId="0" sldId="265"/>
            <ac:spMk id="11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F60B81-9FB9-463D-887C-E815C92BB131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FD74B1-9578-41F2-9F83-75E9C2DDC17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图片更新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FD74B1-9578-41F2-9F83-75E9C2DDC17D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混合分割加速比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硬件在环闭环训练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在轨实验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FD74B1-9578-41F2-9F83-75E9C2DDC17D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C73B0-5CBF-4C2B-913F-C8FC7EDBB2EF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8E4ED-5289-4BB6-9CD9-1197EE4CA2B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C73B0-5CBF-4C2B-913F-C8FC7EDBB2EF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8E4ED-5289-4BB6-9CD9-1197EE4CA2B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C73B0-5CBF-4C2B-913F-C8FC7EDBB2EF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8E4ED-5289-4BB6-9CD9-1197EE4CA2B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C73B0-5CBF-4C2B-913F-C8FC7EDBB2EF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8E4ED-5289-4BB6-9CD9-1197EE4CA2B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C73B0-5CBF-4C2B-913F-C8FC7EDBB2EF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8E4ED-5289-4BB6-9CD9-1197EE4CA2B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C73B0-5CBF-4C2B-913F-C8FC7EDBB2EF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8E4ED-5289-4BB6-9CD9-1197EE4CA2B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C73B0-5CBF-4C2B-913F-C8FC7EDBB2EF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8E4ED-5289-4BB6-9CD9-1197EE4CA2B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C73B0-5CBF-4C2B-913F-C8FC7EDBB2EF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8E4ED-5289-4BB6-9CD9-1197EE4CA2B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C73B0-5CBF-4C2B-913F-C8FC7EDBB2EF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8E4ED-5289-4BB6-9CD9-1197EE4CA2B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C73B0-5CBF-4C2B-913F-C8FC7EDBB2EF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8E4ED-5289-4BB6-9CD9-1197EE4CA2B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C73B0-5CBF-4C2B-913F-C8FC7EDBB2EF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8E4ED-5289-4BB6-9CD9-1197EE4CA2B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图片占位符 68"/>
          <p:cNvSpPr>
            <a:spLocks noGrp="1"/>
          </p:cNvSpPr>
          <p:nvPr>
            <p:ph type="pic" sz="quarter" idx="19"/>
          </p:nvPr>
        </p:nvSpPr>
        <p:spPr>
          <a:xfrm>
            <a:off x="0" y="0"/>
            <a:ext cx="4927057" cy="6866909"/>
          </a:xfrm>
          <a:custGeom>
            <a:avLst/>
            <a:gdLst>
              <a:gd name="connsiteX0" fmla="*/ 0 w 4927057"/>
              <a:gd name="connsiteY0" fmla="*/ 0 h 6866909"/>
              <a:gd name="connsiteX1" fmla="*/ 4547560 w 4927057"/>
              <a:gd name="connsiteY1" fmla="*/ 0 h 6866909"/>
              <a:gd name="connsiteX2" fmla="*/ 4816571 w 4927057"/>
              <a:gd name="connsiteY2" fmla="*/ 103308 h 6866909"/>
              <a:gd name="connsiteX3" fmla="*/ 4816571 w 4927057"/>
              <a:gd name="connsiteY3" fmla="*/ 613768 h 6866909"/>
              <a:gd name="connsiteX4" fmla="*/ 2331425 w 4927057"/>
              <a:gd name="connsiteY4" fmla="*/ 2971609 h 6866909"/>
              <a:gd name="connsiteX5" fmla="*/ 2331425 w 4927057"/>
              <a:gd name="connsiteY5" fmla="*/ 3475993 h 6866909"/>
              <a:gd name="connsiteX6" fmla="*/ 3843009 w 4927057"/>
              <a:gd name="connsiteY6" fmla="*/ 4916221 h 6866909"/>
              <a:gd name="connsiteX7" fmla="*/ 3843009 w 4927057"/>
              <a:gd name="connsiteY7" fmla="*/ 5420605 h 6866909"/>
              <a:gd name="connsiteX8" fmla="*/ 2433906 w 4927057"/>
              <a:gd name="connsiteY8" fmla="*/ 6763602 h 6866909"/>
              <a:gd name="connsiteX9" fmla="*/ 2164895 w 4927057"/>
              <a:gd name="connsiteY9" fmla="*/ 6866909 h 6866909"/>
              <a:gd name="connsiteX10" fmla="*/ 0 w 4927057"/>
              <a:gd name="connsiteY10" fmla="*/ 6866909 h 6866909"/>
              <a:gd name="connsiteX11" fmla="*/ 0 w 4927057"/>
              <a:gd name="connsiteY11" fmla="*/ 0 h 6866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927057" h="6866909">
                <a:moveTo>
                  <a:pt x="0" y="0"/>
                </a:moveTo>
                <a:lnTo>
                  <a:pt x="4547560" y="0"/>
                </a:lnTo>
                <a:cubicBezTo>
                  <a:pt x="4650041" y="0"/>
                  <a:pt x="4746116" y="36462"/>
                  <a:pt x="4816571" y="103308"/>
                </a:cubicBezTo>
                <a:cubicBezTo>
                  <a:pt x="4963886" y="243077"/>
                  <a:pt x="4963886" y="473999"/>
                  <a:pt x="4816571" y="613768"/>
                </a:cubicBezTo>
                <a:cubicBezTo>
                  <a:pt x="4816571" y="613768"/>
                  <a:pt x="4816571" y="613768"/>
                  <a:pt x="2331425" y="2971609"/>
                </a:cubicBezTo>
                <a:cubicBezTo>
                  <a:pt x="2184110" y="3111379"/>
                  <a:pt x="2184110" y="3336224"/>
                  <a:pt x="2331425" y="3475993"/>
                </a:cubicBezTo>
                <a:cubicBezTo>
                  <a:pt x="2331425" y="3475993"/>
                  <a:pt x="2331425" y="3475993"/>
                  <a:pt x="3843009" y="4916221"/>
                </a:cubicBezTo>
                <a:cubicBezTo>
                  <a:pt x="3990324" y="5055990"/>
                  <a:pt x="3990324" y="5280836"/>
                  <a:pt x="3843009" y="5420605"/>
                </a:cubicBezTo>
                <a:cubicBezTo>
                  <a:pt x="3843009" y="5420605"/>
                  <a:pt x="3843009" y="5420605"/>
                  <a:pt x="2433906" y="6763602"/>
                </a:cubicBezTo>
                <a:cubicBezTo>
                  <a:pt x="2363450" y="6830448"/>
                  <a:pt x="2267375" y="6866909"/>
                  <a:pt x="2164895" y="6866909"/>
                </a:cubicBezTo>
                <a:cubicBezTo>
                  <a:pt x="2164895" y="6866909"/>
                  <a:pt x="2164895" y="6866909"/>
                  <a:pt x="0" y="6866909"/>
                </a:cubicBezTo>
                <a:cubicBezTo>
                  <a:pt x="0" y="6866909"/>
                  <a:pt x="0" y="6866909"/>
                  <a:pt x="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66" name="任意多边形: 形状 65"/>
          <p:cNvSpPr/>
          <p:nvPr userDrawn="1"/>
        </p:nvSpPr>
        <p:spPr bwMode="auto">
          <a:xfrm>
            <a:off x="0" y="-8909"/>
            <a:ext cx="146229" cy="6866909"/>
          </a:xfrm>
          <a:custGeom>
            <a:avLst/>
            <a:gdLst>
              <a:gd name="connsiteX0" fmla="*/ 0 w 146229"/>
              <a:gd name="connsiteY0" fmla="*/ 0 h 6866909"/>
              <a:gd name="connsiteX1" fmla="*/ 146229 w 146229"/>
              <a:gd name="connsiteY1" fmla="*/ 0 h 6866909"/>
              <a:gd name="connsiteX2" fmla="*/ 146229 w 146229"/>
              <a:gd name="connsiteY2" fmla="*/ 6866909 h 6866909"/>
              <a:gd name="connsiteX3" fmla="*/ 0 w 146229"/>
              <a:gd name="connsiteY3" fmla="*/ 6866909 h 6866909"/>
              <a:gd name="connsiteX4" fmla="*/ 0 w 146229"/>
              <a:gd name="connsiteY4" fmla="*/ 0 h 6866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6229" h="6866909">
                <a:moveTo>
                  <a:pt x="0" y="0"/>
                </a:moveTo>
                <a:lnTo>
                  <a:pt x="146229" y="0"/>
                </a:lnTo>
                <a:cubicBezTo>
                  <a:pt x="146229" y="6866909"/>
                  <a:pt x="146229" y="6866909"/>
                  <a:pt x="146229" y="6866909"/>
                </a:cubicBezTo>
                <a:lnTo>
                  <a:pt x="0" y="6866909"/>
                </a:lnTo>
                <a:cubicBezTo>
                  <a:pt x="0" y="6866909"/>
                  <a:pt x="0" y="6866909"/>
                  <a:pt x="0" y="0"/>
                </a:cubicBezTo>
                <a:close/>
              </a:path>
            </a:pathLst>
          </a:custGeom>
          <a:solidFill>
            <a:srgbClr val="00ADE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/>
          </a:p>
        </p:txBody>
      </p:sp>
      <p:sp>
        <p:nvSpPr>
          <p:cNvPr id="65" name="任意多边形: 形状 64"/>
          <p:cNvSpPr/>
          <p:nvPr userDrawn="1"/>
        </p:nvSpPr>
        <p:spPr bwMode="auto">
          <a:xfrm>
            <a:off x="2490525" y="0"/>
            <a:ext cx="2946441" cy="6866909"/>
          </a:xfrm>
          <a:custGeom>
            <a:avLst/>
            <a:gdLst>
              <a:gd name="connsiteX0" fmla="*/ 2253196 w 2946441"/>
              <a:gd name="connsiteY0" fmla="*/ 0 h 6866909"/>
              <a:gd name="connsiteX1" fmla="*/ 2592682 w 2946441"/>
              <a:gd name="connsiteY1" fmla="*/ 0 h 6866909"/>
              <a:gd name="connsiteX2" fmla="*/ 2841680 w 2946441"/>
              <a:gd name="connsiteY2" fmla="*/ 103307 h 6866909"/>
              <a:gd name="connsiteX3" fmla="*/ 2841680 w 2946441"/>
              <a:gd name="connsiteY3" fmla="*/ 613768 h 6866909"/>
              <a:gd name="connsiteX4" fmla="*/ 485308 w 2946441"/>
              <a:gd name="connsiteY4" fmla="*/ 2971609 h 6866909"/>
              <a:gd name="connsiteX5" fmla="*/ 485308 w 2946441"/>
              <a:gd name="connsiteY5" fmla="*/ 3475993 h 6866909"/>
              <a:gd name="connsiteX6" fmla="*/ 1924638 w 2946441"/>
              <a:gd name="connsiteY6" fmla="*/ 4916221 h 6866909"/>
              <a:gd name="connsiteX7" fmla="*/ 1924638 w 2946441"/>
              <a:gd name="connsiteY7" fmla="*/ 5420605 h 6866909"/>
              <a:gd name="connsiteX8" fmla="*/ 588551 w 2946441"/>
              <a:gd name="connsiteY8" fmla="*/ 6763602 h 6866909"/>
              <a:gd name="connsiteX9" fmla="*/ 333479 w 2946441"/>
              <a:gd name="connsiteY9" fmla="*/ 6866909 h 6866909"/>
              <a:gd name="connsiteX10" fmla="*/ 42616 w 2946441"/>
              <a:gd name="connsiteY10" fmla="*/ 6866909 h 6866909"/>
              <a:gd name="connsiteX11" fmla="*/ 0 w 2946441"/>
              <a:gd name="connsiteY11" fmla="*/ 6866909 h 6866909"/>
              <a:gd name="connsiteX12" fmla="*/ 255079 w 2946441"/>
              <a:gd name="connsiteY12" fmla="*/ 6763602 h 6866909"/>
              <a:gd name="connsiteX13" fmla="*/ 1591205 w 2946441"/>
              <a:gd name="connsiteY13" fmla="*/ 5420605 h 6866909"/>
              <a:gd name="connsiteX14" fmla="*/ 1591205 w 2946441"/>
              <a:gd name="connsiteY14" fmla="*/ 4916221 h 6866909"/>
              <a:gd name="connsiteX15" fmla="*/ 151833 w 2946441"/>
              <a:gd name="connsiteY15" fmla="*/ 3475993 h 6866909"/>
              <a:gd name="connsiteX16" fmla="*/ 151833 w 2946441"/>
              <a:gd name="connsiteY16" fmla="*/ 2971609 h 6866909"/>
              <a:gd name="connsiteX17" fmla="*/ 2508274 w 2946441"/>
              <a:gd name="connsiteY17" fmla="*/ 613768 h 6866909"/>
              <a:gd name="connsiteX18" fmla="*/ 2508274 w 2946441"/>
              <a:gd name="connsiteY18" fmla="*/ 103307 h 6866909"/>
              <a:gd name="connsiteX19" fmla="*/ 2253196 w 2946441"/>
              <a:gd name="connsiteY19" fmla="*/ 0 h 6866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2946441" h="6866909">
                <a:moveTo>
                  <a:pt x="2253196" y="0"/>
                </a:moveTo>
                <a:lnTo>
                  <a:pt x="2592682" y="0"/>
                </a:lnTo>
                <a:cubicBezTo>
                  <a:pt x="2683779" y="0"/>
                  <a:pt x="2774876" y="36461"/>
                  <a:pt x="2841680" y="103307"/>
                </a:cubicBezTo>
                <a:cubicBezTo>
                  <a:pt x="2981362" y="243076"/>
                  <a:pt x="2981362" y="473999"/>
                  <a:pt x="2841680" y="613768"/>
                </a:cubicBezTo>
                <a:cubicBezTo>
                  <a:pt x="2841680" y="613768"/>
                  <a:pt x="2841680" y="613768"/>
                  <a:pt x="485308" y="2971609"/>
                </a:cubicBezTo>
                <a:cubicBezTo>
                  <a:pt x="345626" y="3111378"/>
                  <a:pt x="345626" y="3336224"/>
                  <a:pt x="485308" y="3475993"/>
                </a:cubicBezTo>
                <a:cubicBezTo>
                  <a:pt x="485308" y="3475993"/>
                  <a:pt x="485308" y="3475993"/>
                  <a:pt x="1924638" y="4916221"/>
                </a:cubicBezTo>
                <a:cubicBezTo>
                  <a:pt x="2064320" y="5055990"/>
                  <a:pt x="2064320" y="5280836"/>
                  <a:pt x="1924638" y="5420605"/>
                </a:cubicBezTo>
                <a:cubicBezTo>
                  <a:pt x="1924638" y="5420605"/>
                  <a:pt x="1924638" y="5420605"/>
                  <a:pt x="588551" y="6763602"/>
                </a:cubicBezTo>
                <a:cubicBezTo>
                  <a:pt x="521746" y="6830448"/>
                  <a:pt x="430649" y="6866909"/>
                  <a:pt x="333479" y="6866909"/>
                </a:cubicBezTo>
                <a:cubicBezTo>
                  <a:pt x="333479" y="6866909"/>
                  <a:pt x="333479" y="6866909"/>
                  <a:pt x="42616" y="6866909"/>
                </a:cubicBezTo>
                <a:lnTo>
                  <a:pt x="0" y="6866909"/>
                </a:lnTo>
                <a:cubicBezTo>
                  <a:pt x="97173" y="6866909"/>
                  <a:pt x="188272" y="6830448"/>
                  <a:pt x="255079" y="6763602"/>
                </a:cubicBezTo>
                <a:cubicBezTo>
                  <a:pt x="1591205" y="5420605"/>
                  <a:pt x="1591205" y="5420605"/>
                  <a:pt x="1591205" y="5420605"/>
                </a:cubicBezTo>
                <a:cubicBezTo>
                  <a:pt x="1730891" y="5280836"/>
                  <a:pt x="1730891" y="5055990"/>
                  <a:pt x="1591205" y="4916221"/>
                </a:cubicBezTo>
                <a:cubicBezTo>
                  <a:pt x="151833" y="3475993"/>
                  <a:pt x="151833" y="3475993"/>
                  <a:pt x="151833" y="3475993"/>
                </a:cubicBezTo>
                <a:cubicBezTo>
                  <a:pt x="12147" y="3336224"/>
                  <a:pt x="12147" y="3111378"/>
                  <a:pt x="151833" y="2971609"/>
                </a:cubicBezTo>
                <a:cubicBezTo>
                  <a:pt x="2508274" y="613768"/>
                  <a:pt x="2508274" y="613768"/>
                  <a:pt x="2508274" y="613768"/>
                </a:cubicBezTo>
                <a:cubicBezTo>
                  <a:pt x="2647960" y="473999"/>
                  <a:pt x="2647960" y="243076"/>
                  <a:pt x="2508274" y="103307"/>
                </a:cubicBezTo>
                <a:cubicBezTo>
                  <a:pt x="2441468" y="36461"/>
                  <a:pt x="2350368" y="0"/>
                  <a:pt x="2253196" y="0"/>
                </a:cubicBezTo>
                <a:close/>
              </a:path>
            </a:pathLst>
          </a:custGeom>
          <a:solidFill>
            <a:srgbClr val="00ADE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/>
          </a:p>
        </p:txBody>
      </p:sp>
      <p:sp>
        <p:nvSpPr>
          <p:cNvPr id="59" name="Freeform 52"/>
          <p:cNvSpPr/>
          <p:nvPr userDrawn="1"/>
        </p:nvSpPr>
        <p:spPr bwMode="auto">
          <a:xfrm>
            <a:off x="3497795" y="6004160"/>
            <a:ext cx="1836635" cy="862751"/>
          </a:xfrm>
          <a:custGeom>
            <a:avLst/>
            <a:gdLst>
              <a:gd name="T0" fmla="*/ 302 w 302"/>
              <a:gd name="T1" fmla="*/ 142 h 142"/>
              <a:gd name="T2" fmla="*/ 173 w 302"/>
              <a:gd name="T3" fmla="*/ 12 h 142"/>
              <a:gd name="T4" fmla="*/ 129 w 302"/>
              <a:gd name="T5" fmla="*/ 12 h 142"/>
              <a:gd name="T6" fmla="*/ 0 w 302"/>
              <a:gd name="T7" fmla="*/ 142 h 142"/>
              <a:gd name="T8" fmla="*/ 302 w 302"/>
              <a:gd name="T9" fmla="*/ 142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2" h="142">
                <a:moveTo>
                  <a:pt x="302" y="142"/>
                </a:moveTo>
                <a:cubicBezTo>
                  <a:pt x="173" y="12"/>
                  <a:pt x="173" y="12"/>
                  <a:pt x="173" y="12"/>
                </a:cubicBezTo>
                <a:cubicBezTo>
                  <a:pt x="161" y="0"/>
                  <a:pt x="142" y="0"/>
                  <a:pt x="129" y="12"/>
                </a:cubicBezTo>
                <a:cubicBezTo>
                  <a:pt x="0" y="142"/>
                  <a:pt x="0" y="142"/>
                  <a:pt x="0" y="142"/>
                </a:cubicBezTo>
                <a:lnTo>
                  <a:pt x="302" y="142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58" name="Freeform 51"/>
          <p:cNvSpPr/>
          <p:nvPr userDrawn="1"/>
        </p:nvSpPr>
        <p:spPr bwMode="auto">
          <a:xfrm>
            <a:off x="8940801" y="-1"/>
            <a:ext cx="1121717" cy="521688"/>
          </a:xfrm>
          <a:custGeom>
            <a:avLst/>
            <a:gdLst>
              <a:gd name="T0" fmla="*/ 0 w 303"/>
              <a:gd name="T1" fmla="*/ 0 h 141"/>
              <a:gd name="T2" fmla="*/ 130 w 303"/>
              <a:gd name="T3" fmla="*/ 129 h 141"/>
              <a:gd name="T4" fmla="*/ 173 w 303"/>
              <a:gd name="T5" fmla="*/ 129 h 141"/>
              <a:gd name="T6" fmla="*/ 303 w 303"/>
              <a:gd name="T7" fmla="*/ 0 h 141"/>
              <a:gd name="T8" fmla="*/ 0 w 303"/>
              <a:gd name="T9" fmla="*/ 0 h 1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3" h="141">
                <a:moveTo>
                  <a:pt x="0" y="0"/>
                </a:moveTo>
                <a:cubicBezTo>
                  <a:pt x="130" y="129"/>
                  <a:pt x="130" y="129"/>
                  <a:pt x="130" y="129"/>
                </a:cubicBezTo>
                <a:cubicBezTo>
                  <a:pt x="142" y="141"/>
                  <a:pt x="161" y="141"/>
                  <a:pt x="173" y="129"/>
                </a:cubicBezTo>
                <a:cubicBezTo>
                  <a:pt x="303" y="0"/>
                  <a:pt x="303" y="0"/>
                  <a:pt x="303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0" name="Freeform 53"/>
          <p:cNvSpPr/>
          <p:nvPr userDrawn="1"/>
        </p:nvSpPr>
        <p:spPr bwMode="auto">
          <a:xfrm>
            <a:off x="9417976" y="-1"/>
            <a:ext cx="2774025" cy="3876157"/>
          </a:xfrm>
          <a:custGeom>
            <a:avLst/>
            <a:gdLst>
              <a:gd name="T0" fmla="*/ 23 w 750"/>
              <a:gd name="T1" fmla="*/ 237 h 1048"/>
              <a:gd name="T2" fmla="*/ 243 w 750"/>
              <a:gd name="T3" fmla="*/ 17 h 1048"/>
              <a:gd name="T4" fmla="*/ 285 w 750"/>
              <a:gd name="T5" fmla="*/ 0 h 1048"/>
              <a:gd name="T6" fmla="*/ 750 w 750"/>
              <a:gd name="T7" fmla="*/ 0 h 1048"/>
              <a:gd name="T8" fmla="*/ 750 w 750"/>
              <a:gd name="T9" fmla="*/ 1048 h 1048"/>
              <a:gd name="T10" fmla="*/ 23 w 750"/>
              <a:gd name="T11" fmla="*/ 321 h 1048"/>
              <a:gd name="T12" fmla="*/ 23 w 750"/>
              <a:gd name="T13" fmla="*/ 237 h 10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50" h="1048">
                <a:moveTo>
                  <a:pt x="23" y="237"/>
                </a:moveTo>
                <a:cubicBezTo>
                  <a:pt x="243" y="17"/>
                  <a:pt x="243" y="17"/>
                  <a:pt x="243" y="17"/>
                </a:cubicBezTo>
                <a:cubicBezTo>
                  <a:pt x="254" y="6"/>
                  <a:pt x="269" y="0"/>
                  <a:pt x="285" y="0"/>
                </a:cubicBezTo>
                <a:cubicBezTo>
                  <a:pt x="750" y="0"/>
                  <a:pt x="750" y="0"/>
                  <a:pt x="750" y="0"/>
                </a:cubicBezTo>
                <a:cubicBezTo>
                  <a:pt x="750" y="1048"/>
                  <a:pt x="750" y="1048"/>
                  <a:pt x="750" y="1048"/>
                </a:cubicBezTo>
                <a:cubicBezTo>
                  <a:pt x="23" y="321"/>
                  <a:pt x="23" y="321"/>
                  <a:pt x="23" y="321"/>
                </a:cubicBezTo>
                <a:cubicBezTo>
                  <a:pt x="0" y="298"/>
                  <a:pt x="0" y="260"/>
                  <a:pt x="23" y="237"/>
                </a:cubicBezTo>
                <a:close/>
              </a:path>
            </a:pathLst>
          </a:custGeom>
          <a:solidFill>
            <a:srgbClr val="FFB53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4" name="椭圆 63"/>
          <p:cNvSpPr/>
          <p:nvPr userDrawn="1"/>
        </p:nvSpPr>
        <p:spPr>
          <a:xfrm>
            <a:off x="10062518" y="1675446"/>
            <a:ext cx="1279178" cy="12791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标题 1"/>
          <p:cNvSpPr>
            <a:spLocks noGrp="1"/>
          </p:cNvSpPr>
          <p:nvPr>
            <p:ph type="ctrTitle" hasCustomPrompt="1"/>
          </p:nvPr>
        </p:nvSpPr>
        <p:spPr>
          <a:xfrm>
            <a:off x="4475845" y="2368777"/>
            <a:ext cx="5426076" cy="1621509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l">
              <a:buFont typeface="Arial" panose="020B0604020202090204" pitchFamily="34" charset="0"/>
              <a:buNone/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13" name="文本占位符 62"/>
          <p:cNvSpPr>
            <a:spLocks noGrp="1"/>
          </p:cNvSpPr>
          <p:nvPr>
            <p:ph type="body" sz="quarter" idx="18" hasCustomPrompt="1"/>
          </p:nvPr>
        </p:nvSpPr>
        <p:spPr>
          <a:xfrm>
            <a:off x="4475845" y="4675013"/>
            <a:ext cx="5426076" cy="3108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>
              <a:buNone/>
              <a:defRPr lang="zh-CN" altLang="en-US" sz="1500" smtClean="0">
                <a:solidFill>
                  <a:schemeClr val="tx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600" marR="0" lvl="0" indent="-228600" fontAlgn="auto">
              <a:spcAft>
                <a:spcPts val="0"/>
              </a:spcAft>
              <a:buClrTx/>
              <a:buSzTx/>
            </a:pPr>
            <a:r>
              <a:rPr lang="en-US" altLang="zh-CN" dirty="0"/>
              <a:t>Data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4475846" y="4378742"/>
            <a:ext cx="5426076" cy="296271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 marL="0" indent="0" algn="l">
              <a:buNone/>
              <a:defRPr sz="1500" b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BC73B0-5CBF-4C2B-913F-C8FC7EDBB2EF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78E4ED-5289-4BB6-9CD9-1197EE4CA2B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hyperlink" Target="https://www.modelscope.cn/datasets/lhh010/EuroSAT_RGB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5" Type="http://schemas.openxmlformats.org/officeDocument/2006/relationships/image" Target="../media/image18.png"/><Relationship Id="rId4" Type="http://schemas.openxmlformats.org/officeDocument/2006/relationships/image" Target="../media/image17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首页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876300" y="1486417"/>
            <a:ext cx="10439400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5400" dirty="0">
                <a:solidFill>
                  <a:srgbClr val="142DA8"/>
                </a:solidFill>
                <a:latin typeface="Times New Roman" panose="02020603050405020304" pitchFamily="18" charset="0"/>
                <a:ea typeface="Alimama ShuHeiTi Bold" charset="-122"/>
              </a:rPr>
              <a:t>面向航空航天在轨计算</a:t>
            </a:r>
            <a:endParaRPr lang="en-US" altLang="zh-CN" sz="5400" dirty="0">
              <a:solidFill>
                <a:srgbClr val="142DA8"/>
              </a:solidFill>
              <a:latin typeface="Times New Roman" panose="02020603050405020304" pitchFamily="18" charset="0"/>
              <a:ea typeface="Alimama ShuHeiTi Bold" charset="-122"/>
            </a:endParaRPr>
          </a:p>
          <a:p>
            <a:pPr algn="ctr"/>
            <a:r>
              <a:rPr lang="zh-CN" altLang="zh-CN" sz="5400" dirty="0">
                <a:solidFill>
                  <a:srgbClr val="142DA8"/>
                </a:solidFill>
                <a:latin typeface="Times New Roman" panose="02020603050405020304" pitchFamily="18" charset="0"/>
                <a:ea typeface="Alimama ShuHeiTi Bold" charset="-122"/>
              </a:rPr>
              <a:t>的光学 CNN 加速系统 </a:t>
            </a:r>
            <a:endParaRPr lang="en-US" altLang="zh-CN" sz="5400" dirty="0">
              <a:solidFill>
                <a:srgbClr val="142DA8"/>
              </a:solidFill>
              <a:latin typeface="Times New Roman" panose="02020603050405020304" pitchFamily="18" charset="0"/>
              <a:ea typeface="Alimama ShuHeiTi Bold" charset="-122"/>
            </a:endParaRPr>
          </a:p>
          <a:p>
            <a:pPr algn="ctr"/>
            <a:r>
              <a:rPr lang="zh-CN" altLang="zh-CN" sz="4400" dirty="0">
                <a:solidFill>
                  <a:srgbClr val="142DA8"/>
                </a:solidFill>
                <a:latin typeface="Times New Roman" panose="02020603050405020304" pitchFamily="18" charset="0"/>
                <a:ea typeface="Alimama ShuHeiTi Bold" charset="-122"/>
              </a:rPr>
              <a:t>—— Optic-SpaceNet</a:t>
            </a:r>
            <a:endParaRPr lang="en-US" altLang="zh-CN" sz="4400" dirty="0">
              <a:solidFill>
                <a:srgbClr val="142DA8"/>
              </a:solidFill>
              <a:latin typeface="Times New Roman" panose="02020603050405020304" pitchFamily="18" charset="0"/>
              <a:ea typeface="Alimama ShuHeiTi Bold" charset="-122"/>
            </a:endParaRPr>
          </a:p>
          <a:p>
            <a:pPr algn="ctr"/>
            <a:endParaRPr lang="en-US" altLang="zh-CN" dirty="0">
              <a:solidFill>
                <a:srgbClr val="142DA8"/>
              </a:solidFill>
              <a:latin typeface="Times New Roman" panose="02020603050405020304" pitchFamily="18" charset="0"/>
              <a:ea typeface="Alimama ShuHeiTi Bold" charset="-122"/>
            </a:endParaRPr>
          </a:p>
          <a:p>
            <a:pPr algn="ctr"/>
            <a:r>
              <a:rPr lang="zh-CN" altLang="en-US" dirty="0">
                <a:solidFill>
                  <a:srgbClr val="142DA8"/>
                </a:solidFill>
                <a:latin typeface="Times New Roman" panose="02020603050405020304" pitchFamily="18" charset="0"/>
                <a:ea typeface="Alimama ShuHeiTi Bold" charset="-122"/>
              </a:rPr>
              <a:t>多</a:t>
            </a:r>
            <a:r>
              <a:rPr lang="zh-CN" altLang="zh-CN" dirty="0">
                <a:solidFill>
                  <a:srgbClr val="142DA8"/>
                </a:solidFill>
                <a:latin typeface="Times New Roman" panose="02020603050405020304" pitchFamily="18" charset="0"/>
                <a:ea typeface="Alimama ShuHeiTi Bold" charset="-122"/>
              </a:rPr>
              <a:t>模型</a:t>
            </a:r>
            <a:r>
              <a:rPr lang="zh-CN" altLang="en-US" dirty="0">
                <a:solidFill>
                  <a:srgbClr val="142DA8"/>
                </a:solidFill>
                <a:latin typeface="Times New Roman" panose="02020603050405020304" pitchFamily="18" charset="0"/>
                <a:ea typeface="Alimama ShuHeiTi Bold" charset="-122"/>
              </a:rPr>
              <a:t>架构</a:t>
            </a:r>
            <a:r>
              <a:rPr lang="zh-CN" altLang="zh-CN" dirty="0">
                <a:solidFill>
                  <a:srgbClr val="142DA8"/>
                </a:solidFill>
                <a:latin typeface="Times New Roman" panose="02020603050405020304" pitchFamily="18" charset="0"/>
                <a:ea typeface="Alimama ShuHeiTi Bold" charset="-122"/>
              </a:rPr>
              <a:t>量化迁移 × 曦智 Gazelle 光计算平台</a:t>
            </a:r>
          </a:p>
          <a:p>
            <a:pPr algn="ctr"/>
            <a:endParaRPr lang="zh-CN" altLang="zh-CN" sz="4400" dirty="0">
              <a:solidFill>
                <a:srgbClr val="142DA8"/>
              </a:solidFill>
              <a:latin typeface="Times New Roman" panose="02020603050405020304" pitchFamily="18" charset="0"/>
              <a:ea typeface="Alimama ShuHeiTi Bold" charset="-122"/>
            </a:endParaRPr>
          </a:p>
          <a:p>
            <a:pPr algn="ctr"/>
            <a:endParaRPr lang="zh-CN" altLang="en-US" sz="4000" dirty="0">
              <a:solidFill>
                <a:srgbClr val="142DA8"/>
              </a:solidFill>
              <a:latin typeface="Times New Roman" panose="02020603050405020304" pitchFamily="18" charset="0"/>
              <a:ea typeface="Alimama ShuHeiTi Bold" charset="-122"/>
            </a:endParaRPr>
          </a:p>
        </p:txBody>
      </p:sp>
      <p:pic>
        <p:nvPicPr>
          <p:cNvPr id="9" name="图片 8" descr="集创赛黑字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2116" y="190417"/>
            <a:ext cx="1296000" cy="1296000"/>
          </a:xfrm>
          <a:prstGeom prst="rect">
            <a:avLst/>
          </a:prstGeom>
        </p:spPr>
      </p:pic>
      <p:sp>
        <p:nvSpPr>
          <p:cNvPr id="14" name="圆角矩形 13"/>
          <p:cNvSpPr/>
          <p:nvPr/>
        </p:nvSpPr>
        <p:spPr>
          <a:xfrm>
            <a:off x="4317999" y="5373950"/>
            <a:ext cx="3404235" cy="539054"/>
          </a:xfrm>
          <a:prstGeom prst="roundRect">
            <a:avLst>
              <a:gd name="adj" fmla="val 50000"/>
            </a:avLst>
          </a:prstGeom>
          <a:solidFill>
            <a:srgbClr val="004CE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CICC 1003564</a:t>
            </a:r>
          </a:p>
        </p:txBody>
      </p:sp>
      <p:grpSp>
        <p:nvGrpSpPr>
          <p:cNvPr id="15" name="组合 14"/>
          <p:cNvGrpSpPr/>
          <p:nvPr/>
        </p:nvGrpSpPr>
        <p:grpSpPr>
          <a:xfrm>
            <a:off x="4296000" y="4567603"/>
            <a:ext cx="3600000" cy="553195"/>
            <a:chOff x="4296000" y="3420000"/>
            <a:chExt cx="3600000" cy="553195"/>
          </a:xfrm>
        </p:grpSpPr>
        <p:sp>
          <p:nvSpPr>
            <p:cNvPr id="6" name="圆角矩形 10"/>
            <p:cNvSpPr/>
            <p:nvPr/>
          </p:nvSpPr>
          <p:spPr>
            <a:xfrm>
              <a:off x="4296000" y="3420000"/>
              <a:ext cx="3600000" cy="540000"/>
            </a:xfrm>
            <a:prstGeom prst="roundRect">
              <a:avLst>
                <a:gd name="adj" fmla="val 15518"/>
              </a:avLst>
            </a:prstGeom>
            <a:solidFill>
              <a:schemeClr val="bg1"/>
            </a:solidFill>
            <a:ln w="25400">
              <a:solidFill>
                <a:srgbClr val="142DA8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tIns="144145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4418965" y="3420110"/>
              <a:ext cx="3354070" cy="5530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000" dirty="0">
                  <a:solidFill>
                    <a:srgbClr val="142DA8"/>
                  </a:solidFill>
                  <a:latin typeface="Times New Roman" panose="02020603050405020304" pitchFamily="18" charset="0"/>
                  <a:ea typeface="HarmonyOS Sans SC Black" panose="00000A00000000000000" charset="-122"/>
                </a:rPr>
                <a:t>曦智科技 命题</a:t>
              </a:r>
            </a:p>
          </p:txBody>
        </p:sp>
      </p:grp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ard"/>
          <p:cNvSpPr>
            <a:spLocks noGrp="1"/>
          </p:cNvSpPr>
          <p:nvPr/>
        </p:nvSpPr>
        <p:spPr>
          <a:xfrm>
            <a:off x="5676650" y="621675"/>
            <a:ext cx="6321015" cy="5366376"/>
          </a:xfrm>
          <a:prstGeom prst="roundRect">
            <a:avLst>
              <a:gd name="adj" fmla="val 4500"/>
            </a:avLst>
          </a:prstGeom>
          <a:solidFill>
            <a:srgbClr val="E7F1FD"/>
          </a:solidFill>
          <a:ln w="9525">
            <a:solidFill>
              <a:srgbClr val="C9DCF5"/>
            </a:solidFill>
          </a:ln>
          <a:effectLst>
            <a:outerShdw blurRad="38100" dist="19050" dir="5400000" rotWithShape="0">
              <a:srgbClr val="9FB3D4">
                <a:alpha val="30000"/>
              </a:srgbClr>
            </a:outerShdw>
          </a:effectLst>
        </p:spPr>
        <p:txBody>
          <a:bodyPr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Card"/>
          <p:cNvSpPr>
            <a:spLocks noGrp="1"/>
          </p:cNvSpPr>
          <p:nvPr/>
        </p:nvSpPr>
        <p:spPr>
          <a:xfrm>
            <a:off x="311164" y="1635783"/>
            <a:ext cx="5079986" cy="3965721"/>
          </a:xfrm>
          <a:prstGeom prst="roundRect">
            <a:avLst>
              <a:gd name="adj" fmla="val 4500"/>
            </a:avLst>
          </a:prstGeom>
          <a:solidFill>
            <a:srgbClr val="E7F1FD"/>
          </a:solidFill>
          <a:ln w="9525">
            <a:solidFill>
              <a:srgbClr val="C9DCF5"/>
            </a:solidFill>
          </a:ln>
          <a:effectLst>
            <a:outerShdw blurRad="38100" dist="19050" dir="5400000" rotWithShape="0">
              <a:srgbClr val="9FB3D4">
                <a:alpha val="30000"/>
              </a:srgbClr>
            </a:outerShdw>
          </a:effectLst>
        </p:spPr>
        <p:txBody>
          <a:bodyPr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80092" y="1824548"/>
            <a:ext cx="4928508" cy="3647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作品概况</a:t>
            </a:r>
          </a:p>
          <a:p>
            <a:r>
              <a:rPr lang="en-US" altLang="zh-C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作品名称</a:t>
            </a:r>
            <a:r>
              <a:rPr lang="zh-CN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Optic-SpaceNet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·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光学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在轨加速系统</a:t>
            </a:r>
            <a:endParaRPr lang="zh-CN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应用场景</a:t>
            </a:r>
            <a:r>
              <a:rPr lang="zh-CN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卫星在轨遥感图像计算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数据集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zh-C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EuroSAT 10类地物分类）</a:t>
            </a:r>
          </a:p>
          <a:p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核心痛点解决</a:t>
            </a:r>
            <a:r>
              <a:rPr lang="zh-CN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：充分利用光计算优势</a:t>
            </a: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极低功耗</a:t>
            </a: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天然免疫单粒子翻转(SEU)</a:t>
            </a: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长寿命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926465" y="769412"/>
            <a:ext cx="6071199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indent="0">
              <a:spcAft>
                <a:spcPts val="1800"/>
              </a:spcAft>
              <a:buNone/>
            </a:pPr>
            <a:r>
              <a:rPr lang="zh-CN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核心技术与创新</a:t>
            </a:r>
          </a:p>
          <a:p>
            <a:pPr indent="0">
              <a:spcAft>
                <a:spcPts val="1800"/>
              </a:spcAft>
              <a:buFont typeface="Arial" panose="020B0604020202090204" pitchFamily="34" charset="0"/>
              <a:buNone/>
            </a:pPr>
            <a:r>
              <a:rPr lang="zh-CN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光计算精度有限、噪声大</a:t>
            </a:r>
            <a:r>
              <a:rPr lang="zh-C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基于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STE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LSQ+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等方案进行</a:t>
            </a:r>
            <a:r>
              <a:rPr lang="zh-CN" altLang="en-US" sz="20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量化感知微调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，在训练时模拟</a:t>
            </a:r>
            <a:r>
              <a:rPr lang="zh-CN" altLang="en-US" sz="2000" b="1" dirty="0">
                <a:solidFill>
                  <a:srgbClr val="375F1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注入光计算噪音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，增强模型鲁棒性</a:t>
            </a:r>
          </a:p>
          <a:p>
            <a:pPr indent="0">
              <a:spcAft>
                <a:spcPts val="1800"/>
              </a:spcAft>
              <a:buFont typeface="Arial" panose="020B0604020202090204" pitchFamily="34" charset="0"/>
              <a:buNone/>
            </a:pPr>
            <a:r>
              <a:rPr lang="zh-CN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光计算对输入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Shape 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有要求</a:t>
            </a:r>
            <a:r>
              <a:rPr lang="zh-C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zh-CN" altLang="zh-CN" sz="2000" b="1" dirty="0">
                <a:solidFill>
                  <a:srgbClr val="99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算法</a:t>
            </a:r>
            <a:r>
              <a:rPr lang="en-US" altLang="zh-CN" sz="2000" b="1" dirty="0">
                <a:solidFill>
                  <a:srgbClr val="99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CN" altLang="en-US" sz="2000" b="1" dirty="0">
                <a:solidFill>
                  <a:srgbClr val="99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硬件联合设计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，基于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8x2 Tiling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选取</a:t>
            </a:r>
            <a:r>
              <a:rPr lang="zh-CN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模型超参数，消除补零浪费</a:t>
            </a:r>
            <a:endParaRPr lang="zh-CN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spcAft>
                <a:spcPts val="1800"/>
              </a:spcAft>
              <a:buFont typeface="Arial" panose="020B0604020202090204" pitchFamily="34" charset="0"/>
              <a:buNone/>
            </a:pPr>
            <a:r>
              <a:rPr lang="zh-CN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首层精度敏感、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Padding 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损耗大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zh-C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首层执行 FP32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电运算，规避 62.5% 空算开销，同时消除零填充对 BN 统计值的影响</a:t>
            </a:r>
          </a:p>
          <a:p>
            <a:pPr indent="0">
              <a:spcAft>
                <a:spcPts val="1800"/>
              </a:spcAft>
              <a:buFont typeface="Arial" panose="020B0604020202090204" pitchFamily="34" charset="0"/>
              <a:buNone/>
            </a:pPr>
            <a:r>
              <a:rPr lang="zh-CN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端到端闭环工具链</a:t>
            </a:r>
            <a:r>
              <a:rPr lang="zh-C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：自主研发涵盖“数据-训练-量化-转化-部署”全流程自动闭环（47个Python文件），</a:t>
            </a:r>
            <a:r>
              <a:rPr lang="zh-CN" altLang="zh-CN" sz="2000" b="1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代码健壮性极高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且全程可追溯</a:t>
            </a:r>
            <a:endParaRPr lang="zh-CN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09149" y="153859"/>
            <a:ext cx="739502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3000"/>
              </a:spcAft>
              <a:buNone/>
            </a:pPr>
            <a:r>
              <a:rPr lang="zh-CN" altLang="zh-CN" sz="3200" b="1" dirty="0">
                <a:solidFill>
                  <a:srgbClr val="006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快速预览 (1/2)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810"/>
            <a:ext cx="558829" cy="1181161"/>
          </a:xfrm>
          <a:prstGeom prst="rect">
            <a:avLst/>
          </a:prstGeom>
        </p:spPr>
      </p:pic>
      <p:pic>
        <p:nvPicPr>
          <p:cNvPr id="13" name="图片 12" descr="集创赛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2635" y="-235470"/>
            <a:ext cx="1486038" cy="928774"/>
          </a:xfrm>
          <a:prstGeom prst="rect">
            <a:avLst/>
          </a:prstGeom>
        </p:spPr>
      </p:pic>
      <p:sp>
        <p:nvSpPr>
          <p:cNvPr id="19" name="FooterL"/>
          <p:cNvSpPr>
            <a:spLocks noGrp="1"/>
          </p:cNvSpPr>
          <p:nvPr/>
        </p:nvSpPr>
        <p:spPr>
          <a:xfrm>
            <a:off x="411480" y="6492240"/>
            <a:ext cx="7772400" cy="274320"/>
          </a:xfrm>
          <a:prstGeom prst="rect">
            <a:avLst/>
          </a:prstGeom>
        </p:spPr>
        <p:txBody>
          <a:bodyPr wrap="none" rtlCol="0" anchor="ctr"/>
          <a:lstStyle/>
          <a:p>
            <a:pPr algn="l"/>
            <a:r>
              <a:rPr lang="zh-CN" sz="1000" dirty="0">
                <a:solidFill>
                  <a:srgbClr val="8A99AD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Optic-SpaceNet · 光学 CNN 在轨加速系统</a:t>
            </a:r>
          </a:p>
        </p:txBody>
      </p:sp>
      <p:sp>
        <p:nvSpPr>
          <p:cNvPr id="21" name="FooterR"/>
          <p:cNvSpPr>
            <a:spLocks noGrp="1"/>
          </p:cNvSpPr>
          <p:nvPr/>
        </p:nvSpPr>
        <p:spPr>
          <a:xfrm>
            <a:off x="10058400" y="6492240"/>
            <a:ext cx="1737360" cy="274320"/>
          </a:xfrm>
          <a:prstGeom prst="rect">
            <a:avLst/>
          </a:prstGeom>
        </p:spPr>
        <p:txBody>
          <a:bodyPr wrap="none" rtlCol="0" anchor="ctr"/>
          <a:lstStyle/>
          <a:p>
            <a:pPr algn="r"/>
            <a:r>
              <a:rPr lang="zh-CN" sz="1000" dirty="0">
                <a:solidFill>
                  <a:srgbClr val="8A99AD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0</a:t>
            </a:r>
            <a:r>
              <a:rPr lang="en-US" altLang="zh-CN" sz="1000" dirty="0">
                <a:solidFill>
                  <a:srgbClr val="8A99AD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2</a:t>
            </a:r>
            <a:r>
              <a:rPr lang="zh-CN" sz="1000" dirty="0">
                <a:solidFill>
                  <a:srgbClr val="8A99AD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/ 1</a:t>
            </a:r>
            <a:r>
              <a:rPr lang="en-US" altLang="zh-CN" sz="1000" dirty="0">
                <a:solidFill>
                  <a:srgbClr val="8A99AD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7</a:t>
            </a:r>
            <a:endParaRPr lang="zh-CN" sz="1000" dirty="0">
              <a:solidFill>
                <a:srgbClr val="8A99AD"/>
              </a:solidFill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ard"/>
          <p:cNvSpPr>
            <a:spLocks noGrp="1"/>
          </p:cNvSpPr>
          <p:nvPr/>
        </p:nvSpPr>
        <p:spPr>
          <a:xfrm>
            <a:off x="1268389" y="924350"/>
            <a:ext cx="9655222" cy="5090205"/>
          </a:xfrm>
          <a:prstGeom prst="roundRect">
            <a:avLst>
              <a:gd name="adj" fmla="val 4500"/>
            </a:avLst>
          </a:prstGeom>
          <a:solidFill>
            <a:srgbClr val="E7F1FD"/>
          </a:solidFill>
          <a:ln w="9525">
            <a:solidFill>
              <a:srgbClr val="C9DCF5"/>
            </a:solidFill>
          </a:ln>
          <a:effectLst>
            <a:outerShdw blurRad="38100" dist="19050" dir="5400000" rotWithShape="0">
              <a:srgbClr val="9FB3D4">
                <a:alpha val="30000"/>
              </a:srgbClr>
            </a:outerShdw>
          </a:effectLst>
        </p:spPr>
        <p:txBody>
          <a:bodyPr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526344" y="1212963"/>
            <a:ext cx="913931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indent="0">
              <a:spcAft>
                <a:spcPts val="1800"/>
              </a:spcAft>
              <a:buNone/>
            </a:pPr>
            <a:r>
              <a:rPr lang="zh-CN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重要性能指标</a:t>
            </a:r>
          </a:p>
          <a:p>
            <a:pPr marR="0" indent="0">
              <a:spcAft>
                <a:spcPts val="1800"/>
              </a:spcAft>
              <a:buFont typeface="Arial" panose="020B0604020202090204" pitchFamily="34" charset="0"/>
              <a:buChar char="•"/>
            </a:pPr>
            <a:r>
              <a:rPr lang="zh-CN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模型轻量化</a:t>
            </a:r>
            <a:r>
              <a:rPr lang="zh-C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：模型参数仅 268K；单图计算负荷 </a:t>
            </a:r>
            <a:r>
              <a:rPr lang="en-US" altLang="zh-CN" sz="3200" b="1" dirty="0">
                <a:solidFill>
                  <a:srgbClr val="A404CA"/>
                </a:solidFill>
                <a:latin typeface="Times New Roman" panose="02020603050405020304" pitchFamily="18" charset="0"/>
                <a:ea typeface="Noto Sans SC" panose="020B0200000000000000" pitchFamily="34" charset="-122"/>
                <a:cs typeface="Times New Roman" panose="02020603050405020304" pitchFamily="18" charset="0"/>
              </a:rPr>
              <a:t>10</a:t>
            </a:r>
            <a:r>
              <a:rPr lang="en-US" altLang="zh-CN" sz="3200" b="1" baseline="30000" dirty="0">
                <a:solidFill>
                  <a:srgbClr val="A404CA"/>
                </a:solidFill>
                <a:latin typeface="Times New Roman" panose="02020603050405020304" pitchFamily="18" charset="0"/>
                <a:ea typeface="Noto Sans SC" panose="020B0200000000000000" pitchFamily="34" charset="-122"/>
                <a:cs typeface="Times New Roman" panose="02020603050405020304" pitchFamily="18" charset="0"/>
              </a:rPr>
              <a:t>-3</a:t>
            </a:r>
            <a:r>
              <a:rPr lang="en-US" altLang="zh-CN" sz="3200" b="1" dirty="0">
                <a:solidFill>
                  <a:srgbClr val="A404CA"/>
                </a:solidFill>
                <a:latin typeface="Times New Roman" panose="02020603050405020304" pitchFamily="18" charset="0"/>
                <a:ea typeface="Noto Sans SC" panose="020B0200000000000000" pitchFamily="34" charset="-122"/>
                <a:cs typeface="Times New Roman" panose="02020603050405020304" pitchFamily="18" charset="0"/>
              </a:rPr>
              <a:t> GOPs</a:t>
            </a:r>
            <a:r>
              <a:rPr lang="zh-C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，单图理论推理速度 </a:t>
            </a:r>
            <a:r>
              <a:rPr lang="zh-CN" altLang="zh-CN" sz="3200" b="1" dirty="0">
                <a:solidFill>
                  <a:srgbClr val="10BE84"/>
                </a:solidFill>
                <a:latin typeface="Times New Roman" panose="02020603050405020304" pitchFamily="18" charset="0"/>
                <a:ea typeface="Noto Sans SC" panose="020B0200000000000000" pitchFamily="34" charset="-122"/>
                <a:cs typeface="Times New Roman" panose="02020603050405020304" pitchFamily="18" charset="0"/>
              </a:rPr>
              <a:t>0.4</a:t>
            </a:r>
            <a:r>
              <a:rPr lang="en-US" altLang="zh-CN" sz="3200" b="1" dirty="0">
                <a:solidFill>
                  <a:srgbClr val="10BE84"/>
                </a:solidFill>
                <a:latin typeface="Times New Roman" panose="02020603050405020304" pitchFamily="18" charset="0"/>
                <a:ea typeface="Noto Sans SC" panose="020B0200000000000000" pitchFamily="34" charset="-122"/>
                <a:cs typeface="Times New Roman" panose="02020603050405020304" pitchFamily="18" charset="0"/>
              </a:rPr>
              <a:t>s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indent="0">
              <a:spcAft>
                <a:spcPts val="1800"/>
              </a:spcAft>
              <a:buFont typeface="Arial" panose="020B0604020202090204" pitchFamily="34" charset="0"/>
              <a:buChar char="•"/>
            </a:pPr>
            <a:r>
              <a:rPr lang="zh-CN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光计算占比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达</a:t>
            </a:r>
            <a:r>
              <a:rPr lang="zh-CN" altLang="zh-CN" sz="3200" b="1" dirty="0">
                <a:solidFill>
                  <a:srgbClr val="588FE8"/>
                </a:solidFill>
                <a:latin typeface="Times New Roman" panose="02020603050405020304" pitchFamily="18" charset="0"/>
                <a:ea typeface="Noto Sans SC" panose="020B0200000000000000" pitchFamily="34" charset="-122"/>
                <a:cs typeface="Times New Roman" panose="02020603050405020304" pitchFamily="18" charset="0"/>
              </a:rPr>
              <a:t>90.65% </a:t>
            </a:r>
            <a:r>
              <a:rPr lang="zh-C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，最大化释放光计算高能效优势。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indent="0">
              <a:spcAft>
                <a:spcPts val="1800"/>
              </a:spcAft>
              <a:buFont typeface="Arial" panose="020B0604020202090204" pitchFamily="34" charset="0"/>
              <a:buChar char="•"/>
            </a:pPr>
            <a:r>
              <a:rPr lang="zh-C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Sim-to-Real 误差小：依托物理噪声QAT训练，训练指标与实际仿真误差缩减至仅 </a:t>
            </a:r>
            <a:r>
              <a:rPr lang="zh-CN" altLang="zh-CN" sz="3200" b="1" dirty="0">
                <a:solidFill>
                  <a:srgbClr val="DA6579"/>
                </a:solidFill>
                <a:latin typeface="Times New Roman" panose="02020603050405020304" pitchFamily="18" charset="0"/>
                <a:ea typeface="Noto Sans SC" panose="020B0200000000000000" pitchFamily="34" charset="-122"/>
                <a:cs typeface="Times New Roman" panose="02020603050405020304" pitchFamily="18" charset="0"/>
              </a:rPr>
              <a:t>~1.6%</a:t>
            </a:r>
            <a:r>
              <a:rPr lang="zh-C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（传统方法约为5-10%）。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indent="0">
              <a:spcAft>
                <a:spcPts val="1800"/>
              </a:spcAft>
              <a:buFont typeface="Arial" panose="020B0604020202090204" pitchFamily="34" charset="0"/>
              <a:buChar char="•"/>
            </a:pPr>
            <a:r>
              <a:rPr lang="zh-CN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优异的分类准确率</a:t>
            </a:r>
            <a:r>
              <a:rPr lang="zh-C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：经历7阶段量化演进后，包含完整硬件噪声的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Gazelle </a:t>
            </a:r>
            <a:r>
              <a:rPr lang="zh-C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仿真结果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全量5400张测试集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依然保持 </a:t>
            </a:r>
            <a:r>
              <a:rPr lang="zh-CN" altLang="zh-CN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Noto Sans SC" panose="020B0200000000000000" pitchFamily="34" charset="-122"/>
                <a:cs typeface="Times New Roman" panose="02020603050405020304" pitchFamily="18" charset="0"/>
              </a:rPr>
              <a:t>90.43%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Noto Sans SC" panose="020B0200000000000000" pitchFamily="34" charset="-122"/>
                <a:cs typeface="Times New Roman" panose="02020603050405020304" pitchFamily="18" charset="0"/>
              </a:rPr>
              <a:t>90.28%</a:t>
            </a:r>
            <a:r>
              <a:rPr lang="zh-CN" altLang="zh-CN" sz="3200" b="1" dirty="0">
                <a:solidFill>
                  <a:srgbClr val="588FE8"/>
                </a:solidFill>
                <a:latin typeface="Times New Roman" panose="02020603050405020304" pitchFamily="18" charset="0"/>
                <a:ea typeface="Noto Sans SC" panose="020B0200000000000000" pitchFamily="34" charset="-122"/>
                <a:cs typeface="Times New Roman" panose="02020603050405020304" pitchFamily="18" charset="0"/>
              </a:rPr>
              <a:t> </a:t>
            </a:r>
            <a:r>
              <a:rPr lang="zh-C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的高准确率。</a:t>
            </a:r>
          </a:p>
        </p:txBody>
      </p:sp>
      <p:pic>
        <p:nvPicPr>
          <p:cNvPr id="15" name="图片 14" descr="集创赛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2635" y="-235470"/>
            <a:ext cx="1486038" cy="928774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0810"/>
            <a:ext cx="558829" cy="1181161"/>
          </a:xfrm>
          <a:prstGeom prst="rect">
            <a:avLst/>
          </a:prstGeom>
        </p:spPr>
      </p:pic>
      <p:sp>
        <p:nvSpPr>
          <p:cNvPr id="23" name="FooterL"/>
          <p:cNvSpPr>
            <a:spLocks noGrp="1"/>
          </p:cNvSpPr>
          <p:nvPr/>
        </p:nvSpPr>
        <p:spPr>
          <a:xfrm>
            <a:off x="411480" y="6492240"/>
            <a:ext cx="7772400" cy="274320"/>
          </a:xfrm>
          <a:prstGeom prst="rect">
            <a:avLst/>
          </a:prstGeom>
        </p:spPr>
        <p:txBody>
          <a:bodyPr wrap="none" rtlCol="0" anchor="ctr"/>
          <a:lstStyle/>
          <a:p>
            <a:pPr algn="l"/>
            <a:r>
              <a:rPr lang="zh-CN" sz="1000" dirty="0">
                <a:solidFill>
                  <a:srgbClr val="8A99AD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Optic-SpaceNet · 光学 CNN 在轨加速系统</a:t>
            </a:r>
          </a:p>
        </p:txBody>
      </p:sp>
      <p:sp>
        <p:nvSpPr>
          <p:cNvPr id="25" name="FooterR"/>
          <p:cNvSpPr>
            <a:spLocks noGrp="1"/>
          </p:cNvSpPr>
          <p:nvPr/>
        </p:nvSpPr>
        <p:spPr>
          <a:xfrm>
            <a:off x="10058400" y="6492240"/>
            <a:ext cx="1737360" cy="274320"/>
          </a:xfrm>
          <a:prstGeom prst="rect">
            <a:avLst/>
          </a:prstGeom>
        </p:spPr>
        <p:txBody>
          <a:bodyPr wrap="none" rtlCol="0" anchor="ctr"/>
          <a:lstStyle/>
          <a:p>
            <a:pPr algn="r"/>
            <a:r>
              <a:rPr lang="zh-CN" sz="1000" dirty="0">
                <a:solidFill>
                  <a:srgbClr val="8A99AD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03 / 1</a:t>
            </a:r>
            <a:r>
              <a:rPr lang="en-US" altLang="zh-CN" sz="1000" dirty="0">
                <a:solidFill>
                  <a:srgbClr val="8A99AD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7</a:t>
            </a:r>
            <a:endParaRPr lang="zh-CN" sz="1000" dirty="0">
              <a:solidFill>
                <a:srgbClr val="8A99AD"/>
              </a:solidFill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6A0B1B7-BE8B-5142-AF80-2AE5781BC24A}"/>
              </a:ext>
            </a:extLst>
          </p:cNvPr>
          <p:cNvSpPr txBox="1"/>
          <p:nvPr/>
        </p:nvSpPr>
        <p:spPr>
          <a:xfrm>
            <a:off x="709149" y="153859"/>
            <a:ext cx="739502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3000"/>
              </a:spcAft>
              <a:buNone/>
            </a:pPr>
            <a:r>
              <a:rPr lang="zh-CN" altLang="zh-CN" sz="3200" b="1" dirty="0">
                <a:solidFill>
                  <a:srgbClr val="006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快速预览 (</a:t>
            </a:r>
            <a:r>
              <a:rPr lang="en-US" altLang="zh-CN" sz="3200" b="1" dirty="0">
                <a:solidFill>
                  <a:srgbClr val="006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3200" b="1" dirty="0">
                <a:solidFill>
                  <a:srgbClr val="006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18922" y="198831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3200" b="1" dirty="0">
                <a:solidFill>
                  <a:srgbClr val="006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在轨遥感计算的结构性困境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096000" y="5596960"/>
            <a:ext cx="6043934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zh-CN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光计算核心芯片抗 SEU 辐射能力强，但外围的 DAC/ADC、FPGA 等电气模块仍需辅以常规宇航加固措施。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5248906" y="1094111"/>
          <a:ext cx="6376805" cy="4192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01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75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291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6992">
                <a:tc>
                  <a:txBody>
                    <a:bodyPr/>
                    <a:lstStyle/>
                    <a:p>
                      <a:r>
                        <a:rPr lang="zh-CN" altLang="zh-CN" sz="2400" b="1" i="0" kern="1200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评价指标</a:t>
                      </a:r>
                      <a:endParaRPr lang="zh-CN" altLang="en-US" sz="2400" b="0" dirty="0"/>
                    </a:p>
                  </a:txBody>
                  <a:tcPr>
                    <a:solidFill>
                      <a:srgbClr val="0061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zh-CN" sz="2400" b="1" i="0" kern="1200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电子计算 (GPU/ASIC)</a:t>
                      </a:r>
                      <a:endParaRPr lang="zh-CN" altLang="en-US" sz="2400" b="0" dirty="0"/>
                    </a:p>
                  </a:txBody>
                  <a:tcPr>
                    <a:solidFill>
                      <a:srgbClr val="0061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zh-CN" sz="2400" b="1" i="0" kern="1200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光学计算核 (Gazelle)</a:t>
                      </a:r>
                      <a:endParaRPr lang="zh-CN" altLang="en-US" sz="2400" b="0" dirty="0"/>
                    </a:p>
                  </a:txBody>
                  <a:tcPr>
                    <a:solidFill>
                      <a:srgbClr val="0061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5061">
                <a:tc>
                  <a:txBody>
                    <a:bodyPr/>
                    <a:lstStyle/>
                    <a:p>
                      <a:r>
                        <a:rPr lang="zh-CN" altLang="zh-CN" sz="2400" b="1" i="0" kern="1200" dirty="0">
                          <a:solidFill>
                            <a:srgbClr val="1815B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功耗与散热</a:t>
                      </a:r>
                      <a:endParaRPr lang="zh-CN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极高 (散热设计庞大)</a:t>
                      </a:r>
                      <a:endParaRPr lang="zh-CN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极低 (超高能量效率)</a:t>
                      </a:r>
                      <a:endParaRPr lang="zh-CN" altLang="en-US" sz="2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3251">
                <a:tc>
                  <a:txBody>
                    <a:bodyPr/>
                    <a:lstStyle/>
                    <a:p>
                      <a:r>
                        <a:rPr lang="zh-CN" altLang="zh-CN" sz="2400" b="1" i="0" kern="1200" dirty="0">
                          <a:solidFill>
                            <a:srgbClr val="1815B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单粒子翻转 (SEU)</a:t>
                      </a:r>
                      <a:endParaRPr lang="zh-CN" altLang="en-US" sz="2400" b="0" dirty="0"/>
                    </a:p>
                  </a:txBody>
                  <a:tcPr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zh-CN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高发 (需复杂冗余纠错)</a:t>
                      </a:r>
                      <a:endParaRPr lang="zh-CN" altLang="en-US" sz="2400" b="0" dirty="0"/>
                    </a:p>
                  </a:txBody>
                  <a:tcPr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zh-CN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天然免疫 (模拟物理过程)</a:t>
                      </a:r>
                      <a:endParaRPr lang="zh-CN" altLang="en-US" sz="2400" b="0" dirty="0"/>
                    </a:p>
                  </a:txBody>
                  <a:tcPr>
                    <a:solidFill>
                      <a:srgbClr val="F4F8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0977">
                <a:tc>
                  <a:txBody>
                    <a:bodyPr/>
                    <a:lstStyle/>
                    <a:p>
                      <a:r>
                        <a:rPr lang="zh-CN" altLang="zh-CN" sz="2400" b="1" i="0" kern="1200" dirty="0">
                          <a:solidFill>
                            <a:srgbClr val="1815B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计算延迟</a:t>
                      </a:r>
                      <a:endParaRPr lang="zh-CN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受寄存器、总线带宽限制</a:t>
                      </a:r>
                      <a:endParaRPr lang="zh-CN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光速波分/并行相干运算</a:t>
                      </a:r>
                      <a:endParaRPr lang="zh-CN" altLang="en-US" sz="2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00504">
                <a:tc>
                  <a:txBody>
                    <a:bodyPr/>
                    <a:lstStyle/>
                    <a:p>
                      <a:r>
                        <a:rPr lang="zh-CN" altLang="zh-CN" sz="2400" b="1" i="0" kern="1200" dirty="0">
                          <a:solidFill>
                            <a:srgbClr val="1815B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太空退化寿命</a:t>
                      </a:r>
                      <a:endParaRPr lang="zh-CN" altLang="en-US" sz="2400" b="0" dirty="0"/>
                    </a:p>
                  </a:txBody>
                  <a:tcPr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zh-CN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电学老化、寿命5-10年</a:t>
                      </a:r>
                      <a:endParaRPr lang="zh-CN" altLang="en-US" sz="2400" b="0" dirty="0"/>
                    </a:p>
                  </a:txBody>
                  <a:tcPr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zh-CN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无电偏置老化、寿命&gt;10年</a:t>
                      </a:r>
                      <a:endParaRPr lang="zh-CN" altLang="en-US" sz="2400" b="0" dirty="0"/>
                    </a:p>
                  </a:txBody>
                  <a:tcPr>
                    <a:solidFill>
                      <a:srgbClr val="F4F8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885" y="1960161"/>
            <a:ext cx="4648711" cy="3099140"/>
          </a:xfrm>
          <a:prstGeom prst="rect">
            <a:avLst/>
          </a:prstGeom>
        </p:spPr>
      </p:pic>
      <p:sp>
        <p:nvSpPr>
          <p:cNvPr id="111" name="FooterL"/>
          <p:cNvSpPr>
            <a:spLocks noGrp="1"/>
          </p:cNvSpPr>
          <p:nvPr/>
        </p:nvSpPr>
        <p:spPr>
          <a:xfrm>
            <a:off x="411480" y="6492240"/>
            <a:ext cx="7772400" cy="274320"/>
          </a:xfrm>
          <a:prstGeom prst="rect">
            <a:avLst/>
          </a:prstGeom>
        </p:spPr>
        <p:txBody>
          <a:bodyPr wrap="none" rtlCol="0" anchor="ctr"/>
          <a:lstStyle/>
          <a:p>
            <a:pPr algn="l"/>
            <a:r>
              <a:rPr lang="zh-CN" sz="1000">
                <a:solidFill>
                  <a:srgbClr val="8A99AD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Optic-SpaceNet · 光学 CNN 在轨加速系统</a:t>
            </a:r>
          </a:p>
        </p:txBody>
      </p:sp>
      <p:sp>
        <p:nvSpPr>
          <p:cNvPr id="113" name="FooterR"/>
          <p:cNvSpPr>
            <a:spLocks noGrp="1"/>
          </p:cNvSpPr>
          <p:nvPr/>
        </p:nvSpPr>
        <p:spPr>
          <a:xfrm>
            <a:off x="10058400" y="6492240"/>
            <a:ext cx="1737360" cy="274320"/>
          </a:xfrm>
          <a:prstGeom prst="rect">
            <a:avLst/>
          </a:prstGeom>
        </p:spPr>
        <p:txBody>
          <a:bodyPr wrap="none" rtlCol="0" anchor="ctr"/>
          <a:lstStyle/>
          <a:p>
            <a:pPr algn="r"/>
            <a:r>
              <a:rPr lang="zh-CN" sz="1000" dirty="0">
                <a:solidFill>
                  <a:srgbClr val="8A99AD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0</a:t>
            </a:r>
            <a:r>
              <a:rPr lang="en-US" altLang="zh-CN" sz="1000" dirty="0">
                <a:solidFill>
                  <a:srgbClr val="8A99AD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4</a:t>
            </a:r>
            <a:r>
              <a:rPr lang="zh-CN" sz="1000" dirty="0">
                <a:solidFill>
                  <a:srgbClr val="8A99AD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/ 1</a:t>
            </a:r>
            <a:r>
              <a:rPr lang="en-US" altLang="zh-CN" sz="1000" dirty="0">
                <a:solidFill>
                  <a:srgbClr val="8A99AD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7</a:t>
            </a:r>
            <a:endParaRPr lang="zh-CN" sz="1000" dirty="0">
              <a:solidFill>
                <a:srgbClr val="8A99AD"/>
              </a:solidFill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0810"/>
            <a:ext cx="558829" cy="1181161"/>
          </a:xfrm>
          <a:prstGeom prst="rect">
            <a:avLst/>
          </a:prstGeom>
        </p:spPr>
      </p:pic>
      <p:pic>
        <p:nvPicPr>
          <p:cNvPr id="11" name="图片 10" descr="集创赛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2635" y="-235470"/>
            <a:ext cx="1486038" cy="92877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485915" y="2409570"/>
            <a:ext cx="5552940" cy="2514648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679704" y="191813"/>
            <a:ext cx="59298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3200" b="1" dirty="0">
                <a:solidFill>
                  <a:srgbClr val="0061E2"/>
                </a:solidFill>
              </a:rPr>
              <a:t>遥感数据集与十类地物分类任务</a:t>
            </a: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075" y="693304"/>
            <a:ext cx="7286403" cy="5380728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447540" y="6098540"/>
            <a:ext cx="71056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数据集：</a:t>
            </a:r>
            <a:r>
              <a:rPr lang="en-US" altLang="en-US" dirty="0">
                <a:hlinkClick r:id="rId4" action="ppaction://hlinkfile"/>
              </a:rPr>
              <a:t>https://www.modelscope.cn/datasets/lhh010/EuroSAT_RGB</a:t>
            </a:r>
            <a:endParaRPr lang="en-US" altLang="en-US" dirty="0"/>
          </a:p>
        </p:txBody>
      </p:sp>
      <p:sp>
        <p:nvSpPr>
          <p:cNvPr id="111" name="FooterL"/>
          <p:cNvSpPr>
            <a:spLocks noGrp="1"/>
          </p:cNvSpPr>
          <p:nvPr/>
        </p:nvSpPr>
        <p:spPr>
          <a:xfrm>
            <a:off x="411480" y="6492240"/>
            <a:ext cx="7772400" cy="274320"/>
          </a:xfrm>
          <a:prstGeom prst="rect">
            <a:avLst/>
          </a:prstGeom>
        </p:spPr>
        <p:txBody>
          <a:bodyPr wrap="none" rtlCol="0" anchor="ctr"/>
          <a:lstStyle/>
          <a:p>
            <a:pPr algn="l"/>
            <a:r>
              <a:rPr lang="zh-CN" sz="1000">
                <a:solidFill>
                  <a:srgbClr val="8A99AD"/>
                </a:solidFill>
                <a:latin typeface="微软雅黑"/>
                <a:ea typeface="微软雅黑"/>
              </a:rPr>
              <a:t>Optic-SpaceNet · 光学 CNN 在轨加速系统</a:t>
            </a:r>
          </a:p>
        </p:txBody>
      </p:sp>
      <p:sp>
        <p:nvSpPr>
          <p:cNvPr id="113" name="FooterR"/>
          <p:cNvSpPr>
            <a:spLocks noGrp="1"/>
          </p:cNvSpPr>
          <p:nvPr/>
        </p:nvSpPr>
        <p:spPr>
          <a:xfrm>
            <a:off x="10058400" y="6492240"/>
            <a:ext cx="1737360" cy="274320"/>
          </a:xfrm>
          <a:prstGeom prst="rect">
            <a:avLst/>
          </a:prstGeom>
        </p:spPr>
        <p:txBody>
          <a:bodyPr wrap="none" rtlCol="0" anchor="ctr"/>
          <a:lstStyle/>
          <a:p>
            <a:pPr algn="r"/>
            <a:r>
              <a:rPr lang="zh-CN" sz="1000" dirty="0">
                <a:solidFill>
                  <a:srgbClr val="8A99AD"/>
                </a:solidFill>
                <a:latin typeface="微软雅黑"/>
                <a:ea typeface="微软雅黑"/>
              </a:rPr>
              <a:t>0</a:t>
            </a:r>
            <a:r>
              <a:rPr lang="en-US" altLang="zh-CN" sz="1000" dirty="0">
                <a:solidFill>
                  <a:srgbClr val="8A99AD"/>
                </a:solidFill>
                <a:latin typeface="微软雅黑"/>
                <a:ea typeface="微软雅黑"/>
              </a:rPr>
              <a:t>5</a:t>
            </a:r>
            <a:r>
              <a:rPr lang="zh-CN" sz="1000" dirty="0">
                <a:solidFill>
                  <a:srgbClr val="8A99AD"/>
                </a:solidFill>
                <a:latin typeface="微软雅黑"/>
                <a:ea typeface="微软雅黑"/>
              </a:rPr>
              <a:t> / 1</a:t>
            </a:r>
            <a:r>
              <a:rPr lang="en-US" altLang="zh-CN" sz="1000" dirty="0">
                <a:solidFill>
                  <a:srgbClr val="8A99AD"/>
                </a:solidFill>
                <a:latin typeface="微软雅黑"/>
                <a:ea typeface="微软雅黑"/>
              </a:rPr>
              <a:t>7</a:t>
            </a:r>
            <a:endParaRPr lang="zh-CN" sz="1000" dirty="0">
              <a:solidFill>
                <a:srgbClr val="8A99AD"/>
              </a:solidFill>
              <a:latin typeface="微软雅黑"/>
              <a:ea typeface="微软雅黑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-10810"/>
            <a:ext cx="558829" cy="1181161"/>
          </a:xfrm>
          <a:prstGeom prst="rect">
            <a:avLst/>
          </a:prstGeom>
        </p:spPr>
      </p:pic>
      <p:pic>
        <p:nvPicPr>
          <p:cNvPr id="6" name="图片 5" descr="集创赛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82635" y="-235470"/>
            <a:ext cx="1486038" cy="92877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80028" y="231454"/>
            <a:ext cx="5035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3200" b="1" dirty="0">
                <a:solidFill>
                  <a:srgbClr val="006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硬件</a:t>
            </a:r>
            <a:r>
              <a:rPr lang="zh-CN" altLang="en-US" sz="3200" b="1" dirty="0">
                <a:solidFill>
                  <a:srgbClr val="006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模拟</a:t>
            </a:r>
            <a:r>
              <a:rPr lang="zh-CN" altLang="zh-CN" sz="3200" b="1" dirty="0">
                <a:solidFill>
                  <a:srgbClr val="006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平台 Gazelle</a:t>
            </a:r>
            <a:r>
              <a:rPr lang="en-US" altLang="zh-CN" sz="3200" b="1" dirty="0">
                <a:solidFill>
                  <a:srgbClr val="006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200" b="1" dirty="0">
                <a:solidFill>
                  <a:srgbClr val="006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环境</a:t>
            </a:r>
            <a:endParaRPr lang="zh-CN" altLang="zh-CN" sz="3200" b="1" dirty="0">
              <a:solidFill>
                <a:srgbClr val="0061E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98450" y="1496695"/>
            <a:ext cx="541655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分块约束：tile 8×2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输入长度须被8整除</a:t>
            </a: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物理线性度 99.4%，偏差可忽略</a:t>
            </a: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精度损失源于量化噪声及激活量化精度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模型需要减少计算量，并避免误差积累</a:t>
            </a:r>
            <a:endParaRPr lang="zh-CN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8032" y="271570"/>
            <a:ext cx="6523968" cy="326198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9F9F9"/>
              </a:clrFrom>
              <a:clrTo>
                <a:srgbClr val="F9F9F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796" b="26720"/>
          <a:stretch>
            <a:fillRect/>
          </a:stretch>
        </p:blipFill>
        <p:spPr>
          <a:xfrm>
            <a:off x="6311648" y="3826524"/>
            <a:ext cx="5752762" cy="1692442"/>
          </a:xfrm>
          <a:prstGeom prst="rect">
            <a:avLst/>
          </a:prstGeom>
        </p:spPr>
      </p:pic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0975301"/>
              </p:ext>
            </p:extLst>
          </p:nvPr>
        </p:nvGraphicFramePr>
        <p:xfrm>
          <a:off x="459505" y="3522294"/>
          <a:ext cx="5852143" cy="2682240"/>
        </p:xfrm>
        <a:graphic>
          <a:graphicData uri="http://schemas.openxmlformats.org/drawingml/2006/table">
            <a:tbl>
              <a:tblPr/>
              <a:tblGrid>
                <a:gridCol w="13900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1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101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75"/>
                        </a:spcBef>
                        <a:buNone/>
                      </a:pPr>
                      <a:r>
                        <a:rPr lang="zh-CN" sz="1400" b="1" i="0" cap="all" dirty="0">
                          <a:solidFill>
                            <a:srgbClr val="FFFFFF"/>
                          </a:solidFill>
                          <a:effectLst/>
                          <a:latin typeface="Plus Jakarta Sans"/>
                        </a:rPr>
                        <a:t>物理属性</a:t>
                      </a:r>
                    </a:p>
                  </a:txBody>
                  <a:tcPr marL="101600" marR="101600" marT="76200" marB="76200" anchor="ctr">
                    <a:solidFill>
                      <a:srgbClr val="0061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75"/>
                        </a:spcBef>
                        <a:buNone/>
                      </a:pPr>
                      <a:r>
                        <a:rPr lang="zh-CN" sz="1400" b="1" i="0" cap="all" dirty="0">
                          <a:solidFill>
                            <a:srgbClr val="FFFFFF"/>
                          </a:solidFill>
                          <a:effectLst/>
                          <a:latin typeface="Plus Jakarta Sans"/>
                        </a:rPr>
                        <a:t>数值</a:t>
                      </a:r>
                    </a:p>
                  </a:txBody>
                  <a:tcPr marL="101600" marR="101600" marT="76200" marB="76200" anchor="ctr">
                    <a:solidFill>
                      <a:srgbClr val="0061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75"/>
                        </a:spcBef>
                        <a:buNone/>
                      </a:pPr>
                      <a:r>
                        <a:rPr lang="zh-CN" sz="1400" b="1" i="0" cap="all" dirty="0">
                          <a:solidFill>
                            <a:srgbClr val="FFFFFF"/>
                          </a:solidFill>
                          <a:effectLst/>
                          <a:latin typeface="Plus Jakarta Sans"/>
                        </a:rPr>
                        <a:t>物理约束 / 工程学影响</a:t>
                      </a:r>
                    </a:p>
                  </a:txBody>
                  <a:tcPr marL="101600" marR="101600" marT="76200" marB="76200" anchor="ctr">
                    <a:solidFill>
                      <a:srgbClr val="0061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75"/>
                        </a:spcBef>
                        <a:buNone/>
                      </a:pPr>
                      <a:r>
                        <a:rPr lang="zh-CN" sz="1400" b="1" i="0" dirty="0">
                          <a:solidFill>
                            <a:srgbClr val="1815B0"/>
                          </a:solidFill>
                          <a:effectLst/>
                          <a:latin typeface="Plus Jakarta Sans"/>
                        </a:rPr>
                        <a:t>物理计算 Tile</a:t>
                      </a:r>
                      <a:endParaRPr lang="zh-CN" sz="1400" b="0" i="0" dirty="0">
                        <a:solidFill>
                          <a:schemeClr val="tx1"/>
                        </a:solidFill>
                        <a:effectLst/>
                        <a:latin typeface="Plus Jakarta Sans"/>
                      </a:endParaRPr>
                    </a:p>
                  </a:txBody>
                  <a:tcPr marL="101600" marR="101600" marT="69850" marB="69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75"/>
                        </a:spcBef>
                        <a:buNone/>
                      </a:pPr>
                      <a:r>
                        <a:rPr lang="zh-CN" sz="1400" b="1" i="0" dirty="0">
                          <a:solidFill>
                            <a:schemeClr val="tx1"/>
                          </a:solidFill>
                          <a:effectLst/>
                          <a:latin typeface="Courier New" panose="02070409020205090404" pitchFamily="49" charset="0"/>
                        </a:rPr>
                        <a:t>8×2</a:t>
                      </a:r>
                      <a:r>
                        <a:rPr lang="zh-CN" sz="1400" b="0" i="0" dirty="0">
                          <a:solidFill>
                            <a:schemeClr val="tx1"/>
                          </a:solidFill>
                          <a:effectLst/>
                          <a:latin typeface="Plus Jakarta Sans"/>
                        </a:rPr>
                        <a:t> (k=8, n=2)</a:t>
                      </a:r>
                    </a:p>
                  </a:txBody>
                  <a:tcPr marL="101600" marR="101600" marT="69850" marB="69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75"/>
                        </a:spcBef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Plus Jakarta Sans"/>
                        </a:rPr>
                        <a:t>卷积乘加展平后长度必须被 8 整除，否则硬件必须补零闲置</a:t>
                      </a:r>
                    </a:p>
                  </a:txBody>
                  <a:tcPr marL="101600" marR="101600" marT="69850" marB="69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75"/>
                        </a:spcBef>
                        <a:buNone/>
                      </a:pPr>
                      <a:r>
                        <a:rPr lang="zh-CN" sz="1400" b="1" i="0" dirty="0">
                          <a:solidFill>
                            <a:srgbClr val="1815B0"/>
                          </a:solidFill>
                          <a:effectLst/>
                          <a:latin typeface="Plus Jakarta Sans"/>
                        </a:rPr>
                        <a:t>原生支持精度</a:t>
                      </a:r>
                      <a:endParaRPr lang="zh-CN" sz="1400" b="0" i="0" dirty="0">
                        <a:solidFill>
                          <a:schemeClr val="tx1"/>
                        </a:solidFill>
                        <a:effectLst/>
                        <a:latin typeface="Plus Jakarta Sans"/>
                      </a:endParaRPr>
                    </a:p>
                  </a:txBody>
                  <a:tcPr marL="101600" marR="101600" marT="69850" marB="698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75"/>
                        </a:spcBef>
                        <a:buNone/>
                      </a:pPr>
                      <a:r>
                        <a:rPr lang="zh-CN" sz="1400" b="1" i="0" dirty="0">
                          <a:solidFill>
                            <a:schemeClr val="tx1"/>
                          </a:solidFill>
                          <a:effectLst/>
                          <a:latin typeface="Plus Jakarta Sans"/>
                        </a:rPr>
                        <a:t>8-bit</a:t>
                      </a:r>
                      <a:r>
                        <a:rPr lang="zh-CN" sz="1400" b="0" i="0" dirty="0">
                          <a:solidFill>
                            <a:schemeClr val="tx1"/>
                          </a:solidFill>
                          <a:effectLst/>
                          <a:latin typeface="Plus Jakarta Sans"/>
                        </a:rPr>
                        <a:t> 激活 / </a:t>
                      </a:r>
                      <a:endParaRPr lang="en-US" altLang="zh-CN" sz="1400" b="0" i="0" dirty="0">
                        <a:solidFill>
                          <a:schemeClr val="tx1"/>
                        </a:solidFill>
                        <a:effectLst/>
                        <a:latin typeface="Plus Jakarta Sans"/>
                      </a:endParaRPr>
                    </a:p>
                    <a:p>
                      <a:pPr marL="0" marR="0" algn="l">
                        <a:spcBef>
                          <a:spcPts val="375"/>
                        </a:spcBef>
                        <a:buNone/>
                      </a:pPr>
                      <a:r>
                        <a:rPr lang="zh-CN" sz="1400" b="1" i="0" dirty="0">
                          <a:solidFill>
                            <a:schemeClr val="tx1"/>
                          </a:solidFill>
                          <a:effectLst/>
                          <a:latin typeface="Plus Jakarta Sans"/>
                        </a:rPr>
                        <a:t>8-bit</a:t>
                      </a:r>
                      <a:r>
                        <a:rPr lang="zh-CN" sz="1400" b="0" i="0" dirty="0">
                          <a:solidFill>
                            <a:schemeClr val="tx1"/>
                          </a:solidFill>
                          <a:effectLst/>
                          <a:latin typeface="Plus Jakarta Sans"/>
                        </a:rPr>
                        <a:t> 权重</a:t>
                      </a:r>
                    </a:p>
                  </a:txBody>
                  <a:tcPr marL="101600" marR="101600" marT="69850" marB="698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75"/>
                        </a:spcBef>
                        <a:buNone/>
                      </a:pPr>
                      <a:r>
                        <a:rPr lang="zh-CN" sz="1400" b="0" i="0" dirty="0">
                          <a:solidFill>
                            <a:schemeClr val="tx1"/>
                          </a:solidFill>
                          <a:effectLst/>
                          <a:latin typeface="Plus Jakarta Sans"/>
                        </a:rPr>
                        <a:t>支持 </a:t>
                      </a:r>
                      <a:r>
                        <a:rPr lang="zh-CN" sz="14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INT8 GEMM</a:t>
                      </a:r>
                    </a:p>
                  </a:txBody>
                  <a:tcPr marL="101600" marR="101600" marT="69850" marB="698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75"/>
                        </a:spcBef>
                        <a:buNone/>
                      </a:pPr>
                      <a:r>
                        <a:rPr lang="zh-CN" altLang="en-US" sz="1400" b="1" i="0" kern="1200" dirty="0">
                          <a:solidFill>
                            <a:srgbClr val="1815B0"/>
                          </a:solidFill>
                          <a:effectLst/>
                          <a:latin typeface="Plus Jakarta Sans"/>
                          <a:ea typeface="+mn-ea"/>
                          <a:cs typeface="+mn-cs"/>
                        </a:rPr>
                        <a:t>运算速率</a:t>
                      </a:r>
                    </a:p>
                  </a:txBody>
                  <a:tcPr marL="101600" marR="101600" marT="69850" marB="698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s-ES" altLang="zh-CN" sz="1400" b="1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2.6MOPs</a:t>
                      </a:r>
                      <a:endParaRPr lang="es-ES" altLang="zh-CN" sz="1800" b="0" i="0" u="none" strike="noStrike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01600" marR="101600" marT="69850" marB="698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375"/>
                        </a:spcBef>
                        <a:buNone/>
                      </a:pPr>
                      <a:r>
                        <a:rPr lang="zh-CN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Plus Jakarta Sans"/>
                          <a:ea typeface="+mn-ea"/>
                          <a:cs typeface="+mn-cs"/>
                        </a:rPr>
                        <a:t>算力总容量极其有限，要求工程上必须采用极度轻量化的网络结构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Plus Jakarta Sans"/>
                          <a:ea typeface="+mn-ea"/>
                          <a:cs typeface="+mn-cs"/>
                        </a:rPr>
                        <a:t>以避免大量计算</a:t>
                      </a:r>
                    </a:p>
                  </a:txBody>
                  <a:tcPr marL="101600" marR="101600" marT="69850" marB="698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375"/>
                        </a:spcBef>
                        <a:buNone/>
                      </a:pPr>
                      <a:r>
                        <a:rPr lang="zh-CN" altLang="en-US" sz="1400" b="1" i="0" kern="1200" dirty="0">
                          <a:solidFill>
                            <a:srgbClr val="1815B0"/>
                          </a:solidFill>
                          <a:effectLst/>
                          <a:latin typeface="Plus Jakarta Sans"/>
                          <a:ea typeface="+mn-ea"/>
                          <a:cs typeface="+mn-cs"/>
                        </a:rPr>
                        <a:t>存在物理噪声</a:t>
                      </a:r>
                    </a:p>
                  </a:txBody>
                  <a:tcPr marL="101600" marR="101600" marT="69850" marB="698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s-ES" altLang="zh-CN" sz="1400" b="1" i="0" kern="1200" dirty="0">
                          <a:solidFill>
                            <a:schemeClr val="tx1"/>
                          </a:solidFill>
                          <a:effectLst/>
                          <a:latin typeface="Plus Jakarta Sans"/>
                          <a:ea typeface="+mn-ea"/>
                          <a:cs typeface="+mn-cs"/>
                        </a:rPr>
                        <a:t> -</a:t>
                      </a:r>
                    </a:p>
                  </a:txBody>
                  <a:tcPr marL="101600" marR="101600" marT="69850" marB="698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375"/>
                        </a:spcBef>
                        <a:buNone/>
                      </a:pP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Plus Jakarta Sans"/>
                          <a:ea typeface="+mn-ea"/>
                          <a:cs typeface="+mn-cs"/>
                        </a:rPr>
                        <a:t>深网络可能会导致准确率明显下降</a:t>
                      </a:r>
                    </a:p>
                  </a:txBody>
                  <a:tcPr marL="101600" marR="101600" marT="69850" marB="698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1" name="FooterL"/>
          <p:cNvSpPr>
            <a:spLocks noGrp="1"/>
          </p:cNvSpPr>
          <p:nvPr/>
        </p:nvSpPr>
        <p:spPr>
          <a:xfrm>
            <a:off x="411480" y="6492240"/>
            <a:ext cx="7772400" cy="274320"/>
          </a:xfrm>
          <a:prstGeom prst="rect">
            <a:avLst/>
          </a:prstGeom>
        </p:spPr>
        <p:txBody>
          <a:bodyPr wrap="none" rtlCol="0" anchor="ctr"/>
          <a:lstStyle/>
          <a:p>
            <a:pPr algn="l"/>
            <a:r>
              <a:rPr lang="zh-CN" sz="1000" dirty="0">
                <a:solidFill>
                  <a:srgbClr val="8A99AD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Optic-SpaceNet · 光学 CNN 在轨加速系统</a:t>
            </a:r>
          </a:p>
        </p:txBody>
      </p:sp>
      <p:sp>
        <p:nvSpPr>
          <p:cNvPr id="103" name="FooterR"/>
          <p:cNvSpPr>
            <a:spLocks noGrp="1"/>
          </p:cNvSpPr>
          <p:nvPr/>
        </p:nvSpPr>
        <p:spPr>
          <a:xfrm>
            <a:off x="10058400" y="6492240"/>
            <a:ext cx="1737360" cy="274320"/>
          </a:xfrm>
          <a:prstGeom prst="rect">
            <a:avLst/>
          </a:prstGeom>
        </p:spPr>
        <p:txBody>
          <a:bodyPr wrap="none" rtlCol="0" anchor="ctr"/>
          <a:lstStyle/>
          <a:p>
            <a:pPr algn="r"/>
            <a:r>
              <a:rPr lang="zh-CN" sz="1000" dirty="0">
                <a:solidFill>
                  <a:srgbClr val="8A99AD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0</a:t>
            </a:r>
            <a:r>
              <a:rPr lang="en-US" altLang="zh-CN" sz="1000" dirty="0">
                <a:solidFill>
                  <a:srgbClr val="8A99AD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6</a:t>
            </a:r>
            <a:r>
              <a:rPr lang="zh-CN" sz="1000" dirty="0">
                <a:solidFill>
                  <a:srgbClr val="8A99AD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/ 1</a:t>
            </a:r>
            <a:r>
              <a:rPr lang="en-US" altLang="zh-CN" sz="1000" dirty="0">
                <a:solidFill>
                  <a:srgbClr val="8A99AD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7</a:t>
            </a:r>
            <a:endParaRPr lang="zh-CN" sz="1000" dirty="0">
              <a:solidFill>
                <a:srgbClr val="8A99AD"/>
              </a:solidFill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10810"/>
            <a:ext cx="558829" cy="1181161"/>
          </a:xfrm>
          <a:prstGeom prst="rect">
            <a:avLst/>
          </a:prstGeom>
        </p:spPr>
      </p:pic>
      <p:pic>
        <p:nvPicPr>
          <p:cNvPr id="14" name="图片 13" descr="集创赛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82635" y="-235470"/>
            <a:ext cx="1486038" cy="92877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64481" y="287382"/>
            <a:ext cx="466026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3200" b="1" dirty="0">
                <a:solidFill>
                  <a:srgbClr val="006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模型设计：硬件感知架构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3398346" y="5890386"/>
            <a:ext cx="53953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用 1/9 的参数量 </a:t>
            </a:r>
            <a:r>
              <a:rPr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实现</a:t>
            </a:r>
            <a:r>
              <a:rPr lang="zh-CN" altLang="zh-CN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 1/150 的在轨推算</a:t>
            </a:r>
            <a:r>
              <a:rPr lang="zh-CN" altLang="en-US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负担</a:t>
            </a:r>
            <a:r>
              <a:rPr lang="zh-CN" altLang="zh-CN" sz="2000" dirty="0"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。</a:t>
            </a:r>
            <a:endParaRPr lang="zh-CN" altLang="en-US" sz="2000" dirty="0">
              <a:latin typeface="Times New Roman" panose="02020603050405020304" pitchFamily="18" charset="0"/>
              <a:ea typeface="幼圆" panose="02010509060101010101" pitchFamily="49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5"/>
              <p:cNvGraphicFramePr>
                <a:graphicFrameLocks noGrp="1"/>
              </p:cNvGraphicFramePr>
              <p:nvPr/>
            </p:nvGraphicFramePr>
            <p:xfrm>
              <a:off x="338659" y="1456540"/>
              <a:ext cx="11514682" cy="4232103"/>
            </p:xfrm>
            <a:graphic>
              <a:graphicData uri="http://schemas.openxmlformats.org/drawingml/2006/table">
                <a:tbl>
                  <a:tblPr/>
                  <a:tblGrid>
                    <a:gridCol w="208910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93885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03777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448945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57823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1" i="0">
                              <a:solidFill>
                                <a:srgbClr val="FFFFFF"/>
                              </a:solidFill>
                              <a:effectLst/>
                              <a:latin typeface="var(--font-title)"/>
                            </a:rPr>
                            <a:t>评估对比维度</a:t>
                          </a:r>
                        </a:p>
                      </a:txBody>
                      <a:tcPr marL="76200" marR="76200" marT="50800" marB="50800" anchor="ctr">
                        <a:solidFill>
                          <a:srgbClr val="0061E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1" i="0" dirty="0">
                              <a:solidFill>
                                <a:srgbClr val="FFFFFF"/>
                              </a:solidFill>
                              <a:effectLst/>
                              <a:latin typeface="var(--font-title)"/>
                            </a:rPr>
                            <a:t>Model 1 (基准 VGG)</a:t>
                          </a:r>
                        </a:p>
                      </a:txBody>
                      <a:tcPr marL="76200" marR="76200" marT="50800" marB="50800" anchor="ctr">
                        <a:solidFill>
                          <a:srgbClr val="0061E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1" i="0" dirty="0">
                              <a:solidFill>
                                <a:srgbClr val="FFFFFF"/>
                              </a:solidFill>
                              <a:effectLst/>
                              <a:latin typeface="var(--font-title)"/>
                            </a:rPr>
                            <a:t>Model 2 (SpaceNet V1)</a:t>
                          </a:r>
                        </a:p>
                      </a:txBody>
                      <a:tcPr marL="76200" marR="76200" marT="50800" marB="50800" anchor="ctr">
                        <a:solidFill>
                          <a:srgbClr val="0061E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1" i="0">
                              <a:solidFill>
                                <a:srgbClr val="FFFFFF"/>
                              </a:solidFill>
                              <a:effectLst/>
                              <a:latin typeface="var(--font-title)"/>
                            </a:rPr>
                            <a:t>Model 3 (SpaceNet V2)</a:t>
                          </a:r>
                        </a:p>
                      </a:txBody>
                      <a:tcPr marL="76200" marR="76200" marT="50800" marB="50800" anchor="ctr">
                        <a:solidFill>
                          <a:srgbClr val="0061E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19787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1" i="0">
                              <a:solidFill>
                                <a:srgbClr val="1815B0"/>
                              </a:solidFill>
                              <a:effectLst/>
                              <a:latin typeface="DM Sans" pitchFamily="2" charset="0"/>
                            </a:rPr>
                            <a:t>架构定义</a:t>
                          </a:r>
                          <a:endParaRPr lang="zh-CN" sz="1600" b="0" i="0">
                            <a:solidFill>
                              <a:schemeClr val="tx1"/>
                            </a:solidFill>
                            <a:effectLst/>
                            <a:latin typeface="DM Sans" pitchFamily="2" charset="0"/>
                          </a:endParaRPr>
                        </a:p>
                      </a:txBody>
                      <a:tcPr marL="76200" marR="76200" marT="50800" marB="508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A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0" i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6×Conv (3×3) + 2×FC</a:t>
                          </a:r>
                        </a:p>
                      </a:txBody>
                      <a:tcPr marL="76200" marR="76200" marT="50800" marB="508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A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0" i="0" dirty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4×Conv (1×1 / 2×2) + 2×FC</a:t>
                          </a:r>
                        </a:p>
                      </a:txBody>
                      <a:tcPr marL="76200" marR="76200" marT="50800" marB="508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A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0" i="0" dirty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同 Model 2 (引入知识蒸馏)</a:t>
                          </a:r>
                        </a:p>
                      </a:txBody>
                      <a:tcPr marL="76200" marR="76200" marT="50800" marB="508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A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57823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1" i="0">
                              <a:solidFill>
                                <a:srgbClr val="1815B0"/>
                              </a:solidFill>
                              <a:effectLst/>
                              <a:latin typeface="DM Sans" pitchFamily="2" charset="0"/>
                            </a:rPr>
                            <a:t>模型参数量</a:t>
                          </a:r>
                          <a:endParaRPr lang="zh-CN" sz="1600" b="0" i="0">
                            <a:solidFill>
                              <a:schemeClr val="tx1"/>
                            </a:solidFill>
                            <a:effectLst/>
                            <a:latin typeface="DM Sans" pitchFamily="2" charset="0"/>
                          </a:endParaRPr>
                        </a:p>
                      </a:txBody>
                      <a:tcPr marL="76200" marR="76200" marT="50800" marB="5080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F4F8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1" i="0" dirty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2.39 M </a:t>
                          </a:r>
                        </a:p>
                      </a:txBody>
                      <a:tcPr marL="76200" marR="76200" marT="50800" marB="5080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F4F8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1" i="0" dirty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268 K (降低至 1/9)</a:t>
                          </a:r>
                        </a:p>
                      </a:txBody>
                      <a:tcPr marL="76200" marR="76200" marT="50800" marB="5080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F4F8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1" i="0" dirty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268 K (降低至 1/9)</a:t>
                          </a:r>
                        </a:p>
                      </a:txBody>
                      <a:tcPr marL="76200" marR="76200" marT="50800" marB="5080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F4F8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19787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1" i="0">
                              <a:solidFill>
                                <a:srgbClr val="1815B0"/>
                              </a:solidFill>
                              <a:effectLst/>
                              <a:latin typeface="DM Sans" pitchFamily="2" charset="0"/>
                            </a:rPr>
                            <a:t>首层对齐/硬件处理</a:t>
                          </a:r>
                          <a:endParaRPr lang="zh-CN" sz="1600" b="0" i="0">
                            <a:solidFill>
                              <a:schemeClr val="tx1"/>
                            </a:solidFill>
                            <a:effectLst/>
                            <a:latin typeface="DM Sans" pitchFamily="2" charset="0"/>
                          </a:endParaRPr>
                        </a:p>
                      </a:txBody>
                      <a:tcPr marL="76200" marR="76200" marT="50800" marB="508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A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0" i="0" dirty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27 (对齐率 84.4%) / 光学计算</a:t>
                          </a:r>
                        </a:p>
                      </a:txBody>
                      <a:tcPr marL="76200" marR="76200" marT="50800" marB="508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A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0" i="0" dirty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3 (对齐率 37.5%) / 留电计算</a:t>
                          </a:r>
                        </a:p>
                      </a:txBody>
                      <a:tcPr marL="76200" marR="76200" marT="50800" marB="508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A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0" i="0" dirty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3 (对齐率 37.5%) / 留电计算</a:t>
                          </a:r>
                        </a:p>
                      </a:txBody>
                      <a:tcPr marL="76200" marR="76200" marT="50800" marB="508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A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57823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1" i="0">
                              <a:solidFill>
                                <a:srgbClr val="1815B0"/>
                              </a:solidFill>
                              <a:effectLst/>
                              <a:latin typeface="DM Sans" pitchFamily="2" charset="0"/>
                            </a:rPr>
                            <a:t>综合对齐对位率</a:t>
                          </a:r>
                          <a:endParaRPr lang="zh-CN" sz="1600" b="0" i="0">
                            <a:solidFill>
                              <a:schemeClr val="tx1"/>
                            </a:solidFill>
                            <a:effectLst/>
                            <a:latin typeface="DM Sans" pitchFamily="2" charset="0"/>
                          </a:endParaRPr>
                        </a:p>
                      </a:txBody>
                      <a:tcPr marL="76200" marR="76200" marT="50800" marB="5080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F4F8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0" i="0" dirty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99.8%</a:t>
                          </a:r>
                        </a:p>
                      </a:txBody>
                      <a:tcPr marL="76200" marR="76200" marT="50800" marB="5080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F4F8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0" i="0" dirty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99.6%</a:t>
                          </a:r>
                        </a:p>
                      </a:txBody>
                      <a:tcPr marL="76200" marR="76200" marT="50800" marB="5080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F4F8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0" i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99.6%</a:t>
                          </a:r>
                        </a:p>
                      </a:txBody>
                      <a:tcPr marL="76200" marR="76200" marT="50800" marB="5080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F4F8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607058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1" i="0">
                              <a:solidFill>
                                <a:srgbClr val="1815B0"/>
                              </a:solidFill>
                              <a:effectLst/>
                              <a:latin typeface="DM Sans" pitchFamily="2" charset="0"/>
                            </a:rPr>
                            <a:t>单图有效计算复杂度</a:t>
                          </a:r>
                          <a:endParaRPr lang="zh-CN" sz="1600" b="0" i="0">
                            <a:solidFill>
                              <a:schemeClr val="tx1"/>
                            </a:solidFill>
                            <a:effectLst/>
                            <a:latin typeface="DM Sans" pitchFamily="2" charset="0"/>
                          </a:endParaRPr>
                        </a:p>
                      </a:txBody>
                      <a:tcPr marL="76200" marR="76200" marT="50800" marB="508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A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1" i="0" dirty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156.6M MOPs</a:t>
                          </a:r>
                        </a:p>
                      </a:txBody>
                      <a:tcPr marL="76200" marR="76200" marT="50800" marB="508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A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1" i="0" dirty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1.05M MOPs (轻量)</a:t>
                          </a:r>
                        </a:p>
                      </a:txBody>
                      <a:tcPr marL="76200" marR="76200" marT="50800" marB="508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A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1" i="0" dirty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1.05M MOPs (轻量)</a:t>
                          </a:r>
                        </a:p>
                      </a:txBody>
                      <a:tcPr marL="76200" marR="76200" marT="50800" marB="508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A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1512002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1" i="0">
                              <a:solidFill>
                                <a:srgbClr val="1815B0"/>
                              </a:solidFill>
                              <a:effectLst/>
                              <a:latin typeface="DM Sans" pitchFamily="2" charset="0"/>
                            </a:rPr>
                            <a:t>QAT 与训练策略</a:t>
                          </a:r>
                          <a:endParaRPr lang="zh-CN" sz="1600" b="0" i="0">
                            <a:solidFill>
                              <a:schemeClr val="tx1"/>
                            </a:solidFill>
                            <a:effectLst/>
                            <a:latin typeface="DM Sans" pitchFamily="2" charset="0"/>
                          </a:endParaRPr>
                        </a:p>
                      </a:txBody>
                      <a:tcPr marL="76200" marR="76200" marT="50800" marB="5080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F4F8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0" i="0" dirty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监督分类训练 (FP32)</a:t>
                          </a:r>
                        </a:p>
                      </a:txBody>
                      <a:tcPr marL="76200" marR="76200" marT="50800" marB="5080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F4F8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0" i="0" dirty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硬件适配定标从零 QAT</a:t>
                          </a:r>
                        </a:p>
                      </a:txBody>
                      <a:tcPr marL="76200" marR="76200" marT="50800" marB="5080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F4F8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0" i="0" dirty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ResNet-18 蒸馏辅导训练</a:t>
                          </a:r>
                          <a:endParaRPr lang="en-US" altLang="zh-CN" sz="1600" b="0" i="0" dirty="0">
                            <a:solidFill>
                              <a:schemeClr val="tx1"/>
                            </a:solidFill>
                            <a:effectLst/>
                            <a:latin typeface="DM Sans" pitchFamily="2" charset="0"/>
                          </a:endParaRPr>
                        </a:p>
                        <a:p>
                          <a:pPr marL="0" marR="0" algn="ctr">
                            <a:buNone/>
                          </a:pPr>
                          <a:r>
                            <a:rPr lang="zh-CN" sz="1600" b="0" i="0" dirty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 (教师: 97.83%)</a:t>
                          </a:r>
                        </a:p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alt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zh-CN" alt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𝐾𝐷</m:t>
                                    </m:r>
                                  </m:sub>
                                </m:sSub>
                                <m:r>
                                  <a:rPr lang="en-US" altLang="zh-CN" sz="20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zh-CN" alt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0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r>
                                      <a:rPr lang="zh-CN" alt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d>
                                <m:sSub>
                                  <m:sSubPr>
                                    <m:ctrlPr>
                                      <a:rPr lang="zh-CN" alt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zh-CN" alt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𝐶𝐸</m:t>
                                    </m:r>
                                  </m:sub>
                                </m:sSub>
                                <m:r>
                                  <a:rPr lang="en-US" altLang="zh-CN" sz="20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zh-CN" alt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sSup>
                                  <m:sSupPr>
                                    <m:ctrlPr>
                                      <a:rPr lang="zh-CN" alt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p>
                                    <m:r>
                                      <a:rPr lang="en-US" altLang="zh-CN" sz="20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zh-CN" alt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zh-CN" alt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𝐾𝐿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1600" b="0" i="0" dirty="0">
                            <a:solidFill>
                              <a:schemeClr val="tx1"/>
                            </a:solidFill>
                            <a:effectLst/>
                            <a:latin typeface="DM Sans" pitchFamily="2" charset="0"/>
                          </a:endParaRPr>
                        </a:p>
                        <a:p>
                          <a:pPr marL="0" marR="0" algn="ctr">
                            <a:buNone/>
                          </a:pPr>
                          <a:r>
                            <a:rPr lang="zh-CN" sz="1100" b="0" i="0" dirty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T = 4.0,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1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r>
                                <a:rPr lang="zh-CN" altLang="en-US" sz="11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oMath>
                          </a14:m>
                          <a:r>
                            <a:rPr lang="zh-CN" sz="1100" b="0" i="0" dirty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= 0.7</a:t>
                          </a:r>
                          <a:endParaRPr lang="zh-CN" sz="1600" b="0" i="0" dirty="0">
                            <a:solidFill>
                              <a:schemeClr val="tx1"/>
                            </a:solidFill>
                            <a:effectLst/>
                            <a:latin typeface="DM Sans" pitchFamily="2" charset="0"/>
                          </a:endParaRPr>
                        </a:p>
                      </a:txBody>
                      <a:tcPr marL="76200" marR="76200" marT="50800" marB="5080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F4F8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5"/>
              <p:cNvGraphicFramePr>
                <a:graphicFrameLocks noGrp="1"/>
              </p:cNvGraphicFramePr>
              <p:nvPr/>
            </p:nvGraphicFramePr>
            <p:xfrm>
              <a:off x="338659" y="1456540"/>
              <a:ext cx="11514682" cy="4232103"/>
            </p:xfrm>
            <a:graphic>
              <a:graphicData uri="http://schemas.openxmlformats.org/drawingml/2006/table">
                <a:tbl>
                  <a:tblPr/>
                  <a:tblGrid>
                    <a:gridCol w="2089107"/>
                    <a:gridCol w="2938858"/>
                    <a:gridCol w="3037772"/>
                    <a:gridCol w="3448945"/>
                  </a:tblGrid>
                  <a:tr h="357823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1" i="0">
                              <a:solidFill>
                                <a:srgbClr val="FFFFFF"/>
                              </a:solidFill>
                              <a:effectLst/>
                              <a:latin typeface="var(--font-title)"/>
                            </a:rPr>
                            <a:t>评估对比维度</a:t>
                          </a:r>
                          <a:endParaRPr lang="zh-CN" sz="1600" b="1" i="0">
                            <a:solidFill>
                              <a:srgbClr val="FFFFFF"/>
                            </a:solidFill>
                            <a:effectLst/>
                            <a:latin typeface="var(--font-title)"/>
                          </a:endParaRPr>
                        </a:p>
                      </a:txBody>
                      <a:tcPr marL="76200" marR="76200" marT="50800" marB="50800" anchor="ctr">
                        <a:solidFill>
                          <a:srgbClr val="0061E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1" i="0" dirty="0">
                              <a:solidFill>
                                <a:srgbClr val="FFFFFF"/>
                              </a:solidFill>
                              <a:effectLst/>
                              <a:latin typeface="var(--font-title)"/>
                            </a:rPr>
                            <a:t>Model 1 (基准 VGG)</a:t>
                          </a:r>
                          <a:endParaRPr lang="zh-CN" sz="1600" b="1" i="0" dirty="0">
                            <a:solidFill>
                              <a:srgbClr val="FFFFFF"/>
                            </a:solidFill>
                            <a:effectLst/>
                            <a:latin typeface="var(--font-title)"/>
                          </a:endParaRPr>
                        </a:p>
                      </a:txBody>
                      <a:tcPr marL="76200" marR="76200" marT="50800" marB="50800" anchor="ctr">
                        <a:solidFill>
                          <a:srgbClr val="0061E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1" i="0" dirty="0">
                              <a:solidFill>
                                <a:srgbClr val="FFFFFF"/>
                              </a:solidFill>
                              <a:effectLst/>
                              <a:latin typeface="var(--font-title)"/>
                            </a:rPr>
                            <a:t>Model 2 (SpaceNet V1)</a:t>
                          </a:r>
                          <a:endParaRPr lang="zh-CN" sz="1600" b="1" i="0" dirty="0">
                            <a:solidFill>
                              <a:srgbClr val="FFFFFF"/>
                            </a:solidFill>
                            <a:effectLst/>
                            <a:latin typeface="var(--font-title)"/>
                          </a:endParaRPr>
                        </a:p>
                      </a:txBody>
                      <a:tcPr marL="76200" marR="76200" marT="50800" marB="50800" anchor="ctr">
                        <a:solidFill>
                          <a:srgbClr val="0061E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1" i="0">
                              <a:solidFill>
                                <a:srgbClr val="FFFFFF"/>
                              </a:solidFill>
                              <a:effectLst/>
                              <a:latin typeface="var(--font-title)"/>
                            </a:rPr>
                            <a:t>Model 3 (SpaceNet V2)</a:t>
                          </a:r>
                          <a:endParaRPr lang="zh-CN" sz="1600" b="1" i="0">
                            <a:solidFill>
                              <a:srgbClr val="FFFFFF"/>
                            </a:solidFill>
                            <a:effectLst/>
                            <a:latin typeface="var(--font-title)"/>
                          </a:endParaRPr>
                        </a:p>
                      </a:txBody>
                      <a:tcPr marL="76200" marR="76200" marT="50800" marB="50800" anchor="ctr">
                        <a:solidFill>
                          <a:srgbClr val="0061E2"/>
                        </a:solidFill>
                      </a:tcPr>
                    </a:tc>
                  </a:tr>
                  <a:tr h="519787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1" i="0">
                              <a:solidFill>
                                <a:srgbClr val="1815B0"/>
                              </a:solidFill>
                              <a:effectLst/>
                              <a:latin typeface="DM Sans" pitchFamily="2" charset="0"/>
                            </a:rPr>
                            <a:t>架构定义</a:t>
                          </a:r>
                          <a:endParaRPr lang="zh-CN" sz="1600" b="0" i="0">
                            <a:solidFill>
                              <a:schemeClr val="tx1"/>
                            </a:solidFill>
                            <a:effectLst/>
                            <a:latin typeface="DM Sans" pitchFamily="2" charset="0"/>
                          </a:endParaRPr>
                        </a:p>
                      </a:txBody>
                      <a:tcPr marL="76200" marR="76200" marT="50800" marB="508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A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0" i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6×Conv (3×3) + 2×FC</a:t>
                          </a:r>
                          <a:endParaRPr lang="zh-CN" sz="1600" b="0" i="0">
                            <a:solidFill>
                              <a:schemeClr val="tx1"/>
                            </a:solidFill>
                            <a:effectLst/>
                            <a:latin typeface="DM Sans" pitchFamily="2" charset="0"/>
                          </a:endParaRPr>
                        </a:p>
                      </a:txBody>
                      <a:tcPr marL="76200" marR="76200" marT="50800" marB="508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A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0" i="0" dirty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4×Conv (1×1 / 2×2) + 2×FC</a:t>
                          </a:r>
                          <a:endParaRPr lang="zh-CN" sz="1600" b="0" i="0" dirty="0">
                            <a:solidFill>
                              <a:schemeClr val="tx1"/>
                            </a:solidFill>
                            <a:effectLst/>
                            <a:latin typeface="DM Sans" pitchFamily="2" charset="0"/>
                          </a:endParaRPr>
                        </a:p>
                      </a:txBody>
                      <a:tcPr marL="76200" marR="76200" marT="50800" marB="508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A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0" i="0" dirty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同 Model 2 (引入知识蒸馏)</a:t>
                          </a:r>
                          <a:endParaRPr lang="zh-CN" sz="1600" b="0" i="0" dirty="0">
                            <a:solidFill>
                              <a:schemeClr val="tx1"/>
                            </a:solidFill>
                            <a:effectLst/>
                            <a:latin typeface="DM Sans" pitchFamily="2" charset="0"/>
                          </a:endParaRPr>
                        </a:p>
                      </a:txBody>
                      <a:tcPr marL="76200" marR="76200" marT="50800" marB="508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AFC"/>
                        </a:solidFill>
                      </a:tcPr>
                    </a:tc>
                  </a:tr>
                  <a:tr h="357823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1" i="0">
                              <a:solidFill>
                                <a:srgbClr val="1815B0"/>
                              </a:solidFill>
                              <a:effectLst/>
                              <a:latin typeface="DM Sans" pitchFamily="2" charset="0"/>
                            </a:rPr>
                            <a:t>模型参数量</a:t>
                          </a:r>
                          <a:endParaRPr lang="zh-CN" sz="1600" b="0" i="0">
                            <a:solidFill>
                              <a:schemeClr val="tx1"/>
                            </a:solidFill>
                            <a:effectLst/>
                            <a:latin typeface="DM Sans" pitchFamily="2" charset="0"/>
                          </a:endParaRPr>
                        </a:p>
                      </a:txBody>
                      <a:tcPr marL="76200" marR="76200" marT="50800" marB="5080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F4F8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1" i="0" dirty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2.39 M </a:t>
                          </a:r>
                          <a:endParaRPr lang="zh-CN" sz="1600" b="1" i="0" dirty="0">
                            <a:solidFill>
                              <a:schemeClr val="tx1"/>
                            </a:solidFill>
                            <a:effectLst/>
                            <a:latin typeface="DM Sans" pitchFamily="2" charset="0"/>
                          </a:endParaRPr>
                        </a:p>
                      </a:txBody>
                      <a:tcPr marL="76200" marR="76200" marT="50800" marB="5080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F4F8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1" i="0" dirty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268 K (降低至 1/9)</a:t>
                          </a:r>
                          <a:endParaRPr lang="zh-CN" sz="1600" b="1" i="0" dirty="0">
                            <a:solidFill>
                              <a:schemeClr val="tx1"/>
                            </a:solidFill>
                            <a:effectLst/>
                            <a:latin typeface="DM Sans" pitchFamily="2" charset="0"/>
                          </a:endParaRPr>
                        </a:p>
                      </a:txBody>
                      <a:tcPr marL="76200" marR="76200" marT="50800" marB="5080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F4F8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1" i="0" dirty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268 K (降低至 1/9)</a:t>
                          </a:r>
                          <a:endParaRPr lang="zh-CN" sz="1600" b="1" i="0" dirty="0">
                            <a:solidFill>
                              <a:schemeClr val="tx1"/>
                            </a:solidFill>
                            <a:effectLst/>
                            <a:latin typeface="DM Sans" pitchFamily="2" charset="0"/>
                          </a:endParaRPr>
                        </a:p>
                      </a:txBody>
                      <a:tcPr marL="76200" marR="76200" marT="50800" marB="5080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F4F8FE"/>
                        </a:solidFill>
                      </a:tcPr>
                    </a:tc>
                  </a:tr>
                  <a:tr h="519787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1" i="0">
                              <a:solidFill>
                                <a:srgbClr val="1815B0"/>
                              </a:solidFill>
                              <a:effectLst/>
                              <a:latin typeface="DM Sans" pitchFamily="2" charset="0"/>
                            </a:rPr>
                            <a:t>首层对齐/硬件处理</a:t>
                          </a:r>
                          <a:endParaRPr lang="zh-CN" sz="1600" b="0" i="0">
                            <a:solidFill>
                              <a:schemeClr val="tx1"/>
                            </a:solidFill>
                            <a:effectLst/>
                            <a:latin typeface="DM Sans" pitchFamily="2" charset="0"/>
                          </a:endParaRPr>
                        </a:p>
                      </a:txBody>
                      <a:tcPr marL="76200" marR="76200" marT="50800" marB="508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A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0" i="0" dirty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27 (对齐率 84.4%) / 光学计算</a:t>
                          </a:r>
                          <a:endParaRPr lang="zh-CN" sz="1600" b="0" i="0" dirty="0">
                            <a:solidFill>
                              <a:schemeClr val="tx1"/>
                            </a:solidFill>
                            <a:effectLst/>
                            <a:latin typeface="DM Sans" pitchFamily="2" charset="0"/>
                          </a:endParaRPr>
                        </a:p>
                      </a:txBody>
                      <a:tcPr marL="76200" marR="76200" marT="50800" marB="508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A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0" i="0" dirty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3 (对齐率 37.5%) / 留电计算</a:t>
                          </a:r>
                          <a:endParaRPr lang="zh-CN" sz="1600" b="0" i="0" dirty="0">
                            <a:solidFill>
                              <a:schemeClr val="tx1"/>
                            </a:solidFill>
                            <a:effectLst/>
                            <a:latin typeface="DM Sans" pitchFamily="2" charset="0"/>
                          </a:endParaRPr>
                        </a:p>
                      </a:txBody>
                      <a:tcPr marL="76200" marR="76200" marT="50800" marB="508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A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0" i="0" dirty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3 (对齐率 37.5%) / 留电计算</a:t>
                          </a:r>
                          <a:endParaRPr lang="zh-CN" sz="1600" b="0" i="0" dirty="0">
                            <a:solidFill>
                              <a:schemeClr val="tx1"/>
                            </a:solidFill>
                            <a:effectLst/>
                            <a:latin typeface="DM Sans" pitchFamily="2" charset="0"/>
                          </a:endParaRPr>
                        </a:p>
                      </a:txBody>
                      <a:tcPr marL="76200" marR="76200" marT="50800" marB="508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AFC"/>
                        </a:solidFill>
                      </a:tcPr>
                    </a:tc>
                  </a:tr>
                  <a:tr h="357823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1" i="0">
                              <a:solidFill>
                                <a:srgbClr val="1815B0"/>
                              </a:solidFill>
                              <a:effectLst/>
                              <a:latin typeface="DM Sans" pitchFamily="2" charset="0"/>
                            </a:rPr>
                            <a:t>综合对齐对位率</a:t>
                          </a:r>
                          <a:endParaRPr lang="zh-CN" sz="1600" b="0" i="0">
                            <a:solidFill>
                              <a:schemeClr val="tx1"/>
                            </a:solidFill>
                            <a:effectLst/>
                            <a:latin typeface="DM Sans" pitchFamily="2" charset="0"/>
                          </a:endParaRPr>
                        </a:p>
                      </a:txBody>
                      <a:tcPr marL="76200" marR="76200" marT="50800" marB="5080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F4F8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0" i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99.8%</a:t>
                          </a:r>
                          <a:endParaRPr lang="zh-CN" sz="1600" b="0" i="0">
                            <a:solidFill>
                              <a:schemeClr val="tx1"/>
                            </a:solidFill>
                            <a:effectLst/>
                            <a:latin typeface="DM Sans" pitchFamily="2" charset="0"/>
                          </a:endParaRPr>
                        </a:p>
                      </a:txBody>
                      <a:tcPr marL="76200" marR="76200" marT="50800" marB="5080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F4F8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0" i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99.6%</a:t>
                          </a:r>
                          <a:endParaRPr lang="zh-CN" sz="1600" b="0" i="0">
                            <a:solidFill>
                              <a:schemeClr val="tx1"/>
                            </a:solidFill>
                            <a:effectLst/>
                            <a:latin typeface="DM Sans" pitchFamily="2" charset="0"/>
                          </a:endParaRPr>
                        </a:p>
                      </a:txBody>
                      <a:tcPr marL="76200" marR="76200" marT="50800" marB="5080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F4F8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0" i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99.6%</a:t>
                          </a:r>
                          <a:endParaRPr lang="zh-CN" sz="1600" b="0" i="0">
                            <a:solidFill>
                              <a:schemeClr val="tx1"/>
                            </a:solidFill>
                            <a:effectLst/>
                            <a:latin typeface="DM Sans" pitchFamily="2" charset="0"/>
                          </a:endParaRPr>
                        </a:p>
                      </a:txBody>
                      <a:tcPr marL="76200" marR="76200" marT="50800" marB="5080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F4F8FE"/>
                        </a:solidFill>
                      </a:tcPr>
                    </a:tc>
                  </a:tr>
                  <a:tr h="607058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1" i="0">
                              <a:solidFill>
                                <a:srgbClr val="1815B0"/>
                              </a:solidFill>
                              <a:effectLst/>
                              <a:latin typeface="DM Sans" pitchFamily="2" charset="0"/>
                            </a:rPr>
                            <a:t>单图有效计算复杂度</a:t>
                          </a:r>
                          <a:endParaRPr lang="zh-CN" sz="1600" b="0" i="0">
                            <a:solidFill>
                              <a:schemeClr val="tx1"/>
                            </a:solidFill>
                            <a:effectLst/>
                            <a:latin typeface="DM Sans" pitchFamily="2" charset="0"/>
                          </a:endParaRPr>
                        </a:p>
                      </a:txBody>
                      <a:tcPr marL="76200" marR="76200" marT="50800" marB="508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A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1" i="0" dirty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156.6M MOPs</a:t>
                          </a:r>
                          <a:endParaRPr lang="zh-CN" sz="1600" b="1" i="0" dirty="0">
                            <a:solidFill>
                              <a:schemeClr val="tx1"/>
                            </a:solidFill>
                            <a:effectLst/>
                            <a:latin typeface="DM Sans" pitchFamily="2" charset="0"/>
                          </a:endParaRPr>
                        </a:p>
                      </a:txBody>
                      <a:tcPr marL="76200" marR="76200" marT="50800" marB="508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A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1" i="0" dirty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1.05M MOPs (轻量)</a:t>
                          </a:r>
                          <a:endParaRPr lang="zh-CN" sz="1600" b="1" i="0" dirty="0">
                            <a:solidFill>
                              <a:schemeClr val="tx1"/>
                            </a:solidFill>
                            <a:effectLst/>
                            <a:latin typeface="DM Sans" pitchFamily="2" charset="0"/>
                          </a:endParaRPr>
                        </a:p>
                      </a:txBody>
                      <a:tcPr marL="76200" marR="76200" marT="50800" marB="508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A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1" i="0" dirty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1.05M MOPs (轻量)</a:t>
                          </a:r>
                          <a:endParaRPr lang="zh-CN" sz="1600" b="1" i="0" dirty="0">
                            <a:solidFill>
                              <a:schemeClr val="tx1"/>
                            </a:solidFill>
                            <a:effectLst/>
                            <a:latin typeface="DM Sans" pitchFamily="2" charset="0"/>
                          </a:endParaRPr>
                        </a:p>
                      </a:txBody>
                      <a:tcPr marL="76200" marR="76200" marT="50800" marB="508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AFC"/>
                        </a:solidFill>
                      </a:tcPr>
                    </a:tc>
                  </a:tr>
                  <a:tr h="1511935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1" i="0">
                              <a:solidFill>
                                <a:srgbClr val="1815B0"/>
                              </a:solidFill>
                              <a:effectLst/>
                              <a:latin typeface="DM Sans" pitchFamily="2" charset="0"/>
                            </a:rPr>
                            <a:t>QAT 与训练策略</a:t>
                          </a:r>
                          <a:endParaRPr lang="zh-CN" sz="1600" b="0" i="0">
                            <a:solidFill>
                              <a:schemeClr val="tx1"/>
                            </a:solidFill>
                            <a:effectLst/>
                            <a:latin typeface="DM Sans" pitchFamily="2" charset="0"/>
                          </a:endParaRPr>
                        </a:p>
                      </a:txBody>
                      <a:tcPr marL="76200" marR="76200" marT="50800" marB="5080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F4F8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0" i="0" dirty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监督分类训练 (FP32)</a:t>
                          </a:r>
                          <a:endParaRPr lang="zh-CN" sz="1600" b="0" i="0" dirty="0">
                            <a:solidFill>
                              <a:schemeClr val="tx1"/>
                            </a:solidFill>
                            <a:effectLst/>
                            <a:latin typeface="DM Sans" pitchFamily="2" charset="0"/>
                          </a:endParaRPr>
                        </a:p>
                      </a:txBody>
                      <a:tcPr marL="76200" marR="76200" marT="50800" marB="5080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F4F8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0" i="0" dirty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硬件适配定标从零 QAT</a:t>
                          </a:r>
                          <a:endParaRPr lang="zh-CN" sz="1600" b="0" i="0" dirty="0">
                            <a:solidFill>
                              <a:schemeClr val="tx1"/>
                            </a:solidFill>
                            <a:effectLst/>
                            <a:latin typeface="DM Sans" pitchFamily="2" charset="0"/>
                          </a:endParaRPr>
                        </a:p>
                      </a:txBody>
                      <a:tcPr marL="76200" marR="76200" marT="50800" marB="5080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F4F8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6200" marR="76200" marT="50800" marB="5080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2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111" name="FooterL"/>
          <p:cNvSpPr>
            <a:spLocks noGrp="1"/>
          </p:cNvSpPr>
          <p:nvPr/>
        </p:nvSpPr>
        <p:spPr>
          <a:xfrm>
            <a:off x="411480" y="6492240"/>
            <a:ext cx="7772400" cy="274320"/>
          </a:xfrm>
          <a:prstGeom prst="rect">
            <a:avLst/>
          </a:prstGeom>
        </p:spPr>
        <p:txBody>
          <a:bodyPr wrap="none" rtlCol="0" anchor="ctr"/>
          <a:lstStyle/>
          <a:p>
            <a:pPr algn="l"/>
            <a:r>
              <a:rPr lang="zh-CN" sz="1000">
                <a:solidFill>
                  <a:srgbClr val="8A99AD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Optic-SpaceNet · 光学 CNN 在轨加速系统</a:t>
            </a:r>
          </a:p>
        </p:txBody>
      </p:sp>
      <p:sp>
        <p:nvSpPr>
          <p:cNvPr id="113" name="FooterR"/>
          <p:cNvSpPr>
            <a:spLocks noGrp="1"/>
          </p:cNvSpPr>
          <p:nvPr/>
        </p:nvSpPr>
        <p:spPr>
          <a:xfrm>
            <a:off x="10058400" y="6492240"/>
            <a:ext cx="1737360" cy="274320"/>
          </a:xfrm>
          <a:prstGeom prst="rect">
            <a:avLst/>
          </a:prstGeom>
        </p:spPr>
        <p:txBody>
          <a:bodyPr wrap="none" rtlCol="0" anchor="ctr"/>
          <a:lstStyle/>
          <a:p>
            <a:pPr algn="r"/>
            <a:r>
              <a:rPr lang="zh-CN" sz="1000" dirty="0">
                <a:solidFill>
                  <a:srgbClr val="8A99AD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0</a:t>
            </a:r>
            <a:r>
              <a:rPr lang="en-US" altLang="zh-CN" sz="1000" dirty="0">
                <a:solidFill>
                  <a:srgbClr val="8A99AD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7</a:t>
            </a:r>
            <a:r>
              <a:rPr lang="zh-CN" sz="1000" dirty="0">
                <a:solidFill>
                  <a:srgbClr val="8A99AD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/ 1</a:t>
            </a:r>
            <a:r>
              <a:rPr lang="en-US" altLang="zh-CN" sz="1000" dirty="0">
                <a:solidFill>
                  <a:srgbClr val="8A99AD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7</a:t>
            </a:r>
            <a:endParaRPr lang="zh-CN" sz="1000" dirty="0">
              <a:solidFill>
                <a:srgbClr val="8A99AD"/>
              </a:solidFill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0810"/>
            <a:ext cx="558829" cy="1181161"/>
          </a:xfrm>
          <a:prstGeom prst="rect">
            <a:avLst/>
          </a:prstGeom>
        </p:spPr>
      </p:pic>
      <p:pic>
        <p:nvPicPr>
          <p:cNvPr id="10" name="图片 9" descr="集创赛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2635" y="-235470"/>
            <a:ext cx="1486038" cy="92877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43392" y="0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006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七</a:t>
            </a:r>
            <a:r>
              <a:rPr lang="zh-CN" altLang="zh-CN" sz="3200" b="1" dirty="0">
                <a:solidFill>
                  <a:srgbClr val="006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阶段量化演进</a:t>
            </a:r>
          </a:p>
        </p:txBody>
      </p:sp>
      <p:graphicFrame>
        <p:nvGraphicFramePr>
          <p:cNvPr id="121" name="表格 1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0256304"/>
              </p:ext>
            </p:extLst>
          </p:nvPr>
        </p:nvGraphicFramePr>
        <p:xfrm>
          <a:off x="260710" y="619051"/>
          <a:ext cx="11687971" cy="57289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42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67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87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3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75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671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18516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 panose="020B0604020202090204"/>
                        </a:defRPr>
                      </a:pPr>
                      <a:r>
                        <a:rPr sz="1800" b="0" dirty="0" err="1">
                          <a:latin typeface="Times New Roman" panose="02020503050405090304" charset="0"/>
                          <a:ea typeface="黑体" panose="02010609060101010101" pitchFamily="49" charset="-122"/>
                        </a:rPr>
                        <a:t>阶段</a:t>
                      </a:r>
                    </a:p>
                  </a:txBody>
                  <a:tcPr>
                    <a:solidFill>
                      <a:srgbClr val="2835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 panose="020B0604020202090204"/>
                        </a:defRPr>
                      </a:pPr>
                      <a:r>
                        <a:rPr lang="zh-CN" altLang="en-US" sz="1800" b="0" dirty="0">
                          <a:latin typeface="Times New Roman" panose="02020503050405090304" charset="0"/>
                          <a:ea typeface="黑体" panose="02010609060101010101" pitchFamily="49" charset="-122"/>
                        </a:rPr>
                        <a:t>内容</a:t>
                      </a:r>
                    </a:p>
                  </a:txBody>
                  <a:tcPr>
                    <a:solidFill>
                      <a:srgbClr val="2835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 panose="020B0604020202090204"/>
                        </a:defRPr>
                      </a:pPr>
                      <a:r>
                        <a:rPr sz="1800" b="0" dirty="0" err="1">
                          <a:latin typeface="Times New Roman" panose="02020503050405090304" charset="0"/>
                          <a:ea typeface="黑体" panose="02010609060101010101" pitchFamily="49" charset="-122"/>
                        </a:rPr>
                        <a:t>核心技术要素</a:t>
                      </a:r>
                    </a:p>
                  </a:txBody>
                  <a:tcPr>
                    <a:solidFill>
                      <a:srgbClr val="2835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 panose="020B0604020202090204"/>
                        </a:defRPr>
                      </a:pPr>
                      <a:r>
                        <a:rPr sz="1800" b="0" dirty="0">
                          <a:latin typeface="Times New Roman" panose="02020503050405090304" charset="0"/>
                          <a:ea typeface="黑体" panose="02010609060101010101" pitchFamily="49" charset="-122"/>
                          <a:cs typeface="Times New Roman" panose="02020503050405090304" charset="0"/>
                        </a:rPr>
                        <a:t>M1 (VGG)</a:t>
                      </a:r>
                    </a:p>
                  </a:txBody>
                  <a:tcPr>
                    <a:solidFill>
                      <a:srgbClr val="2835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 panose="020B0604020202090204"/>
                        </a:defRPr>
                      </a:pPr>
                      <a:r>
                        <a:rPr sz="1800" b="0" dirty="0">
                          <a:latin typeface="Times New Roman" panose="02020503050405090304" charset="0"/>
                          <a:ea typeface="黑体" panose="02010609060101010101" pitchFamily="49" charset="-122"/>
                          <a:cs typeface="Times New Roman" panose="02020503050405090304" charset="0"/>
                        </a:rPr>
                        <a:t>M2 (SN V1)</a:t>
                      </a:r>
                    </a:p>
                  </a:txBody>
                  <a:tcPr>
                    <a:solidFill>
                      <a:srgbClr val="2835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 panose="020B0604020202090204"/>
                        </a:defRPr>
                      </a:pPr>
                      <a:r>
                        <a:rPr sz="1800" b="0" dirty="0">
                          <a:latin typeface="Times New Roman" panose="02020503050405090304" charset="0"/>
                          <a:ea typeface="黑体" panose="02010609060101010101" pitchFamily="49" charset="-122"/>
                          <a:cs typeface="Times New Roman" panose="02020503050405090304" charset="0"/>
                        </a:rPr>
                        <a:t>M3 (SN V2+KD)</a:t>
                      </a:r>
                    </a:p>
                  </a:txBody>
                  <a:tcPr>
                    <a:solidFill>
                      <a:srgbClr val="2835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8516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83593"/>
                          </a:solidFill>
                          <a:latin typeface="Arial" panose="020B0604020202090204"/>
                        </a:defRPr>
                      </a:pPr>
                      <a:r>
                        <a:rPr sz="1800" b="0" dirty="0">
                          <a:latin typeface="Times New Roman" panose="02020503050405090304" charset="0"/>
                          <a:ea typeface="黑体" panose="02010609060101010101" pitchFamily="49" charset="-122"/>
                          <a:cs typeface="Times New Roman" panose="02020503050405090304" charset="0"/>
                        </a:rPr>
                        <a:t>① FP32 </a:t>
                      </a:r>
                      <a:r>
                        <a:rPr sz="1800" b="0" dirty="0" err="1">
                          <a:latin typeface="Times New Roman" panose="02020503050405090304" charset="0"/>
                          <a:ea typeface="黑体" panose="02010609060101010101" pitchFamily="49" charset="-122"/>
                          <a:cs typeface="Times New Roman" panose="02020503050405090304" charset="0"/>
                        </a:rPr>
                        <a:t>基准</a:t>
                      </a:r>
                      <a:endParaRPr sz="1800" b="0" dirty="0">
                        <a:latin typeface="Times New Roman" panose="02020503050405090304" charset="0"/>
                        <a:ea typeface="黑体" panose="02010609060101010101" pitchFamily="49" charset="-122"/>
                        <a:cs typeface="Times New Roman" panose="02020503050405090304" charset="0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  <a:latin typeface="Arial" panose="020B0604020202090204"/>
                        </a:defRPr>
                      </a:pPr>
                      <a:r>
                        <a:rPr sz="1800" b="0" dirty="0" err="1">
                          <a:latin typeface="Times New Roman" panose="02020503050405090304" charset="0"/>
                          <a:ea typeface="黑体" panose="02010609060101010101" pitchFamily="49" charset="-122"/>
                        </a:rPr>
                        <a:t>标准全精度训练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  <a:latin typeface="Arial" panose="020B0604020202090204"/>
                        </a:defRPr>
                      </a:pPr>
                      <a:r>
                        <a:rPr sz="1800" b="0" dirty="0" err="1">
                          <a:latin typeface="Times New Roman" panose="02020503050405090304" charset="0"/>
                          <a:ea typeface="黑体" panose="02010609060101010101" pitchFamily="49" charset="-122"/>
                          <a:cs typeface="Times New Roman" panose="02020503050405090304" charset="0"/>
                        </a:rPr>
                        <a:t>标准CNN训练</a:t>
                      </a:r>
                      <a:r>
                        <a:rPr sz="1800" b="0" dirty="0">
                          <a:latin typeface="Times New Roman" panose="02020503050405090304" charset="0"/>
                          <a:ea typeface="黑体" panose="02010609060101010101" pitchFamily="49" charset="-122"/>
                          <a:cs typeface="Times New Roman" panose="02020503050405090304" charset="0"/>
                        </a:rPr>
                        <a:t>, </a:t>
                      </a:r>
                      <a:r>
                        <a:rPr sz="1800" b="0" dirty="0" err="1">
                          <a:latin typeface="Times New Roman" panose="02020503050405090304" charset="0"/>
                          <a:ea typeface="黑体" panose="02010609060101010101" pitchFamily="49" charset="-122"/>
                          <a:cs typeface="Times New Roman" panose="02020503050405090304" charset="0"/>
                        </a:rPr>
                        <a:t>无量化</a:t>
                      </a:r>
                      <a:r>
                        <a:rPr lang="zh-CN" altLang="en-US" sz="1800" b="0" dirty="0">
                          <a:latin typeface="Times New Roman" panose="02020503050405090304" charset="0"/>
                          <a:ea typeface="黑体" panose="02010609060101010101" pitchFamily="49" charset="-122"/>
                          <a:cs typeface="Times New Roman" panose="02020503050405090304" charset="0"/>
                        </a:rPr>
                        <a:t>，</a:t>
                      </a:r>
                      <a:r>
                        <a:rPr lang="pt-BR" altLang="zh-CN" sz="1800" b="0" dirty="0">
                          <a:latin typeface="Times New Roman" panose="02020503050405090304" charset="0"/>
                          <a:ea typeface="黑体" panose="02010609060101010101" pitchFamily="49" charset="-122"/>
                          <a:cs typeface="Times New Roman" panose="02020503050405090304" charset="0"/>
                        </a:rPr>
                        <a:t>M1 bias=True; M2/M3 Conv bias=False</a:t>
                      </a:r>
                      <a:endParaRPr sz="1800" b="0" dirty="0">
                        <a:latin typeface="Times New Roman" panose="02020503050405090304" charset="0"/>
                        <a:ea typeface="黑体" panose="02010609060101010101" pitchFamily="49" charset="-122"/>
                        <a:cs typeface="Times New Roman" panose="02020503050405090304" charset="0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12121"/>
                          </a:solidFill>
                          <a:latin typeface="Arial" panose="020B0604020202090204"/>
                        </a:defRPr>
                      </a:pPr>
                      <a:r>
                        <a:rPr sz="1800" b="0" dirty="0">
                          <a:latin typeface="Times New Roman" panose="02020503050405090304" charset="0"/>
                          <a:ea typeface="黑体" panose="02010609060101010101" pitchFamily="49" charset="-122"/>
                          <a:cs typeface="Times New Roman" panose="02020503050405090304" charset="0"/>
                        </a:rPr>
                        <a:t>97.17%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12121"/>
                          </a:solidFill>
                          <a:latin typeface="Arial" panose="020B0604020202090204"/>
                        </a:defRPr>
                      </a:pPr>
                      <a:r>
                        <a:rPr sz="1800" b="0" dirty="0">
                          <a:latin typeface="Times New Roman" panose="02020503050405090304" charset="0"/>
                          <a:ea typeface="黑体" panose="02010609060101010101" pitchFamily="49" charset="-122"/>
                          <a:cs typeface="Times New Roman" panose="02020503050405090304" charset="0"/>
                        </a:rPr>
                        <a:t>90.15%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12121"/>
                          </a:solidFill>
                          <a:latin typeface="Arial" panose="020B0604020202090204"/>
                        </a:defRPr>
                      </a:pPr>
                      <a:r>
                        <a:rPr sz="1800" b="0" dirty="0">
                          <a:latin typeface="Times New Roman" panose="02020503050405090304" charset="0"/>
                          <a:ea typeface="黑体" panose="02010609060101010101" pitchFamily="49" charset="-122"/>
                          <a:cs typeface="Times New Roman" panose="02020503050405090304" charset="0"/>
                        </a:rPr>
                        <a:t>91.44%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8516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83593"/>
                          </a:solidFill>
                          <a:latin typeface="Arial" panose="020B0604020202090204"/>
                        </a:defRPr>
                      </a:pPr>
                      <a:r>
                        <a:rPr sz="1800" b="0" dirty="0">
                          <a:latin typeface="Times New Roman" panose="02020503050405090304" charset="0"/>
                          <a:ea typeface="黑体" panose="02010609060101010101" pitchFamily="49" charset="-122"/>
                          <a:cs typeface="Times New Roman" panose="02020503050405090304" charset="0"/>
                        </a:rPr>
                        <a:t>② QAT </a:t>
                      </a:r>
                      <a:r>
                        <a:rPr sz="1800" b="0" dirty="0" err="1">
                          <a:latin typeface="Times New Roman" panose="02020503050405090304" charset="0"/>
                          <a:ea typeface="黑体" panose="02010609060101010101" pitchFamily="49" charset="-122"/>
                          <a:cs typeface="Times New Roman" panose="02020503050405090304" charset="0"/>
                        </a:rPr>
                        <a:t>微调</a:t>
                      </a:r>
                      <a:endParaRPr sz="1800" b="0" dirty="0">
                        <a:latin typeface="Times New Roman" panose="02020503050405090304" charset="0"/>
                        <a:ea typeface="黑体" panose="02010609060101010101" pitchFamily="49" charset="-122"/>
                        <a:cs typeface="Times New Roman" panose="02020503050405090304" charset="0"/>
                      </a:endParaRP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  <a:latin typeface="Arial" panose="020B0604020202090204"/>
                        </a:defRPr>
                      </a:pPr>
                      <a:r>
                        <a:rPr sz="1800" b="0" dirty="0">
                          <a:latin typeface="Times New Roman" panose="02020503050405090304" charset="0"/>
                          <a:ea typeface="黑体" panose="02010609060101010101" pitchFamily="49" charset="-122"/>
                          <a:cs typeface="Times New Roman" panose="02020503050405090304" charset="0"/>
                        </a:rPr>
                        <a:t>FP32→int4</a:t>
                      </a:r>
                      <a:r>
                        <a:rPr lang="zh-CN" sz="1800" b="0" dirty="0">
                          <a:latin typeface="Times New Roman" panose="02020503050405090304" charset="0"/>
                          <a:ea typeface="黑体" panose="02010609060101010101" pitchFamily="49" charset="-122"/>
                          <a:cs typeface="Times New Roman" panose="02020503050405090304" charset="0"/>
                        </a:rPr>
                        <a:t>，</a:t>
                      </a:r>
                    </a:p>
                    <a:p>
                      <a:pPr algn="l">
                        <a:defRPr sz="1100">
                          <a:solidFill>
                            <a:srgbClr val="212121"/>
                          </a:solidFill>
                          <a:latin typeface="Arial" panose="020B0604020202090204"/>
                        </a:defRPr>
                      </a:pPr>
                      <a:r>
                        <a:rPr lang="en-US" altLang="zh-CN" sz="1800" b="0" dirty="0">
                          <a:latin typeface="Times New Roman" panose="02020503050405090304" charset="0"/>
                          <a:ea typeface="黑体" panose="02010609060101010101" pitchFamily="49" charset="-122"/>
                          <a:cs typeface="Times New Roman" panose="02020503050405090304" charset="0"/>
                        </a:rPr>
                        <a:t>STE </a:t>
                      </a:r>
                      <a:r>
                        <a:rPr sz="1800" b="0" dirty="0" err="1">
                          <a:latin typeface="Times New Roman" panose="02020503050405090304" charset="0"/>
                          <a:ea typeface="黑体" panose="02010609060101010101" pitchFamily="49" charset="-122"/>
                          <a:cs typeface="Times New Roman" panose="02020503050405090304" charset="0"/>
                        </a:rPr>
                        <a:t>微调</a:t>
                      </a:r>
                      <a:endParaRPr sz="1800" b="0" dirty="0">
                        <a:latin typeface="Times New Roman" panose="02020503050405090304" charset="0"/>
                        <a:ea typeface="黑体" panose="02010609060101010101" pitchFamily="49" charset="-122"/>
                        <a:cs typeface="Times New Roman" panose="02020503050405090304" charset="0"/>
                      </a:endParaRP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  <a:latin typeface="Arial" panose="020B0604020202090204"/>
                        </a:defRPr>
                      </a:pPr>
                      <a:r>
                        <a:rPr sz="1800" b="0" dirty="0">
                          <a:latin typeface="Times New Roman" panose="02020503050405090304" charset="0"/>
                          <a:ea typeface="黑体" panose="02010609060101010101" pitchFamily="49" charset="-122"/>
                          <a:cs typeface="Times New Roman" panose="02020503050405090304" charset="0"/>
                        </a:rPr>
                        <a:t>BN融合→QAT层替换→低lr微调15-20 epoch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12121"/>
                          </a:solidFill>
                          <a:latin typeface="Arial" panose="020B0604020202090204"/>
                        </a:defRPr>
                      </a:pPr>
                      <a:r>
                        <a:rPr sz="1800" b="0" dirty="0">
                          <a:latin typeface="Times New Roman" panose="02020503050405090304" charset="0"/>
                          <a:ea typeface="黑体" panose="02010609060101010101" pitchFamily="49" charset="-122"/>
                          <a:cs typeface="Times New Roman" panose="02020503050405090304" charset="0"/>
                        </a:rPr>
                        <a:t>85.91%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12121"/>
                          </a:solidFill>
                          <a:latin typeface="Arial" panose="020B0604020202090204"/>
                        </a:defRPr>
                      </a:pPr>
                      <a:r>
                        <a:rPr sz="1800" b="0">
                          <a:latin typeface="Times New Roman" panose="02020503050405090304" charset="0"/>
                          <a:ea typeface="黑体" panose="02010609060101010101" pitchFamily="49" charset="-122"/>
                          <a:cs typeface="Times New Roman" panose="02020503050405090304" charset="0"/>
                        </a:rPr>
                        <a:t>73.63%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12121"/>
                          </a:solidFill>
                          <a:latin typeface="Arial" panose="020B0604020202090204"/>
                        </a:defRPr>
                      </a:pPr>
                      <a:r>
                        <a:rPr sz="1800" b="0" dirty="0">
                          <a:latin typeface="Times New Roman" panose="02020503050405090304" charset="0"/>
                          <a:ea typeface="黑体" panose="02010609060101010101" pitchFamily="49" charset="-122"/>
                          <a:cs typeface="Times New Roman" panose="02020503050405090304" charset="0"/>
                        </a:rPr>
                        <a:t>73.22%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8516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83593"/>
                          </a:solidFill>
                          <a:latin typeface="Arial" panose="020B0604020202090204"/>
                        </a:defRPr>
                      </a:pPr>
                      <a:r>
                        <a:rPr sz="1800" b="0" dirty="0">
                          <a:latin typeface="Times New Roman" panose="02020503050405090304" charset="0"/>
                          <a:ea typeface="黑体" panose="02010609060101010101" pitchFamily="49" charset="-122"/>
                          <a:cs typeface="Times New Roman" panose="02020503050405090304" charset="0"/>
                        </a:rPr>
                        <a:t>③ QAT</a:t>
                      </a:r>
                      <a:r>
                        <a:rPr lang="en-US" sz="1800" b="0" dirty="0">
                          <a:latin typeface="Times New Roman" panose="02020503050405090304" charset="0"/>
                          <a:ea typeface="黑体" panose="02010609060101010101" pitchFamily="49" charset="-122"/>
                          <a:cs typeface="Times New Roman" panose="02020503050405090304" charset="0"/>
                        </a:rPr>
                        <a:t> </a:t>
                      </a:r>
                      <a:r>
                        <a:rPr lang="zh-CN" altLang="en-US" sz="1800" b="0" dirty="0">
                          <a:latin typeface="Times New Roman" panose="02020503050405090304" charset="0"/>
                          <a:ea typeface="黑体" panose="02010609060101010101" pitchFamily="49" charset="-122"/>
                          <a:cs typeface="Times New Roman" panose="02020503050405090304" charset="0"/>
                        </a:rPr>
                        <a:t>预训练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  <a:latin typeface="Arial" panose="020B0604020202090204"/>
                        </a:defRPr>
                      </a:pPr>
                      <a:r>
                        <a:rPr sz="1800" b="0" dirty="0" err="1">
                          <a:latin typeface="Times New Roman" panose="02020503050405090304" charset="0"/>
                          <a:ea typeface="黑体" panose="02010609060101010101" pitchFamily="49" charset="-122"/>
                          <a:cs typeface="Times New Roman" panose="02020503050405090304" charset="0"/>
                        </a:rPr>
                        <a:t>从头学习</a:t>
                      </a:r>
                      <a:r>
                        <a:rPr sz="1800" b="0" dirty="0">
                          <a:latin typeface="Times New Roman" panose="02020503050405090304" charset="0"/>
                          <a:ea typeface="黑体" panose="02010609060101010101" pitchFamily="49" charset="-122"/>
                          <a:cs typeface="Times New Roman" panose="02020503050405090304" charset="0"/>
                        </a:rPr>
                        <a:t> int4 </a:t>
                      </a:r>
                      <a:r>
                        <a:rPr sz="1800" b="0" dirty="0" err="1">
                          <a:latin typeface="Times New Roman" panose="02020503050405090304" charset="0"/>
                          <a:ea typeface="黑体" panose="02010609060101010101" pitchFamily="49" charset="-122"/>
                          <a:cs typeface="Times New Roman" panose="02020503050405090304" charset="0"/>
                        </a:rPr>
                        <a:t>特征</a:t>
                      </a:r>
                      <a:endParaRPr sz="1800" b="0" dirty="0">
                        <a:latin typeface="Times New Roman" panose="02020503050405090304" charset="0"/>
                        <a:ea typeface="黑体" panose="02010609060101010101" pitchFamily="49" charset="-122"/>
                        <a:cs typeface="Times New Roman" panose="02020503050405090304" charset="0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  <a:latin typeface="Arial" panose="020B0604020202090204"/>
                        </a:defRPr>
                      </a:pPr>
                      <a:r>
                        <a:rPr sz="1800" b="0" dirty="0" err="1">
                          <a:latin typeface="Times New Roman" panose="02020503050405090304" charset="0"/>
                          <a:ea typeface="黑体" panose="02010609060101010101" pitchFamily="49" charset="-122"/>
                          <a:cs typeface="Times New Roman" panose="02020503050405090304" charset="0"/>
                        </a:rPr>
                        <a:t>随机初始化</a:t>
                      </a:r>
                      <a:r>
                        <a:rPr sz="1800" b="0" dirty="0">
                          <a:latin typeface="Times New Roman" panose="02020503050405090304" charset="0"/>
                          <a:ea typeface="黑体" panose="02010609060101010101" pitchFamily="49" charset="-122"/>
                          <a:cs typeface="Times New Roman" panose="02020503050405090304" charset="0"/>
                        </a:rPr>
                        <a:t>, epoch-1起全int4伪量化, STE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12121"/>
                          </a:solidFill>
                          <a:latin typeface="Arial" panose="020B0604020202090204"/>
                        </a:defRPr>
                      </a:pPr>
                      <a:r>
                        <a:rPr sz="1800" b="0" dirty="0">
                          <a:latin typeface="Times New Roman" panose="02020503050405090304" charset="0"/>
                          <a:ea typeface="黑体" panose="02010609060101010101" pitchFamily="49" charset="-122"/>
                          <a:cs typeface="Times New Roman" panose="02020503050405090304" charset="0"/>
                        </a:rPr>
                        <a:t>91.17%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12121"/>
                          </a:solidFill>
                          <a:latin typeface="Arial" panose="020B0604020202090204"/>
                        </a:defRPr>
                      </a:pPr>
                      <a:r>
                        <a:rPr sz="1800" b="0" dirty="0">
                          <a:latin typeface="Times New Roman" panose="02020503050405090304" charset="0"/>
                          <a:ea typeface="黑体" panose="02010609060101010101" pitchFamily="49" charset="-122"/>
                          <a:cs typeface="Times New Roman" panose="02020503050405090304" charset="0"/>
                        </a:rPr>
                        <a:t>81.20%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12121"/>
                          </a:solidFill>
                          <a:latin typeface="Arial" panose="020B0604020202090204"/>
                        </a:defRPr>
                      </a:pPr>
                      <a:r>
                        <a:rPr sz="1800" b="0" dirty="0">
                          <a:latin typeface="Times New Roman" panose="02020503050405090304" charset="0"/>
                          <a:ea typeface="黑体" panose="02010609060101010101" pitchFamily="49" charset="-122"/>
                          <a:cs typeface="Times New Roman" panose="02020503050405090304" charset="0"/>
                        </a:rPr>
                        <a:t>83.26%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9731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83593"/>
                          </a:solidFill>
                          <a:latin typeface="Arial" panose="020B0604020202090204"/>
                        </a:defRPr>
                      </a:pPr>
                      <a:r>
                        <a:rPr sz="1800" b="0" dirty="0">
                          <a:latin typeface="Times New Roman" panose="02020503050405090304" charset="0"/>
                          <a:ea typeface="黑体" panose="02010609060101010101" pitchFamily="49" charset="-122"/>
                          <a:cs typeface="Times New Roman" panose="02020503050405090304" charset="0"/>
                        </a:rPr>
                        <a:t>④ </a:t>
                      </a:r>
                      <a:r>
                        <a:rPr sz="1800" b="0" dirty="0" err="1">
                          <a:latin typeface="Times New Roman" panose="02020503050405090304" charset="0"/>
                          <a:ea typeface="黑体" panose="02010609060101010101" pitchFamily="49" charset="-122"/>
                          <a:cs typeface="Times New Roman" panose="02020503050405090304" charset="0"/>
                        </a:rPr>
                        <a:t>非对称量化</a:t>
                      </a:r>
                      <a:r>
                        <a:rPr lang="en-US" sz="1800" b="0" dirty="0">
                          <a:latin typeface="Times New Roman" panose="02020503050405090304" charset="0"/>
                          <a:ea typeface="黑体" panose="02010609060101010101" pitchFamily="49" charset="-122"/>
                          <a:cs typeface="Times New Roman" panose="02020503050405090304" charset="0"/>
                        </a:rPr>
                        <a:t>       </a:t>
                      </a:r>
                      <a:r>
                        <a:rPr sz="1800" b="0" dirty="0">
                          <a:latin typeface="Times New Roman" panose="02020503050405090304" charset="0"/>
                          <a:ea typeface="黑体" panose="02010609060101010101" pitchFamily="49" charset="-122"/>
                          <a:cs typeface="Times New Roman" panose="02020503050405090304" charset="0"/>
                        </a:rPr>
                        <a:t>+</a:t>
                      </a:r>
                      <a:r>
                        <a:rPr sz="1800" b="0" dirty="0" err="1">
                          <a:latin typeface="Times New Roman" panose="02020503050405090304" charset="0"/>
                          <a:ea typeface="黑体" panose="02010609060101010101" pitchFamily="49" charset="-122"/>
                          <a:cs typeface="Times New Roman" panose="02020503050405090304" charset="0"/>
                        </a:rPr>
                        <a:t>噪声</a:t>
                      </a:r>
                      <a:endParaRPr sz="1800" b="0" dirty="0">
                        <a:latin typeface="Times New Roman" panose="02020503050405090304" charset="0"/>
                        <a:ea typeface="黑体" panose="02010609060101010101" pitchFamily="49" charset="-122"/>
                        <a:cs typeface="Times New Roman" panose="02020503050405090304" charset="0"/>
                      </a:endParaRP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  <a:latin typeface="Arial" panose="020B0604020202090204"/>
                        </a:defRPr>
                      </a:pPr>
                      <a:r>
                        <a:rPr sz="1800" b="0" dirty="0" err="1">
                          <a:latin typeface="Times New Roman" panose="02020503050405090304" charset="0"/>
                          <a:ea typeface="黑体" panose="02010609060101010101" pitchFamily="49" charset="-122"/>
                          <a:cs typeface="Times New Roman" panose="02020503050405090304" charset="0"/>
                        </a:rPr>
                        <a:t>非对称量化</a:t>
                      </a:r>
                      <a:r>
                        <a:rPr sz="1800" b="0" dirty="0">
                          <a:latin typeface="Times New Roman" panose="02020503050405090304" charset="0"/>
                          <a:ea typeface="黑体" panose="02010609060101010101" pitchFamily="49" charset="-122"/>
                          <a:cs typeface="Times New Roman" panose="02020503050405090304" charset="0"/>
                        </a:rPr>
                        <a:t> + </a:t>
                      </a:r>
                      <a:r>
                        <a:rPr sz="1800" b="0" dirty="0" err="1">
                          <a:latin typeface="Times New Roman" panose="02020503050405090304" charset="0"/>
                          <a:ea typeface="黑体" panose="02010609060101010101" pitchFamily="49" charset="-122"/>
                          <a:cs typeface="Times New Roman" panose="02020503050405090304" charset="0"/>
                        </a:rPr>
                        <a:t>噪声正则化</a:t>
                      </a:r>
                      <a:endParaRPr sz="1800" b="0" dirty="0">
                        <a:latin typeface="Times New Roman" panose="02020503050405090304" charset="0"/>
                        <a:ea typeface="黑体" panose="02010609060101010101" pitchFamily="49" charset="-122"/>
                        <a:cs typeface="Times New Roman" panose="02020503050405090304" charset="0"/>
                      </a:endParaRP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  <a:latin typeface="Arial" panose="020B0604020202090204"/>
                        </a:defRPr>
                      </a:pPr>
                      <a:r>
                        <a:rPr sz="1800" b="0" dirty="0">
                          <a:latin typeface="Times New Roman" panose="02020503050405090304" charset="0"/>
                          <a:ea typeface="黑体" panose="02010609060101010101" pitchFamily="49" charset="-122"/>
                          <a:cs typeface="Times New Roman" panose="02020503050405090304" charset="0"/>
                        </a:rPr>
                        <a:t>uint</a:t>
                      </a:r>
                      <a:r>
                        <a:rPr lang="en-US" sz="1800" b="0" dirty="0">
                          <a:latin typeface="Times New Roman" panose="02020503050405090304" charset="0"/>
                          <a:ea typeface="黑体" panose="02010609060101010101" pitchFamily="49" charset="-122"/>
                          <a:cs typeface="Times New Roman" panose="02020503050405090304" charset="0"/>
                        </a:rPr>
                        <a:t>8</a:t>
                      </a:r>
                      <a:r>
                        <a:rPr sz="1800" b="0" dirty="0">
                          <a:latin typeface="Times New Roman" panose="02020503050405090304" charset="0"/>
                          <a:ea typeface="黑体" panose="02010609060101010101" pitchFamily="49" charset="-122"/>
                          <a:cs typeface="Times New Roman" panose="02020503050405090304" charset="0"/>
                        </a:rPr>
                        <a:t>激活/int4权重, </a:t>
                      </a:r>
                      <a:r>
                        <a:rPr sz="1800" b="0" dirty="0" err="1">
                          <a:latin typeface="Times New Roman" panose="02020503050405090304" charset="0"/>
                          <a:ea typeface="黑体" panose="02010609060101010101" pitchFamily="49" charset="-122"/>
                          <a:cs typeface="Times New Roman" panose="02020503050405090304" charset="0"/>
                        </a:rPr>
                        <a:t>Gaussian噪声</a:t>
                      </a:r>
                      <a:r>
                        <a:rPr sz="1800" b="0" dirty="0">
                          <a:latin typeface="Times New Roman" panose="02020503050405090304" charset="0"/>
                          <a:ea typeface="黑体" panose="02010609060101010101" pitchFamily="49" charset="-122"/>
                          <a:cs typeface="Times New Roman" panose="02020503050405090304" charset="0"/>
                        </a:rPr>
                        <a:t>, bias=False, </a:t>
                      </a:r>
                      <a:r>
                        <a:rPr sz="1800" b="0" dirty="0" err="1">
                          <a:latin typeface="Times New Roman" panose="02020503050405090304" charset="0"/>
                          <a:ea typeface="黑体" panose="02010609060101010101" pitchFamily="49" charset="-122"/>
                          <a:cs typeface="Times New Roman" panose="02020503050405090304" charset="0"/>
                        </a:rPr>
                        <a:t>BN</a:t>
                      </a:r>
                      <a:r>
                        <a:rPr sz="1800" b="0" kern="1200" dirty="0" err="1">
                          <a:solidFill>
                            <a:srgbClr val="212121"/>
                          </a:solidFill>
                          <a:latin typeface="Times New Roman" panose="02020503050405090304" charset="0"/>
                          <a:ea typeface="黑体" panose="02010609060101010101" pitchFamily="49" charset="-122"/>
                          <a:cs typeface="Times New Roman" panose="02020503050405090304" charset="0"/>
                        </a:rPr>
                        <a:t>保留</a:t>
                      </a:r>
                      <a:endParaRPr sz="1800" b="0" kern="1200" dirty="0">
                        <a:solidFill>
                          <a:srgbClr val="212121"/>
                        </a:solidFill>
                        <a:latin typeface="Times New Roman" panose="02020503050405090304" charset="0"/>
                        <a:ea typeface="黑体" panose="02010609060101010101" pitchFamily="49" charset="-122"/>
                        <a:cs typeface="Times New Roman" panose="02020503050405090304" charset="0"/>
                      </a:endParaRP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12121"/>
                          </a:solidFill>
                          <a:latin typeface="Arial" panose="020B0604020202090204"/>
                        </a:defRPr>
                      </a:pPr>
                      <a:r>
                        <a:rPr sz="1800" b="0" dirty="0">
                          <a:latin typeface="Times New Roman" panose="02020503050405090304" charset="0"/>
                          <a:ea typeface="黑体" panose="02010609060101010101" pitchFamily="49" charset="-122"/>
                          <a:cs typeface="Times New Roman" panose="02020503050405090304" charset="0"/>
                        </a:rPr>
                        <a:t>96.46%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83593"/>
                          </a:solidFill>
                          <a:latin typeface="Arial" panose="020B0604020202090204"/>
                        </a:defRPr>
                      </a:pPr>
                      <a:r>
                        <a:rPr sz="1800" b="0" dirty="0">
                          <a:solidFill>
                            <a:schemeClr val="tx1"/>
                          </a:solidFill>
                          <a:latin typeface="Times New Roman" panose="02020503050405090304" charset="0"/>
                          <a:ea typeface="黑体" panose="02010609060101010101" pitchFamily="49" charset="-122"/>
                          <a:cs typeface="Times New Roman" panose="02020503050405090304" charset="0"/>
                        </a:rPr>
                        <a:t>91.06% </a:t>
                      </a:r>
                      <a:r>
                        <a:rPr lang="en-US" sz="1800" b="0" baseline="30000" dirty="0">
                          <a:solidFill>
                            <a:schemeClr val="tx1"/>
                          </a:solidFill>
                          <a:latin typeface="Times New Roman" panose="02020503050405090304" charset="0"/>
                          <a:ea typeface="黑体" panose="02010609060101010101" pitchFamily="49" charset="-122"/>
                          <a:cs typeface="Times New Roman" panose="02020503050405090304" charset="0"/>
                        </a:rPr>
                        <a:t>*</a:t>
                      </a:r>
                      <a:endParaRPr sz="1800" b="0" baseline="30000" dirty="0">
                        <a:solidFill>
                          <a:schemeClr val="tx1"/>
                        </a:solidFill>
                        <a:latin typeface="Times New Roman" panose="02020503050405090304" charset="0"/>
                        <a:ea typeface="黑体" panose="02010609060101010101" pitchFamily="49" charset="-122"/>
                        <a:cs typeface="Times New Roman" panose="02020503050405090304" charset="0"/>
                      </a:endParaRP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12121"/>
                          </a:solidFill>
                          <a:latin typeface="Arial" panose="020B0604020202090204"/>
                        </a:defRPr>
                      </a:pPr>
                      <a:r>
                        <a:rPr sz="1800" b="0" dirty="0">
                          <a:latin typeface="Times New Roman" panose="02020503050405090304" charset="0"/>
                          <a:ea typeface="黑体" panose="02010609060101010101" pitchFamily="49" charset="-122"/>
                          <a:cs typeface="Times New Roman" panose="02020503050405090304" charset="0"/>
                        </a:rPr>
                        <a:t>91.50%</a:t>
                      </a:r>
                      <a:r>
                        <a:rPr lang="en-US" sz="1800" b="0" dirty="0">
                          <a:latin typeface="Times New Roman" panose="02020503050405090304" charset="0"/>
                          <a:ea typeface="黑体" panose="02010609060101010101" pitchFamily="49" charset="-122"/>
                          <a:cs typeface="Times New Roman" panose="02020503050405090304" charset="0"/>
                        </a:rPr>
                        <a:t> </a:t>
                      </a:r>
                      <a:r>
                        <a:rPr lang="en-US" sz="1800" b="0" baseline="30000" dirty="0">
                          <a:latin typeface="Times New Roman" panose="02020503050405090304" charset="0"/>
                          <a:ea typeface="黑体" panose="02010609060101010101" pitchFamily="49" charset="-122"/>
                          <a:cs typeface="Times New Roman" panose="02020503050405090304" charset="0"/>
                        </a:rPr>
                        <a:t>*</a:t>
                      </a:r>
                      <a:endParaRPr sz="1800" b="0" baseline="30000" dirty="0">
                        <a:latin typeface="Times New Roman" panose="02020503050405090304" charset="0"/>
                        <a:ea typeface="黑体" panose="02010609060101010101" pitchFamily="49" charset="-122"/>
                        <a:cs typeface="Times New Roman" panose="02020503050405090304" charset="0"/>
                      </a:endParaRPr>
                    </a:p>
                  </a:txBody>
                  <a:tcPr>
                    <a:solidFill>
                      <a:srgbClr val="ED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8516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83593"/>
                          </a:solidFill>
                          <a:latin typeface="Arial" panose="020B0604020202090204"/>
                        </a:defRPr>
                      </a:pPr>
                      <a:r>
                        <a:rPr sz="1800" b="0" dirty="0">
                          <a:latin typeface="Times New Roman" panose="02020503050405090304" charset="0"/>
                          <a:ea typeface="黑体" panose="02010609060101010101" pitchFamily="49" charset="-122"/>
                          <a:cs typeface="Times New Roman" panose="02020503050405090304" charset="0"/>
                        </a:rPr>
                        <a:t>⑤ </a:t>
                      </a:r>
                      <a:r>
                        <a:rPr sz="1800" b="0" dirty="0" err="1">
                          <a:latin typeface="Times New Roman" panose="02020503050405090304" charset="0"/>
                          <a:ea typeface="黑体" panose="02010609060101010101" pitchFamily="49" charset="-122"/>
                          <a:cs typeface="Times New Roman" panose="02020503050405090304" charset="0"/>
                        </a:rPr>
                        <a:t>混合精度</a:t>
                      </a:r>
                      <a:endParaRPr sz="1800" b="0" dirty="0">
                        <a:latin typeface="Times New Roman" panose="02020503050405090304" charset="0"/>
                        <a:ea typeface="黑体" panose="02010609060101010101" pitchFamily="49" charset="-122"/>
                        <a:cs typeface="Times New Roman" panose="02020503050405090304" charset="0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  <a:latin typeface="Arial" panose="020B0604020202090204"/>
                        </a:defRPr>
                      </a:pPr>
                      <a:r>
                        <a:rPr lang="zh-CN" sz="1800" b="0" dirty="0">
                          <a:latin typeface="Times New Roman" panose="02020503050405090304" charset="0"/>
                          <a:ea typeface="黑体" panose="02010609060101010101" pitchFamily="49" charset="-122"/>
                        </a:rPr>
                        <a:t>探索多种精度混合方案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  <a:latin typeface="Arial" panose="020B0604020202090204"/>
                        </a:defRPr>
                      </a:pPr>
                      <a:r>
                        <a:rPr lang="zh-CN" sz="1800" b="0" dirty="0">
                          <a:latin typeface="Times New Roman" panose="02020503050405090304" charset="0"/>
                          <a:ea typeface="黑体" panose="02010609060101010101" pitchFamily="49" charset="-122"/>
                          <a:cs typeface="Times New Roman" panose="02020503050405090304" charset="0"/>
                        </a:rPr>
                        <a:t>测试首层</a:t>
                      </a:r>
                      <a:r>
                        <a:rPr lang="en-US" altLang="zh-CN" sz="1800" b="0" dirty="0">
                          <a:latin typeface="Times New Roman" panose="02020503050405090304" charset="0"/>
                          <a:ea typeface="黑体" panose="02010609060101010101" pitchFamily="49" charset="-122"/>
                          <a:cs typeface="Times New Roman" panose="02020503050405090304" charset="0"/>
                        </a:rPr>
                        <a:t> FP32</a:t>
                      </a:r>
                      <a:r>
                        <a:rPr lang="zh-CN" altLang="en-US" sz="1800" b="0" dirty="0">
                          <a:latin typeface="Times New Roman" panose="02020503050405090304" charset="0"/>
                          <a:ea typeface="黑体" panose="02010609060101010101" pitchFamily="49" charset="-122"/>
                          <a:cs typeface="Times New Roman" panose="02020503050405090304" charset="0"/>
                        </a:rPr>
                        <a:t>、</a:t>
                      </a:r>
                      <a:r>
                        <a:rPr lang="en-US" altLang="zh-CN" sz="1800" b="0" dirty="0">
                          <a:latin typeface="Times New Roman" panose="02020503050405090304" charset="0"/>
                          <a:ea typeface="黑体" panose="02010609060101010101" pitchFamily="49" charset="-122"/>
                          <a:cs typeface="Times New Roman" panose="02020503050405090304" charset="0"/>
                        </a:rPr>
                        <a:t>Linear FP32 </a:t>
                      </a:r>
                      <a:r>
                        <a:rPr lang="zh-CN" altLang="en-US" sz="1800" b="0" dirty="0">
                          <a:latin typeface="Times New Roman" panose="02020503050405090304" charset="0"/>
                          <a:ea typeface="黑体" panose="02010609060101010101" pitchFamily="49" charset="-122"/>
                          <a:cs typeface="Times New Roman" panose="02020503050405090304" charset="0"/>
                        </a:rPr>
                        <a:t>等不同策略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12121"/>
                          </a:solidFill>
                          <a:latin typeface="Arial" panose="020B0604020202090204"/>
                        </a:defRPr>
                      </a:pPr>
                      <a:r>
                        <a:rPr sz="1800" b="0" dirty="0">
                          <a:latin typeface="Times New Roman" panose="02020503050405090304" charset="0"/>
                          <a:ea typeface="黑体" panose="02010609060101010101" pitchFamily="49" charset="-122"/>
                          <a:cs typeface="Times New Roman" panose="02020503050405090304" charset="0"/>
                        </a:rPr>
                        <a:t>98.26%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12121"/>
                          </a:solidFill>
                          <a:latin typeface="Arial" panose="020B0604020202090204"/>
                        </a:defRPr>
                      </a:pPr>
                      <a:r>
                        <a:rPr sz="1800" b="0" dirty="0">
                          <a:latin typeface="Times New Roman" panose="02020503050405090304" charset="0"/>
                          <a:ea typeface="黑体" panose="02010609060101010101" pitchFamily="49" charset="-122"/>
                          <a:cs typeface="Times New Roman" panose="02020503050405090304" charset="0"/>
                        </a:rPr>
                        <a:t>91.26%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12121"/>
                          </a:solidFill>
                          <a:latin typeface="Arial" panose="020B0604020202090204"/>
                        </a:defRPr>
                      </a:pPr>
                      <a:r>
                        <a:rPr sz="1800" b="0" dirty="0">
                          <a:latin typeface="Times New Roman" panose="02020503050405090304" charset="0"/>
                          <a:ea typeface="黑体" panose="02010609060101010101" pitchFamily="49" charset="-122"/>
                          <a:cs typeface="Times New Roman" panose="02020503050405090304" charset="0"/>
                        </a:rPr>
                        <a:t>91.13%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8516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83593"/>
                          </a:solidFill>
                          <a:latin typeface="Arial" panose="020B0604020202090204"/>
                        </a:defRPr>
                      </a:pPr>
                      <a:r>
                        <a:rPr sz="1800" b="0" dirty="0">
                          <a:latin typeface="Times New Roman" panose="02020503050405090304" charset="0"/>
                          <a:ea typeface="黑体" panose="02010609060101010101" pitchFamily="49" charset="-122"/>
                          <a:cs typeface="Times New Roman" panose="02020503050405090304" charset="0"/>
                        </a:rPr>
                        <a:t>⑥ Gazelle</a:t>
                      </a:r>
                      <a:r>
                        <a:rPr lang="en-US" sz="1800" b="0" dirty="0">
                          <a:latin typeface="Times New Roman" panose="02020503050405090304" charset="0"/>
                          <a:ea typeface="黑体" panose="02010609060101010101" pitchFamily="49" charset="-122"/>
                          <a:cs typeface="Times New Roman" panose="02020503050405090304" charset="0"/>
                        </a:rPr>
                        <a:t> QAT</a:t>
                      </a:r>
                      <a:endParaRPr sz="1800" b="0" dirty="0">
                        <a:latin typeface="Times New Roman" panose="02020503050405090304" charset="0"/>
                        <a:ea typeface="黑体" panose="02010609060101010101" pitchFamily="49" charset="-122"/>
                        <a:cs typeface="Times New Roman" panose="02020503050405090304" charset="0"/>
                      </a:endParaRP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  <a:latin typeface="Arial" panose="020B0604020202090204"/>
                        </a:defRPr>
                      </a:pPr>
                      <a:r>
                        <a:rPr sz="1800" b="0" dirty="0">
                          <a:latin typeface="Times New Roman" panose="02020503050405090304" charset="0"/>
                          <a:ea typeface="黑体" panose="02010609060101010101" pitchFamily="49" charset="-122"/>
                          <a:cs typeface="Times New Roman" panose="02020503050405090304" charset="0"/>
                        </a:rPr>
                        <a:t>int8 </a:t>
                      </a:r>
                      <a:r>
                        <a:rPr sz="1800" b="0" dirty="0" err="1">
                          <a:latin typeface="Times New Roman" panose="02020503050405090304" charset="0"/>
                          <a:ea typeface="黑体" panose="02010609060101010101" pitchFamily="49" charset="-122"/>
                          <a:cs typeface="Times New Roman" panose="02020503050405090304" charset="0"/>
                        </a:rPr>
                        <a:t>原生精度</a:t>
                      </a:r>
                      <a:r>
                        <a:rPr sz="1800" b="0" dirty="0">
                          <a:latin typeface="Times New Roman" panose="02020503050405090304" charset="0"/>
                          <a:ea typeface="黑体" panose="02010609060101010101" pitchFamily="49" charset="-122"/>
                          <a:cs typeface="Times New Roman" panose="02020503050405090304" charset="0"/>
                        </a:rPr>
                        <a:t> + </a:t>
                      </a:r>
                      <a:r>
                        <a:rPr sz="1800" b="0" dirty="0" err="1">
                          <a:latin typeface="Times New Roman" panose="02020503050405090304" charset="0"/>
                          <a:ea typeface="黑体" panose="02010609060101010101" pitchFamily="49" charset="-122"/>
                          <a:cs typeface="Times New Roman" panose="02020503050405090304" charset="0"/>
                        </a:rPr>
                        <a:t>硬件噪声</a:t>
                      </a:r>
                      <a:endParaRPr sz="1800" b="0" dirty="0">
                        <a:latin typeface="Times New Roman" panose="02020503050405090304" charset="0"/>
                        <a:ea typeface="黑体" panose="02010609060101010101" pitchFamily="49" charset="-122"/>
                        <a:cs typeface="Times New Roman" panose="02020503050405090304" charset="0"/>
                      </a:endParaRP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  <a:latin typeface="Arial" panose="020B0604020202090204"/>
                        </a:defRPr>
                      </a:pPr>
                      <a:r>
                        <a:rPr lang="zh-CN" sz="1800" b="0" dirty="0">
                          <a:latin typeface="Times New Roman" panose="02020503050405090304" charset="0"/>
                          <a:ea typeface="黑体" panose="02010609060101010101" pitchFamily="49" charset="-122"/>
                          <a:cs typeface="Times New Roman" panose="02020503050405090304" charset="0"/>
                        </a:rPr>
                        <a:t>改用</a:t>
                      </a:r>
                      <a:r>
                        <a:rPr lang="en-US" altLang="zh-CN" sz="1800" b="0" dirty="0">
                          <a:latin typeface="Times New Roman" panose="02020503050405090304" charset="0"/>
                          <a:ea typeface="黑体" panose="02010609060101010101" pitchFamily="49" charset="-122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dirty="0">
                          <a:latin typeface="Times New Roman" panose="02020503050405090304" charset="0"/>
                          <a:ea typeface="黑体" panose="02010609060101010101" pitchFamily="49" charset="-122"/>
                          <a:cs typeface="Times New Roman" panose="02020503050405090304" charset="0"/>
                        </a:rPr>
                        <a:t>int8权重, </a:t>
                      </a:r>
                      <a:r>
                        <a:rPr lang="zh-CN" sz="1800" b="0" dirty="0">
                          <a:latin typeface="Times New Roman" panose="02020503050405090304" charset="0"/>
                          <a:ea typeface="黑体" panose="02010609060101010101" pitchFamily="49" charset="-122"/>
                          <a:cs typeface="Times New Roman" panose="02020503050405090304" charset="0"/>
                        </a:rPr>
                        <a:t>尝试模拟插入多种</a:t>
                      </a:r>
                      <a:r>
                        <a:rPr lang="en-US" altLang="zh-CN" sz="1800" b="0" dirty="0">
                          <a:latin typeface="Times New Roman" panose="02020503050405090304" charset="0"/>
                          <a:ea typeface="黑体" panose="02010609060101010101" pitchFamily="49" charset="-122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dirty="0">
                          <a:latin typeface="Times New Roman" panose="02020503050405090304" charset="0"/>
                          <a:ea typeface="黑体" panose="02010609060101010101" pitchFamily="49" charset="-122"/>
                          <a:cs typeface="Times New Roman" panose="02020503050405090304" charset="0"/>
                        </a:rPr>
                        <a:t>DAC 噪声, stem FP32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12121"/>
                          </a:solidFill>
                          <a:latin typeface="Arial" panose="020B0604020202090204"/>
                        </a:defRPr>
                      </a:pPr>
                      <a:r>
                        <a:rPr lang="en-US" altLang="zh-CN" sz="1800" b="0" dirty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Times New Roman" panose="02020503050405090304" charset="0"/>
                          <a:ea typeface="黑体" panose="02010609060101010101" pitchFamily="49" charset="-122"/>
                          <a:cs typeface="Times New Roman" panose="02020503050405090304" charset="0"/>
                        </a:rPr>
                        <a:t>9</a:t>
                      </a:r>
                      <a:r>
                        <a:rPr lang="es-ES" sz="1800" b="0" dirty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Times New Roman" panose="02020503050405090304" charset="0"/>
                          <a:ea typeface="黑体" panose="02010609060101010101" pitchFamily="49" charset="-122"/>
                          <a:cs typeface="Times New Roman" panose="02020503050405090304" charset="0"/>
                        </a:rPr>
                        <a:t>7.87%</a:t>
                      </a:r>
                    </a:p>
                    <a:p>
                      <a:pPr algn="ctr">
                        <a:defRPr sz="1100" b="1">
                          <a:solidFill>
                            <a:srgbClr val="212121"/>
                          </a:solidFill>
                          <a:latin typeface="Arial" panose="020B0604020202090204"/>
                        </a:defRPr>
                      </a:pPr>
                      <a:r>
                        <a:rPr lang="es-ES" sz="1800" b="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Times New Roman" panose="02020503050405090304" charset="0"/>
                          <a:ea typeface="黑体" panose="02010609060101010101" pitchFamily="49" charset="-122"/>
                          <a:cs typeface="Times New Roman" panose="02020503050405090304" charset="0"/>
                        </a:rPr>
                        <a:t>98.02%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83593"/>
                          </a:solidFill>
                          <a:latin typeface="Arial" panose="020B0604020202090204"/>
                        </a:defRPr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Times New Roman" panose="02020503050405090304" charset="0"/>
                          <a:ea typeface="黑体" panose="02010609060101010101" pitchFamily="49" charset="-122"/>
                          <a:cs typeface="Times New Roman" panose="02020503050405090304" charset="0"/>
                        </a:rPr>
                        <a:t>92.06%</a:t>
                      </a:r>
                      <a:r>
                        <a:rPr sz="1800" b="0" dirty="0">
                          <a:solidFill>
                            <a:schemeClr val="tx1"/>
                          </a:solidFill>
                          <a:latin typeface="Times New Roman" panose="02020503050405090304" charset="0"/>
                          <a:ea typeface="黑体" panose="02010609060101010101" pitchFamily="49" charset="-122"/>
                          <a:cs typeface="Times New Roman" panose="02020503050405090304" charset="0"/>
                        </a:rPr>
                        <a:t> 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12121"/>
                          </a:solidFill>
                          <a:latin typeface="Arial" panose="020B0604020202090204"/>
                        </a:defRPr>
                      </a:pPr>
                      <a:r>
                        <a:rPr lang="en-US" altLang="zh-CN" sz="1800" b="0" dirty="0">
                          <a:latin typeface="Times New Roman" panose="02020503050405090304" charset="0"/>
                          <a:ea typeface="黑体" panose="02010609060101010101" pitchFamily="49" charset="-122"/>
                          <a:cs typeface="Times New Roman" panose="02020503050405090304" charset="0"/>
                        </a:rPr>
                        <a:t>91.83%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148672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1100" b="1">
                          <a:solidFill>
                            <a:srgbClr val="283593"/>
                          </a:solidFill>
                          <a:latin typeface="Arial" panose="020B0604020202090204"/>
                        </a:defRPr>
                      </a:pPr>
                      <a:r>
                        <a:rPr lang="es-ES" sz="1800" b="0" kern="1200" dirty="0">
                          <a:solidFill>
                            <a:srgbClr val="283593"/>
                          </a:solidFill>
                          <a:latin typeface="Times New Roman" panose="02020503050405090304" charset="0"/>
                          <a:ea typeface="黑体" panose="02010609060101010101" pitchFamily="49" charset="-122"/>
                          <a:cs typeface="Times New Roman" panose="02020503050405090304" charset="0"/>
                        </a:rPr>
                        <a:t>⑦ osimulator</a:t>
                      </a:r>
                      <a:r>
                        <a:rPr lang="zh-CN" altLang="en-US" sz="1800" b="0" kern="1200" dirty="0">
                          <a:solidFill>
                            <a:srgbClr val="283593"/>
                          </a:solidFill>
                          <a:latin typeface="Times New Roman" panose="02020503050405090304" charset="0"/>
                          <a:ea typeface="黑体" panose="02010609060101010101" pitchFamily="49" charset="-122"/>
                          <a:cs typeface="Times New Roman" panose="02020503050405090304" charset="0"/>
                        </a:rPr>
                        <a:t>真机实测</a:t>
                      </a:r>
                      <a:endParaRPr sz="1800" b="0" kern="1200" dirty="0">
                        <a:solidFill>
                          <a:srgbClr val="283593"/>
                        </a:solidFill>
                        <a:latin typeface="Times New Roman" panose="02020503050405090304" charset="0"/>
                        <a:ea typeface="黑体" panose="02010609060101010101" pitchFamily="49" charset="-122"/>
                        <a:cs typeface="Times New Roman" panose="02020503050405090304" charset="0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1100">
                          <a:solidFill>
                            <a:srgbClr val="212121"/>
                          </a:solidFill>
                          <a:latin typeface="Arial" panose="020B0604020202090204"/>
                        </a:defRPr>
                      </a:pPr>
                      <a:r>
                        <a:rPr lang="zh-CN" altLang="en-US" sz="1800" b="0" kern="1200" dirty="0">
                          <a:solidFill>
                            <a:srgbClr val="212121"/>
                          </a:solidFill>
                          <a:latin typeface="Times New Roman" panose="02020503050405090304" charset="0"/>
                          <a:ea typeface="黑体" panose="02010609060101010101" pitchFamily="49" charset="-122"/>
                          <a:cs typeface="+mn-cs"/>
                        </a:rPr>
                        <a:t>真实光计算硬件仿真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  <a:latin typeface="Arial" panose="020B0604020202090204"/>
                        </a:defRPr>
                      </a:pPr>
                      <a:r>
                        <a:rPr lang="pt-BR" sz="1800" b="0" dirty="0">
                          <a:latin typeface="Times New Roman" panose="02020503050405090304" charset="0"/>
                          <a:ea typeface="黑体" panose="02010609060101010101" pitchFamily="49" charset="-122"/>
                          <a:cs typeface="Times New Roman" panose="02020503050405090304" charset="0"/>
                        </a:rPr>
                        <a:t>COMPASS 8a8w12o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12121"/>
                          </a:solidFill>
                          <a:latin typeface="Arial" panose="020B0604020202090204"/>
                        </a:defRPr>
                      </a:pPr>
                      <a:r>
                        <a:rPr lang="pt-BR" sz="1800" b="0" dirty="0">
                          <a:latin typeface="Times New Roman" panose="02020503050405090304" charset="0"/>
                          <a:ea typeface="黑体" panose="02010609060101010101" pitchFamily="49" charset="-122"/>
                          <a:cs typeface="Times New Roman" panose="02020503050405090304" charset="0"/>
                        </a:rPr>
                        <a:t> </a:t>
                      </a:r>
                      <a:r>
                        <a:rPr lang="pt-BR" sz="1800" b="0" dirty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Times New Roman" panose="02020503050405090304" charset="0"/>
                          <a:ea typeface="黑体" panose="02010609060101010101" pitchFamily="49" charset="-122"/>
                          <a:cs typeface="Times New Roman" panose="02020503050405090304" charset="0"/>
                        </a:rPr>
                        <a:t>98.15% (q650) </a:t>
                      </a:r>
                    </a:p>
                    <a:p>
                      <a:pPr algn="ctr">
                        <a:defRPr sz="1100" b="1">
                          <a:solidFill>
                            <a:srgbClr val="212121"/>
                          </a:solidFill>
                          <a:latin typeface="Arial" panose="020B0604020202090204"/>
                        </a:defRPr>
                      </a:pPr>
                      <a:r>
                        <a:rPr lang="pt-BR" sz="1800" b="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Times New Roman" panose="02020503050405090304" charset="0"/>
                          <a:ea typeface="黑体" panose="02010609060101010101" pitchFamily="49" charset="-122"/>
                          <a:cs typeface="Times New Roman" panose="02020503050405090304" charset="0"/>
                        </a:rPr>
                        <a:t>97.54% (q650)</a:t>
                      </a:r>
                      <a:endParaRPr sz="1800" b="0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Times New Roman" panose="02020503050405090304" charset="0"/>
                        <a:ea typeface="黑体" panose="02010609060101010101" pitchFamily="49" charset="-122"/>
                        <a:cs typeface="Times New Roman" panose="02020503050405090304" charset="0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83593"/>
                          </a:solidFill>
                          <a:latin typeface="Arial" panose="020B0604020202090204"/>
                        </a:defRPr>
                      </a:pPr>
                      <a:r>
                        <a:rPr lang="es-ES" sz="1800" b="0" dirty="0">
                          <a:solidFill>
                            <a:schemeClr val="tx1"/>
                          </a:solidFill>
                          <a:latin typeface="Times New Roman" panose="02020503050405090304" charset="0"/>
                          <a:ea typeface="黑体" panose="02010609060101010101" pitchFamily="49" charset="-122"/>
                          <a:cs typeface="Times New Roman" panose="02020503050405090304" charset="0"/>
                        </a:rPr>
                        <a:t>90.43%</a:t>
                      </a:r>
                    </a:p>
                    <a:p>
                      <a:pPr algn="ctr">
                        <a:defRPr sz="1100" b="1">
                          <a:solidFill>
                            <a:srgbClr val="283593"/>
                          </a:solidFill>
                          <a:latin typeface="Arial" panose="020B0604020202090204"/>
                        </a:defRPr>
                      </a:pPr>
                      <a:r>
                        <a:rPr lang="zh-CN" altLang="en-US" sz="1800" b="0" dirty="0">
                          <a:solidFill>
                            <a:schemeClr val="tx1"/>
                          </a:solidFill>
                          <a:latin typeface="Times New Roman" panose="02020503050405090304" charset="0"/>
                          <a:ea typeface="黑体" panose="02010609060101010101" pitchFamily="49" charset="-122"/>
                          <a:cs typeface="Times New Roman" panose="02020503050405090304" charset="0"/>
                        </a:rPr>
                        <a:t>（全量</a:t>
                      </a:r>
                      <a:r>
                        <a:rPr lang="en-US" altLang="zh-CN" sz="1800" b="0" dirty="0">
                          <a:solidFill>
                            <a:schemeClr val="tx1"/>
                          </a:solidFill>
                          <a:latin typeface="Times New Roman" panose="02020503050405090304" charset="0"/>
                          <a:ea typeface="黑体" panose="02010609060101010101" pitchFamily="49" charset="-122"/>
                          <a:cs typeface="Times New Roman" panose="02020503050405090304" charset="0"/>
                        </a:rPr>
                        <a:t>5400)</a:t>
                      </a:r>
                      <a:endParaRPr sz="1800" b="0" dirty="0">
                        <a:solidFill>
                          <a:schemeClr val="tx1"/>
                        </a:solidFill>
                        <a:latin typeface="Times New Roman" panose="02020503050405090304" charset="0"/>
                        <a:ea typeface="黑体" panose="02010609060101010101" pitchFamily="49" charset="-122"/>
                        <a:cs typeface="Times New Roman" panose="02020503050405090304" charset="0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12121"/>
                          </a:solidFill>
                          <a:latin typeface="Arial" panose="020B0604020202090204"/>
                        </a:defRPr>
                      </a:pPr>
                      <a:r>
                        <a:rPr lang="es-ES" sz="1800" b="0" dirty="0">
                          <a:latin typeface="Times New Roman" panose="02020503050405090304" charset="0"/>
                          <a:ea typeface="黑体" panose="02010609060101010101" pitchFamily="49" charset="-122"/>
                          <a:cs typeface="Times New Roman" panose="02020503050405090304" charset="0"/>
                        </a:rPr>
                        <a:t>90.28%</a:t>
                      </a:r>
                      <a:r>
                        <a:rPr lang="zh-CN" altLang="en-US" sz="1800" b="0" dirty="0">
                          <a:latin typeface="Times New Roman" panose="02020503050405090304" charset="0"/>
                          <a:ea typeface="黑体" panose="02010609060101010101" pitchFamily="49" charset="-122"/>
                          <a:cs typeface="Times New Roman" panose="02020503050405090304" charset="0"/>
                        </a:rPr>
                        <a:t>（全量</a:t>
                      </a:r>
                      <a:r>
                        <a:rPr lang="en-US" altLang="zh-CN" sz="1800" b="0" dirty="0">
                          <a:latin typeface="Times New Roman" panose="02020503050405090304" charset="0"/>
                          <a:ea typeface="黑体" panose="02010609060101010101" pitchFamily="49" charset="-122"/>
                          <a:cs typeface="Times New Roman" panose="02020503050405090304" charset="0"/>
                        </a:rPr>
                        <a:t>5400)</a:t>
                      </a:r>
                      <a:endParaRPr sz="1800" b="0" dirty="0">
                        <a:latin typeface="Times New Roman" panose="02020503050405090304" charset="0"/>
                        <a:ea typeface="黑体" panose="02010609060101010101" pitchFamily="49" charset="-122"/>
                        <a:cs typeface="Times New Roman" panose="02020503050405090304" charset="0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5" name="文本框 124"/>
          <p:cNvSpPr txBox="1"/>
          <p:nvPr/>
        </p:nvSpPr>
        <p:spPr>
          <a:xfrm>
            <a:off x="4183063" y="74060"/>
            <a:ext cx="783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褐色为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model1 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变体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    </a:t>
            </a:r>
            <a:r>
              <a:rPr lang="zh-CN" altLang="en-US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深绿色为</a:t>
            </a:r>
            <a:r>
              <a:rPr lang="en-US" altLang="zh-CN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model1 </a:t>
            </a:r>
            <a:r>
              <a:rPr lang="zh-CN" altLang="en-US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变体</a:t>
            </a:r>
            <a:r>
              <a:rPr lang="en-US" altLang="zh-CN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 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q650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表示测试集跑了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650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张</a:t>
            </a:r>
          </a:p>
        </p:txBody>
      </p:sp>
      <p:sp>
        <p:nvSpPr>
          <p:cNvPr id="127" name="FooterR"/>
          <p:cNvSpPr>
            <a:spLocks noGrp="1"/>
          </p:cNvSpPr>
          <p:nvPr/>
        </p:nvSpPr>
        <p:spPr>
          <a:xfrm>
            <a:off x="10058400" y="6492240"/>
            <a:ext cx="1737360" cy="274320"/>
          </a:xfrm>
          <a:prstGeom prst="rect">
            <a:avLst/>
          </a:prstGeom>
        </p:spPr>
        <p:txBody>
          <a:bodyPr wrap="none" rtlCol="0" anchor="ctr"/>
          <a:lstStyle/>
          <a:p>
            <a:pPr algn="r"/>
            <a:r>
              <a:rPr lang="zh-CN" sz="1000" dirty="0">
                <a:solidFill>
                  <a:srgbClr val="8A99AD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0</a:t>
            </a:r>
            <a:r>
              <a:rPr lang="en-US" altLang="zh-CN" sz="1000" dirty="0">
                <a:solidFill>
                  <a:srgbClr val="8A99AD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8</a:t>
            </a:r>
            <a:r>
              <a:rPr lang="zh-CN" sz="1000" dirty="0">
                <a:solidFill>
                  <a:srgbClr val="8A99AD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/ 1</a:t>
            </a:r>
            <a:r>
              <a:rPr lang="en-US" altLang="zh-CN" sz="1000" dirty="0">
                <a:solidFill>
                  <a:srgbClr val="8A99AD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7</a:t>
            </a:r>
            <a:endParaRPr lang="zh-CN" sz="1000" dirty="0">
              <a:solidFill>
                <a:srgbClr val="8A99AD"/>
              </a:solidFill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</p:txBody>
      </p:sp>
      <p:sp>
        <p:nvSpPr>
          <p:cNvPr id="129" name="FooterL"/>
          <p:cNvSpPr>
            <a:spLocks noGrp="1"/>
          </p:cNvSpPr>
          <p:nvPr/>
        </p:nvSpPr>
        <p:spPr>
          <a:xfrm>
            <a:off x="411480" y="6492240"/>
            <a:ext cx="7772400" cy="274320"/>
          </a:xfrm>
          <a:prstGeom prst="rect">
            <a:avLst/>
          </a:prstGeom>
        </p:spPr>
        <p:txBody>
          <a:bodyPr wrap="none" rtlCol="0" anchor="ctr"/>
          <a:lstStyle/>
          <a:p>
            <a:pPr algn="l"/>
            <a:r>
              <a:rPr lang="zh-CN" sz="1000">
                <a:solidFill>
                  <a:srgbClr val="8A99AD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Optic-SpaceNet · 光学 CNN 在轨加速系统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9004821" y="6489561"/>
            <a:ext cx="19159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rgbClr val="21212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* </a:t>
            </a:r>
            <a:r>
              <a:rPr lang="zh-CN" altLang="en-US" sz="1200" dirty="0">
                <a:solidFill>
                  <a:srgbClr val="21212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lang="en-US" altLang="zh-CN" sz="1200" dirty="0">
                <a:solidFill>
                  <a:srgbClr val="21212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bug</a:t>
            </a:r>
            <a:r>
              <a:rPr lang="zh-CN" altLang="en-US" sz="1200" dirty="0">
                <a:solidFill>
                  <a:srgbClr val="21212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修复后的重跑结果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792051" y="102171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006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七</a:t>
            </a:r>
            <a:r>
              <a:rPr lang="zh-CN" altLang="zh-CN" sz="3200" b="1" dirty="0">
                <a:solidFill>
                  <a:srgbClr val="006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阶段精度曲线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84818" y="394559"/>
            <a:ext cx="11059050" cy="6068881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466905" y="5846850"/>
            <a:ext cx="408495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P32 权重依赖精细精度，突变量化破坏特征，低 lr 逃不出坏的局部最优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QAT Conv 相关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Bug</a:t>
            </a:r>
            <a:endParaRPr lang="zh-C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177528" y="4439112"/>
            <a:ext cx="328808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INT4 STE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限制模型学习能力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</a:p>
          <a:p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首末层信息损失</a:t>
            </a:r>
          </a:p>
          <a:p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" name="连接符: 曲线 12"/>
          <p:cNvCxnSpPr/>
          <p:nvPr/>
        </p:nvCxnSpPr>
        <p:spPr>
          <a:xfrm rot="16200000" flipV="1">
            <a:off x="3019742" y="5155323"/>
            <a:ext cx="1021279" cy="512188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连接符: 曲线 20"/>
          <p:cNvCxnSpPr/>
          <p:nvPr/>
        </p:nvCxnSpPr>
        <p:spPr>
          <a:xfrm rot="10800000">
            <a:off x="4856344" y="3673427"/>
            <a:ext cx="1391034" cy="1070441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FooterR"/>
          <p:cNvSpPr>
            <a:spLocks noGrp="1"/>
          </p:cNvSpPr>
          <p:nvPr/>
        </p:nvSpPr>
        <p:spPr>
          <a:xfrm>
            <a:off x="10058400" y="6492240"/>
            <a:ext cx="1737360" cy="274320"/>
          </a:xfrm>
          <a:prstGeom prst="rect">
            <a:avLst/>
          </a:prstGeom>
        </p:spPr>
        <p:txBody>
          <a:bodyPr wrap="none" rtlCol="0" anchor="ctr"/>
          <a:lstStyle/>
          <a:p>
            <a:pPr algn="r"/>
            <a:r>
              <a:rPr lang="en-US" altLang="zh-CN" sz="1000" dirty="0">
                <a:solidFill>
                  <a:srgbClr val="8A99AD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09</a:t>
            </a:r>
            <a:r>
              <a:rPr lang="zh-CN" sz="1000" dirty="0">
                <a:solidFill>
                  <a:srgbClr val="8A99AD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/ 1</a:t>
            </a:r>
            <a:r>
              <a:rPr lang="en-US" altLang="zh-CN" sz="1000" dirty="0">
                <a:solidFill>
                  <a:srgbClr val="8A99AD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7</a:t>
            </a:r>
            <a:endParaRPr lang="zh-CN" sz="1000" dirty="0">
              <a:solidFill>
                <a:srgbClr val="8A99AD"/>
              </a:solidFill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0810"/>
            <a:ext cx="558829" cy="1181161"/>
          </a:xfrm>
          <a:prstGeom prst="rect">
            <a:avLst/>
          </a:prstGeom>
        </p:spPr>
      </p:pic>
      <p:pic>
        <p:nvPicPr>
          <p:cNvPr id="32" name="图片 31" descr="集创赛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2635" y="-235470"/>
            <a:ext cx="1486038" cy="92877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41858" y="454132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79704" y="14652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3200" b="1" dirty="0">
                <a:solidFill>
                  <a:srgbClr val="006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核心创新：</a:t>
            </a:r>
          </a:p>
        </p:txBody>
      </p:sp>
      <p:sp>
        <p:nvSpPr>
          <p:cNvPr id="311" name="FooterL"/>
          <p:cNvSpPr>
            <a:spLocks noGrp="1"/>
          </p:cNvSpPr>
          <p:nvPr/>
        </p:nvSpPr>
        <p:spPr>
          <a:xfrm>
            <a:off x="321620" y="6433913"/>
            <a:ext cx="7772400" cy="274320"/>
          </a:xfrm>
          <a:prstGeom prst="rect">
            <a:avLst/>
          </a:prstGeom>
        </p:spPr>
        <p:txBody>
          <a:bodyPr wrap="none" rtlCol="0" anchor="ctr"/>
          <a:lstStyle/>
          <a:p>
            <a:pPr algn="l"/>
            <a:r>
              <a:rPr lang="zh-CN" sz="1000">
                <a:solidFill>
                  <a:srgbClr val="8A99AD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Optic-SpaceNet · 光学 CNN 在轨加速系统</a:t>
            </a:r>
          </a:p>
        </p:txBody>
      </p:sp>
      <p:sp>
        <p:nvSpPr>
          <p:cNvPr id="313" name="FooterR"/>
          <p:cNvSpPr>
            <a:spLocks noGrp="1"/>
          </p:cNvSpPr>
          <p:nvPr/>
        </p:nvSpPr>
        <p:spPr>
          <a:xfrm>
            <a:off x="10058400" y="6492240"/>
            <a:ext cx="1737360" cy="274320"/>
          </a:xfrm>
          <a:prstGeom prst="rect">
            <a:avLst/>
          </a:prstGeom>
        </p:spPr>
        <p:txBody>
          <a:bodyPr wrap="none" rtlCol="0" anchor="ctr"/>
          <a:lstStyle/>
          <a:p>
            <a:pPr algn="r"/>
            <a:r>
              <a:rPr lang="en-US" altLang="zh-CN" sz="1000" dirty="0">
                <a:solidFill>
                  <a:srgbClr val="8A99AD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10</a:t>
            </a:r>
            <a:r>
              <a:rPr lang="zh-CN" sz="1000" dirty="0">
                <a:solidFill>
                  <a:srgbClr val="8A99AD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/ 1</a:t>
            </a:r>
            <a:r>
              <a:rPr lang="en-US" altLang="zh-CN" sz="1000" dirty="0">
                <a:solidFill>
                  <a:srgbClr val="8A99AD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7</a:t>
            </a:r>
            <a:endParaRPr lang="zh-CN" sz="1000" dirty="0">
              <a:solidFill>
                <a:srgbClr val="8A99AD"/>
              </a:solidFill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9496953"/>
              </p:ext>
            </p:extLst>
          </p:nvPr>
        </p:nvGraphicFramePr>
        <p:xfrm>
          <a:off x="800381" y="1237258"/>
          <a:ext cx="10879213" cy="39878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7755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50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534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  <a:defRPr sz="1300" b="1">
                          <a:solidFill>
                            <a:srgbClr val="FFFFFF"/>
                          </a:solidFill>
                          <a:latin typeface="Arial" panose="020B0604020202090204"/>
                        </a:defRPr>
                      </a:pPr>
                      <a:r>
                        <a:rPr lang="zh-CN" altLang="en-US" sz="2000" b="1" kern="1200" dirty="0">
                          <a:solidFill>
                            <a:srgbClr val="FFFFFF"/>
                          </a:solidFill>
                        </a:rPr>
                        <a:t>核心技术</a:t>
                      </a:r>
                      <a:endParaRPr lang="zh-CN" altLang="en-US" sz="2000" b="1" kern="1200" dirty="0">
                        <a:solidFill>
                          <a:srgbClr val="FFFFFF"/>
                        </a:solidFill>
                        <a:latin typeface="Arial" panose="020B0604020202090204"/>
                        <a:ea typeface="+mn-ea"/>
                        <a:cs typeface="+mn-cs"/>
                      </a:endParaRPr>
                    </a:p>
                  </a:txBody>
                  <a:tcPr marR="101600" marT="63500" marB="6350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  <a:defRPr sz="1300" b="1">
                          <a:solidFill>
                            <a:srgbClr val="FFFFFF"/>
                          </a:solidFill>
                          <a:latin typeface="Arial" panose="020B0604020202090204"/>
                        </a:defRPr>
                      </a:pPr>
                      <a:r>
                        <a:rPr lang="zh-CN" altLang="en-US" sz="2000" b="1" kern="1200" dirty="0">
                          <a:solidFill>
                            <a:srgbClr val="FFFFFF"/>
                          </a:solidFill>
                        </a:rPr>
                        <a:t>关键做法</a:t>
                      </a:r>
                      <a:endParaRPr lang="zh-CN" altLang="en-US" sz="2000" b="1" kern="1200" dirty="0">
                        <a:solidFill>
                          <a:srgbClr val="FFFFFF"/>
                        </a:solidFill>
                        <a:latin typeface="Arial" panose="020B0604020202090204"/>
                        <a:ea typeface="+mn-ea"/>
                        <a:cs typeface="+mn-cs"/>
                      </a:endParaRPr>
                    </a:p>
                  </a:txBody>
                  <a:tcPr marL="101600" marR="101600" marT="63500" marB="6350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  <a:defRPr sz="1300" b="1">
                          <a:solidFill>
                            <a:srgbClr val="FFFFFF"/>
                          </a:solidFill>
                          <a:latin typeface="Arial" panose="020B0604020202090204"/>
                        </a:defRPr>
                      </a:pPr>
                      <a:r>
                        <a:rPr lang="zh-CN" altLang="en-US" sz="2000" b="1" kern="1200" dirty="0">
                          <a:solidFill>
                            <a:srgbClr val="FFFFFF"/>
                          </a:solidFill>
                        </a:rPr>
                        <a:t>核心成果</a:t>
                      </a:r>
                      <a:endParaRPr lang="zh-CN" altLang="en-US" sz="2000" b="1" kern="1200" dirty="0">
                        <a:solidFill>
                          <a:srgbClr val="FFFFFF"/>
                        </a:solidFill>
                        <a:latin typeface="Arial" panose="020B0604020202090204"/>
                        <a:ea typeface="+mn-ea"/>
                        <a:cs typeface="+mn-cs"/>
                      </a:endParaRPr>
                    </a:p>
                  </a:txBody>
                  <a:tcPr marL="101600" marR="101600" marT="63500" marB="6350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  <a:defRPr sz="1300" b="1">
                          <a:solidFill>
                            <a:srgbClr val="FFFFFF"/>
                          </a:solidFill>
                          <a:latin typeface="Arial" panose="020B0604020202090204"/>
                        </a:defRPr>
                      </a:pPr>
                      <a:r>
                        <a:rPr lang="zh-CN" altLang="en-US" sz="2000" b="1" kern="1200" dirty="0">
                          <a:solidFill>
                            <a:schemeClr val="tx1"/>
                          </a:solidFill>
                        </a:rPr>
                        <a:t>① 训练引入物理噪声</a:t>
                      </a:r>
                      <a:endParaRPr lang="zh-CN" altLang="en-US" sz="2000" b="1" kern="1200" dirty="0">
                        <a:solidFill>
                          <a:schemeClr val="tx1"/>
                        </a:solidFill>
                        <a:latin typeface="Arial" panose="020B0604020202090204"/>
                        <a:ea typeface="+mn-ea"/>
                        <a:cs typeface="+mn-cs"/>
                      </a:endParaRPr>
                    </a:p>
                  </a:txBody>
                  <a:tcPr marR="101600" marT="63500" marB="635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  <a:defRPr sz="1300" b="1">
                          <a:solidFill>
                            <a:srgbClr val="FFFFFF"/>
                          </a:solidFill>
                          <a:latin typeface="Arial" panose="020B0604020202090204"/>
                        </a:defRPr>
                      </a:pPr>
                      <a:r>
                        <a:rPr lang="zh-CN" altLang="en-US" sz="2000" b="1" kern="1200" dirty="0">
                          <a:solidFill>
                            <a:schemeClr val="tx1"/>
                          </a:solidFill>
                          <a:latin typeface="Arial" panose="020B0604020202090204"/>
                          <a:ea typeface="+mn-ea"/>
                          <a:cs typeface="+mn-cs"/>
                        </a:rPr>
                        <a:t>在</a:t>
                      </a:r>
                      <a:r>
                        <a:rPr lang="en-US" altLang="zh-CN" sz="2000" b="1" kern="1200" dirty="0">
                          <a:solidFill>
                            <a:schemeClr val="tx1"/>
                          </a:solidFill>
                          <a:latin typeface="Arial" panose="020B0604020202090204"/>
                          <a:ea typeface="+mn-ea"/>
                          <a:cs typeface="+mn-cs"/>
                        </a:rPr>
                        <a:t> QAT </a:t>
                      </a:r>
                      <a:r>
                        <a:rPr lang="zh-CN" altLang="en-US" sz="2000" b="1" kern="1200" dirty="0">
                          <a:solidFill>
                            <a:schemeClr val="tx1"/>
                          </a:solidFill>
                          <a:latin typeface="Arial" panose="020B0604020202090204"/>
                          <a:ea typeface="+mn-ea"/>
                          <a:cs typeface="+mn-cs"/>
                        </a:rPr>
                        <a:t>训练中模拟硬件噪声，让模型提前适应光计算高噪环境</a:t>
                      </a:r>
                    </a:p>
                  </a:txBody>
                  <a:tcPr marL="101600" marR="101600" marT="63500" marB="635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  <a:defRPr sz="1300" b="1">
                          <a:solidFill>
                            <a:srgbClr val="FFFFFF"/>
                          </a:solidFill>
                          <a:latin typeface="Arial" panose="020B0604020202090204"/>
                        </a:defRPr>
                      </a:pPr>
                      <a:r>
                        <a:rPr lang="zh-CN" altLang="en-US" sz="2000" b="1" kern="1200" dirty="0">
                          <a:solidFill>
                            <a:schemeClr val="tx1"/>
                          </a:solidFill>
                        </a:rPr>
                        <a:t>实际仿真结果接近训练指标，光计算迁移损失仅 </a:t>
                      </a:r>
                      <a:r>
                        <a:rPr lang="en-US" altLang="zh-CN" sz="2000" b="1" kern="1200" dirty="0">
                          <a:solidFill>
                            <a:schemeClr val="tx1"/>
                          </a:solidFill>
                        </a:rPr>
                        <a:t>~1.6%</a:t>
                      </a:r>
                      <a:r>
                        <a:rPr lang="zh-CN" altLang="en-US" sz="2000" b="1" kern="1200" dirty="0">
                          <a:solidFill>
                            <a:schemeClr val="tx1"/>
                          </a:solidFill>
                        </a:rPr>
                        <a:t> </a:t>
                      </a:r>
                      <a:endParaRPr lang="zh-CN" altLang="en-US" sz="2000" b="1" kern="1200" dirty="0">
                        <a:solidFill>
                          <a:schemeClr val="tx1"/>
                        </a:solidFill>
                        <a:latin typeface="Arial" panose="020B0604020202090204"/>
                        <a:ea typeface="+mn-ea"/>
                        <a:cs typeface="+mn-cs"/>
                      </a:endParaRPr>
                    </a:p>
                  </a:txBody>
                  <a:tcPr marL="101600" marT="63500" marB="635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  <a:defRPr sz="1300" b="1">
                          <a:solidFill>
                            <a:srgbClr val="FFFFFF"/>
                          </a:solidFill>
                          <a:latin typeface="Arial" panose="020B0604020202090204"/>
                        </a:defRPr>
                      </a:pPr>
                      <a:r>
                        <a:rPr lang="zh-CN" altLang="en-US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sym typeface="+mn-ea"/>
                        </a:rPr>
                        <a:t>②</a:t>
                      </a:r>
                      <a:r>
                        <a:rPr lang="en-US" altLang="zh-CN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sym typeface="+mn-ea"/>
                        </a:rPr>
                        <a:t> </a:t>
                      </a:r>
                      <a:r>
                        <a:rPr lang="en-US" altLang="zh-CN" sz="2000" b="1" kern="1200" dirty="0">
                          <a:solidFill>
                            <a:schemeClr val="tx1"/>
                          </a:solidFill>
                        </a:rPr>
                        <a:t>QAT </a:t>
                      </a:r>
                      <a:r>
                        <a:rPr lang="zh-CN" altLang="en-US" sz="2000" b="1" kern="1200" dirty="0">
                          <a:solidFill>
                            <a:schemeClr val="tx1"/>
                          </a:solidFill>
                        </a:rPr>
                        <a:t>量化感知训练</a:t>
                      </a:r>
                    </a:p>
                  </a:txBody>
                  <a:tcPr marR="101600" marT="63500" marB="6350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  <a:defRPr sz="1300" b="1">
                          <a:solidFill>
                            <a:srgbClr val="FFFFFF"/>
                          </a:solidFill>
                          <a:latin typeface="Arial" panose="020B0604020202090204"/>
                        </a:defRPr>
                      </a:pPr>
                      <a:r>
                        <a:rPr lang="en-US" altLang="zh-CN" sz="2000" b="1" kern="1200" dirty="0">
                          <a:solidFill>
                            <a:schemeClr val="tx1"/>
                          </a:solidFill>
                          <a:latin typeface="Arial" panose="020B0604020202090204"/>
                          <a:ea typeface="+mn-ea"/>
                          <a:cs typeface="+mn-cs"/>
                        </a:rPr>
                        <a:t>INT8 QAT </a:t>
                      </a:r>
                      <a:r>
                        <a:rPr lang="zh-CN" altLang="en-US" sz="2000" b="1" kern="1200" dirty="0">
                          <a:solidFill>
                            <a:schemeClr val="tx1"/>
                          </a:solidFill>
                          <a:latin typeface="Arial" panose="020B0604020202090204"/>
                          <a:ea typeface="+mn-ea"/>
                          <a:cs typeface="+mn-cs"/>
                        </a:rPr>
                        <a:t>预训练，模型全程感知硬件量化精度</a:t>
                      </a:r>
                    </a:p>
                  </a:txBody>
                  <a:tcPr marL="101600" marR="101600" marT="63500" marB="6350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  <a:defRPr sz="1300" b="1">
                          <a:solidFill>
                            <a:srgbClr val="FFFFFF"/>
                          </a:solidFill>
                          <a:latin typeface="Arial" panose="020B0604020202090204"/>
                        </a:defRPr>
                      </a:pPr>
                      <a:r>
                        <a:rPr lang="zh-CN" altLang="en-US" sz="2000" b="1" kern="1200" dirty="0">
                          <a:solidFill>
                            <a:schemeClr val="tx1"/>
                          </a:solidFill>
                        </a:rPr>
                        <a:t>学出最佳量化分阶（</a:t>
                      </a:r>
                      <a:r>
                        <a:rPr lang="en-US" altLang="zh-CN" sz="2000" b="1" kern="1200" dirty="0">
                          <a:solidFill>
                            <a:schemeClr val="tx1"/>
                          </a:solidFill>
                        </a:rPr>
                        <a:t>LSQ+</a:t>
                      </a:r>
                      <a:r>
                        <a:rPr lang="zh-CN" altLang="en-US" sz="2000" b="1" kern="1200" dirty="0">
                          <a:solidFill>
                            <a:schemeClr val="tx1"/>
                          </a:solidFill>
                        </a:rPr>
                        <a:t>），消除系统级截断误差</a:t>
                      </a:r>
                      <a:endParaRPr lang="zh-CN" altLang="en-US" sz="2000" b="1" kern="1200" dirty="0">
                        <a:solidFill>
                          <a:schemeClr val="tx1"/>
                        </a:solidFill>
                        <a:latin typeface="Arial" panose="020B0604020202090204"/>
                        <a:ea typeface="+mn-ea"/>
                        <a:cs typeface="+mn-cs"/>
                      </a:endParaRPr>
                    </a:p>
                  </a:txBody>
                  <a:tcPr marL="101600" marT="63500" marB="6350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  <a:defRPr sz="1300" b="1">
                          <a:solidFill>
                            <a:srgbClr val="FFFFFF"/>
                          </a:solidFill>
                          <a:latin typeface="Arial" panose="020B0604020202090204"/>
                        </a:defRPr>
                      </a:pPr>
                      <a:r>
                        <a:rPr lang="zh-CN" altLang="en-US" sz="2000" dirty="0">
                          <a:solidFill>
                            <a:schemeClr val="tx1"/>
                          </a:solidFill>
                          <a:sym typeface="+mn-ea"/>
                        </a:rPr>
                        <a:t>③</a:t>
                      </a:r>
                      <a:r>
                        <a:rPr lang="zh-CN" altLang="en-US" sz="2000" b="1" kern="1200" dirty="0">
                          <a:solidFill>
                            <a:schemeClr val="tx1"/>
                          </a:solidFill>
                        </a:rPr>
                        <a:t> 首层异构计算</a:t>
                      </a:r>
                      <a:endParaRPr lang="zh-CN" altLang="en-US" sz="2000" b="1" kern="1200" dirty="0">
                        <a:solidFill>
                          <a:schemeClr val="tx1"/>
                        </a:solidFill>
                        <a:latin typeface="Arial" panose="020B0604020202090204"/>
                        <a:ea typeface="+mn-ea"/>
                        <a:cs typeface="+mn-cs"/>
                      </a:endParaRPr>
                    </a:p>
                  </a:txBody>
                  <a:tcPr marR="101600" marT="63500" marB="635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  <a:defRPr sz="1300" b="1">
                          <a:solidFill>
                            <a:srgbClr val="FFFFFF"/>
                          </a:solidFill>
                          <a:latin typeface="Arial" panose="020B0604020202090204"/>
                        </a:defRPr>
                      </a:pPr>
                      <a:r>
                        <a:rPr lang="zh-CN" altLang="en-US" sz="2000" b="1" kern="1200" dirty="0">
                          <a:solidFill>
                            <a:schemeClr val="tx1"/>
                          </a:solidFill>
                        </a:rPr>
                        <a:t>首层 </a:t>
                      </a:r>
                      <a:r>
                        <a:rPr lang="en-US" altLang="zh-CN" sz="2000" b="1" kern="1200" dirty="0">
                          <a:solidFill>
                            <a:schemeClr val="tx1"/>
                          </a:solidFill>
                        </a:rPr>
                        <a:t>3 </a:t>
                      </a:r>
                      <a:r>
                        <a:rPr lang="zh-CN" altLang="en-US" sz="2000" b="1" kern="1200" dirty="0">
                          <a:solidFill>
                            <a:schemeClr val="tx1"/>
                          </a:solidFill>
                        </a:rPr>
                        <a:t>通道卷积（宽度未对齐 </a:t>
                      </a:r>
                      <a:r>
                        <a:rPr lang="en-US" altLang="zh-CN" sz="2000" b="1" kern="1200" dirty="0">
                          <a:solidFill>
                            <a:schemeClr val="tx1"/>
                          </a:solidFill>
                        </a:rPr>
                        <a:t>8×2</a:t>
                      </a:r>
                      <a:r>
                        <a:rPr lang="zh-CN" altLang="en-US" sz="2000" b="1" kern="1200" dirty="0">
                          <a:solidFill>
                            <a:schemeClr val="tx1"/>
                          </a:solidFill>
                        </a:rPr>
                        <a:t>）强制执行 </a:t>
                      </a:r>
                      <a:r>
                        <a:rPr lang="en-US" altLang="zh-CN" sz="2000" b="1" kern="1200" dirty="0">
                          <a:solidFill>
                            <a:schemeClr val="tx1"/>
                          </a:solidFill>
                        </a:rPr>
                        <a:t>FP32/FPGA </a:t>
                      </a:r>
                      <a:r>
                        <a:rPr lang="zh-CN" altLang="en-US" sz="2000" b="1" kern="1200" dirty="0">
                          <a:solidFill>
                            <a:schemeClr val="tx1"/>
                          </a:solidFill>
                        </a:rPr>
                        <a:t>电算</a:t>
                      </a:r>
                      <a:endParaRPr lang="zh-CN" altLang="en-US" sz="2000" b="1" kern="1200" dirty="0">
                        <a:solidFill>
                          <a:schemeClr val="tx1"/>
                        </a:solidFill>
                        <a:latin typeface="Arial" panose="020B0604020202090204"/>
                        <a:ea typeface="+mn-ea"/>
                        <a:cs typeface="+mn-cs"/>
                      </a:endParaRPr>
                    </a:p>
                  </a:txBody>
                  <a:tcPr marL="101600" marR="101600" marT="63500" marB="635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  <a:defRPr sz="1300" b="1">
                          <a:solidFill>
                            <a:srgbClr val="FFFFFF"/>
                          </a:solidFill>
                          <a:latin typeface="Arial" panose="020B0604020202090204"/>
                        </a:defRPr>
                      </a:pPr>
                      <a:r>
                        <a:rPr lang="zh-CN" altLang="en-US" sz="2000" dirty="0">
                          <a:solidFill>
                            <a:schemeClr val="tx1"/>
                          </a:solidFill>
                          <a:sym typeface="+mn-ea"/>
                        </a:rPr>
                        <a:t>避免 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sym typeface="+mn-ea"/>
                        </a:rPr>
                        <a:t>62.5% </a:t>
                      </a:r>
                      <a:r>
                        <a:rPr lang="zh-CN" altLang="en-US" sz="2000" dirty="0">
                          <a:solidFill>
                            <a:schemeClr val="tx1"/>
                          </a:solidFill>
                          <a:sym typeface="+mn-ea"/>
                        </a:rPr>
                        <a:t>空算开销</a:t>
                      </a:r>
                      <a:r>
                        <a:rPr lang="zh-CN" altLang="en-US" sz="2000" b="1" kern="1200" dirty="0">
                          <a:solidFill>
                            <a:schemeClr val="tx1"/>
                          </a:solidFill>
                        </a:rPr>
                        <a:t>；避免零填充噪声对 </a:t>
                      </a:r>
                      <a:r>
                        <a:rPr lang="en-US" altLang="zh-CN" sz="2000" b="1" kern="1200" dirty="0">
                          <a:solidFill>
                            <a:schemeClr val="tx1"/>
                          </a:solidFill>
                        </a:rPr>
                        <a:t>BN </a:t>
                      </a:r>
                      <a:r>
                        <a:rPr lang="zh-CN" altLang="en-US" sz="2000" b="1" kern="1200" dirty="0">
                          <a:solidFill>
                            <a:schemeClr val="tx1"/>
                          </a:solidFill>
                        </a:rPr>
                        <a:t>统计值的影响</a:t>
                      </a:r>
                    </a:p>
                  </a:txBody>
                  <a:tcPr marL="101600" marT="63500" marB="635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  <a:defRPr sz="1300" b="1">
                          <a:solidFill>
                            <a:srgbClr val="FFFFFF"/>
                          </a:solidFill>
                          <a:latin typeface="Arial" panose="020B0604020202090204"/>
                        </a:defRPr>
                      </a:pPr>
                      <a:r>
                        <a:rPr lang="zh-CN" altLang="en-US" sz="2000" b="1" kern="1200" dirty="0">
                          <a:solidFill>
                            <a:schemeClr val="tx1"/>
                          </a:solidFill>
                        </a:rPr>
                        <a:t>④ 硬件感知结构</a:t>
                      </a:r>
                      <a:endParaRPr lang="zh-CN" altLang="en-US" sz="2000" b="1" kern="1200" dirty="0">
                        <a:solidFill>
                          <a:schemeClr val="tx1"/>
                        </a:solidFill>
                        <a:latin typeface="Arial" panose="020B0604020202090204"/>
                        <a:ea typeface="+mn-ea"/>
                        <a:cs typeface="+mn-cs"/>
                      </a:endParaRPr>
                    </a:p>
                  </a:txBody>
                  <a:tcPr marR="101600" marT="63500" marB="6350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  <a:defRPr sz="1300" b="1">
                          <a:solidFill>
                            <a:srgbClr val="FFFFFF"/>
                          </a:solidFill>
                          <a:latin typeface="Arial" panose="020B0604020202090204"/>
                        </a:defRPr>
                      </a:pPr>
                      <a:r>
                        <a:rPr lang="zh-CN" altLang="en-US" sz="2000" b="1" kern="1200" dirty="0">
                          <a:solidFill>
                            <a:schemeClr val="tx1"/>
                          </a:solidFill>
                        </a:rPr>
                        <a:t>内部通道取 </a:t>
                      </a:r>
                      <a:r>
                        <a:rPr lang="en-US" altLang="zh-CN" sz="2000" b="1" kern="1200" dirty="0">
                          <a:solidFill>
                            <a:schemeClr val="tx1"/>
                          </a:solidFill>
                        </a:rPr>
                        <a:t>8 </a:t>
                      </a:r>
                      <a:r>
                        <a:rPr lang="zh-CN" altLang="en-US" sz="2000" b="1" kern="1200" dirty="0">
                          <a:solidFill>
                            <a:schemeClr val="tx1"/>
                          </a:solidFill>
                        </a:rPr>
                        <a:t>的倍数，使内部卷积层逐层对齐 </a:t>
                      </a:r>
                      <a:r>
                        <a:rPr lang="en-US" altLang="zh-CN" sz="2000" b="1" kern="1200" dirty="0">
                          <a:solidFill>
                            <a:schemeClr val="tx1"/>
                          </a:solidFill>
                        </a:rPr>
                        <a:t>8×2 tile</a:t>
                      </a:r>
                      <a:endParaRPr lang="zh-CN" altLang="en-US" sz="2000" b="1" kern="1200" dirty="0">
                        <a:solidFill>
                          <a:schemeClr val="tx1"/>
                        </a:solidFill>
                        <a:latin typeface="Arial" panose="020B0604020202090204"/>
                        <a:ea typeface="+mn-ea"/>
                        <a:cs typeface="+mn-cs"/>
                      </a:endParaRPr>
                    </a:p>
                  </a:txBody>
                  <a:tcPr marL="101600" marR="101600" marT="63500" marB="6350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  <a:defRPr sz="1300" b="1">
                          <a:solidFill>
                            <a:srgbClr val="FFFFFF"/>
                          </a:solidFill>
                          <a:latin typeface="Arial" panose="020B0604020202090204"/>
                        </a:defRPr>
                      </a:pPr>
                      <a:r>
                        <a:rPr lang="zh-CN" altLang="en-US" sz="2000" b="1" kern="1200" dirty="0">
                          <a:solidFill>
                            <a:schemeClr val="tx1"/>
                          </a:solidFill>
                        </a:rPr>
                        <a:t>综合对齐率 </a:t>
                      </a:r>
                      <a:r>
                        <a:rPr lang="en-US" altLang="zh-CN" sz="2000" b="1" kern="1200" dirty="0">
                          <a:solidFill>
                            <a:schemeClr val="tx1"/>
                          </a:solidFill>
                        </a:rPr>
                        <a:t>99.6%</a:t>
                      </a:r>
                      <a:r>
                        <a:rPr lang="zh-CN" altLang="en-US" sz="2000" b="1" kern="1200" dirty="0">
                          <a:solidFill>
                            <a:schemeClr val="tx1"/>
                          </a:solidFill>
                        </a:rPr>
                        <a:t>，光计算层零补零浪费 → 有效算力 </a:t>
                      </a:r>
                      <a:r>
                        <a:rPr lang="en-US" altLang="zh-CN" sz="2000" b="1" kern="1200" dirty="0">
                          <a:solidFill>
                            <a:schemeClr val="tx1"/>
                          </a:solidFill>
                        </a:rPr>
                        <a:t>= </a:t>
                      </a:r>
                      <a:r>
                        <a:rPr lang="zh-CN" altLang="en-US" sz="2000" b="1" kern="1200" dirty="0">
                          <a:solidFill>
                            <a:schemeClr val="tx1"/>
                          </a:solidFill>
                        </a:rPr>
                        <a:t>名义算力</a:t>
                      </a:r>
                      <a:r>
                        <a:rPr lang="en-US" altLang="zh-CN" sz="2000" b="1" kern="12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CN" sz="20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*</a:t>
                      </a:r>
                      <a:endParaRPr lang="en-US" altLang="zh-CN" sz="2000" b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90204"/>
                        <a:ea typeface="+mn-ea"/>
                        <a:cs typeface="+mn-cs"/>
                      </a:endParaRPr>
                    </a:p>
                  </a:txBody>
                  <a:tcPr marL="101600" marT="63500" marB="6350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810"/>
            <a:ext cx="558829" cy="1181161"/>
          </a:xfrm>
          <a:prstGeom prst="rect">
            <a:avLst/>
          </a:prstGeom>
        </p:spPr>
      </p:pic>
      <p:pic>
        <p:nvPicPr>
          <p:cNvPr id="13" name="图片 12" descr="集创赛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2635" y="-235470"/>
            <a:ext cx="1486038" cy="928774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8094020" y="5443314"/>
            <a:ext cx="6096000" cy="3077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*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仅 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RGB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首层例外，已置电计算，见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③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Card"/>
          <p:cNvSpPr>
            <a:spLocks noGrp="1"/>
          </p:cNvSpPr>
          <p:nvPr/>
        </p:nvSpPr>
        <p:spPr>
          <a:xfrm>
            <a:off x="7807575" y="1171779"/>
            <a:ext cx="4090113" cy="4492446"/>
          </a:xfrm>
          <a:prstGeom prst="roundRect">
            <a:avLst>
              <a:gd name="adj" fmla="val 4500"/>
            </a:avLst>
          </a:prstGeom>
          <a:solidFill>
            <a:srgbClr val="E7F1FD"/>
          </a:solidFill>
          <a:ln w="9525">
            <a:solidFill>
              <a:srgbClr val="C9DCF5"/>
            </a:solidFill>
          </a:ln>
          <a:effectLst>
            <a:outerShdw blurRad="38100" dist="19050" dir="5400000" rotWithShape="0">
              <a:srgbClr val="9FB3D4">
                <a:alpha val="30000"/>
              </a:srgbClr>
            </a:outerShdw>
          </a:effectLst>
        </p:spPr>
        <p:txBody>
          <a:bodyPr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Card"/>
          <p:cNvSpPr>
            <a:spLocks noGrp="1"/>
          </p:cNvSpPr>
          <p:nvPr/>
        </p:nvSpPr>
        <p:spPr>
          <a:xfrm>
            <a:off x="4343128" y="913570"/>
            <a:ext cx="3138754" cy="3894860"/>
          </a:xfrm>
          <a:prstGeom prst="roundRect">
            <a:avLst>
              <a:gd name="adj" fmla="val 4500"/>
            </a:avLst>
          </a:prstGeom>
          <a:solidFill>
            <a:srgbClr val="E7F1FD"/>
          </a:solidFill>
          <a:ln w="9525">
            <a:solidFill>
              <a:srgbClr val="C9DCF5"/>
            </a:solidFill>
          </a:ln>
          <a:effectLst>
            <a:outerShdw blurRad="38100" dist="19050" dir="5400000" rotWithShape="0">
              <a:srgbClr val="9FB3D4">
                <a:alpha val="30000"/>
              </a:srgbClr>
            </a:outerShdw>
          </a:effectLst>
        </p:spPr>
        <p:txBody>
          <a:bodyPr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90154" y="106897"/>
            <a:ext cx="43268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3200" b="1" dirty="0">
                <a:solidFill>
                  <a:srgbClr val="006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量化感知训练（QAT）</a:t>
            </a:r>
            <a:endParaRPr lang="zh-CN" altLang="en-US" sz="3200" b="1" dirty="0">
              <a:solidFill>
                <a:srgbClr val="0061E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/>
              <p:cNvSpPr txBox="1"/>
              <p:nvPr/>
            </p:nvSpPr>
            <p:spPr>
              <a:xfrm>
                <a:off x="4343128" y="1467907"/>
                <a:ext cx="3200402" cy="33071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900"/>
                  </a:spcAft>
                </a:pPr>
                <a:r>
                  <a:rPr lang="zh-CN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将量化尺度（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zh-CN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）与非对称零点（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𝑧𝑝</m:t>
                    </m:r>
                  </m:oMath>
                </a14:m>
                <a:r>
                  <a:rPr lang="zh-CN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）设为可学习参数，结合梯度信息自适应优化动态截断范围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Aft>
                    <a:spcPts val="900"/>
                  </a:spcAft>
                </a:pPr>
                <a:r>
                  <a:rPr lang="zh-CN" altLang="zh-CN" sz="1800" b="1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可学习步长量化前向</a:t>
                </a:r>
                <a:endParaRPr lang="en-US" altLang="zh-CN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indent="0" algn="l">
                  <a:spcAft>
                    <a:spcPts val="45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dq</m:t>
                          </m:r>
                        </m:sub>
                      </m:sSub>
                      <m:r>
                        <a:rPr lang="en-US" altLang="zh-CN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round</m:t>
                          </m:r>
                          <m:d>
                            <m:dPr>
                              <m:ctrlPr>
                                <a:rPr lang="zh-CN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zh-CN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den>
                              </m:f>
                              <m:r>
                                <a:rPr lang="en-US" altLang="zh-CN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zp</m:t>
                              </m:r>
                            </m:e>
                          </m:d>
                        </m:e>
                      </m:d>
                      <m:r>
                        <a:rPr lang="en-US" altLang="zh-CN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  <m:r>
                        <a:rPr lang="zh-CN" alt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zh-CN" altLang="zh-CN" b="0" i="0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indent="0" algn="l">
                  <a:spcAft>
                    <a:spcPts val="450"/>
                  </a:spcAft>
                  <a:buNone/>
                </a:pPr>
                <a:r>
                  <a:rPr lang="zh-CN" altLang="zh-CN" sz="1800" b="1" i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梯度尺度缩放 (G-Scale) </a:t>
                </a:r>
                <a:endParaRPr lang="en-US" altLang="zh-CN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indent="0" algn="l">
                  <a:spcAft>
                    <a:spcPts val="45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scale</m:t>
                          </m:r>
                        </m:sub>
                      </m:sSub>
                      <m:r>
                        <a:rPr lang="zh-CN" alt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∝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zh-CN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altLang="zh-CN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·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CN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levels</m:t>
                                  </m:r>
                                </m:sub>
                              </m:sSub>
                            </m:e>
                          </m:rad>
                        </m:den>
                      </m:f>
                    </m:oMath>
                  </m:oMathPara>
                </a14:m>
                <a:endParaRPr lang="zh-CN" altLang="zh-CN" b="0" i="0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3128" y="1467907"/>
                <a:ext cx="3200402" cy="3307187"/>
              </a:xfrm>
              <a:prstGeom prst="rect">
                <a:avLst/>
              </a:prstGeom>
              <a:blipFill>
                <a:blip r:embed="rId2"/>
                <a:stretch>
                  <a:fillRect l="-1524" t="-1107" r="-1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/>
          <p:cNvSpPr txBox="1"/>
          <p:nvPr/>
        </p:nvSpPr>
        <p:spPr>
          <a:xfrm>
            <a:off x="8130206" y="1697897"/>
            <a:ext cx="344485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将物理噪声注入训练，降低光计算迁移损失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Gazelle 物理噪声注入前向链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前向噪声链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部署差距</a:t>
            </a:r>
          </a:p>
          <a:p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>
            <a:clrChange>
              <a:clrFrom>
                <a:srgbClr val="E9ECF0"/>
              </a:clrFrom>
              <a:clrTo>
                <a:srgbClr val="E9ECF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909735" y="3115988"/>
            <a:ext cx="3987953" cy="769517"/>
          </a:xfrm>
          <a:prstGeom prst="rect">
            <a:avLst/>
          </a:prstGeom>
        </p:spPr>
      </p:pic>
      <p:sp>
        <p:nvSpPr>
          <p:cNvPr id="14" name="矩形: 圆角 13"/>
          <p:cNvSpPr/>
          <p:nvPr/>
        </p:nvSpPr>
        <p:spPr>
          <a:xfrm>
            <a:off x="8130206" y="4361889"/>
            <a:ext cx="1509149" cy="948584"/>
          </a:xfrm>
          <a:prstGeom prst="roundRect">
            <a:avLst/>
          </a:prstGeom>
          <a:solidFill>
            <a:srgbClr val="112E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800" b="1" dirty="0">
                <a:solidFill>
                  <a:srgbClr val="10BE8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~1.6%</a:t>
            </a:r>
          </a:p>
          <a:p>
            <a:pPr algn="ctr"/>
            <a:r>
              <a:rPr lang="zh-CN" altLang="zh-CN" sz="1600" dirty="0">
                <a:solidFill>
                  <a:srgbClr val="10BE8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真机部署精度 Gap</a:t>
            </a:r>
          </a:p>
        </p:txBody>
      </p:sp>
      <p:sp>
        <p:nvSpPr>
          <p:cNvPr id="15" name="矩形: 圆角 14"/>
          <p:cNvSpPr/>
          <p:nvPr/>
        </p:nvSpPr>
        <p:spPr>
          <a:xfrm>
            <a:off x="9995147" y="4366488"/>
            <a:ext cx="1579911" cy="948584"/>
          </a:xfrm>
          <a:prstGeom prst="roundRect">
            <a:avLst/>
          </a:prstGeom>
          <a:solidFill>
            <a:srgbClr val="2A2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800" b="1" dirty="0">
                <a:solidFill>
                  <a:srgbClr val="DA65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5~10%</a:t>
            </a:r>
          </a:p>
          <a:p>
            <a:pPr algn="ctr"/>
            <a:r>
              <a:rPr lang="zh-CN" altLang="zh-CN" sz="1600" dirty="0">
                <a:solidFill>
                  <a:srgbClr val="DA65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传统强扰动 Gap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4567260" y="957242"/>
            <a:ext cx="25474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LSQ+ 可学习步长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8486146" y="1242369"/>
            <a:ext cx="2646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硬件噪声匹配训练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Card"/>
          <p:cNvSpPr>
            <a:spLocks noGrp="1"/>
          </p:cNvSpPr>
          <p:nvPr/>
        </p:nvSpPr>
        <p:spPr>
          <a:xfrm>
            <a:off x="640791" y="904147"/>
            <a:ext cx="3553470" cy="3859872"/>
          </a:xfrm>
          <a:prstGeom prst="roundRect">
            <a:avLst>
              <a:gd name="adj" fmla="val 4500"/>
            </a:avLst>
          </a:prstGeom>
          <a:solidFill>
            <a:srgbClr val="E7F1FD"/>
          </a:solidFill>
          <a:ln w="9525">
            <a:solidFill>
              <a:srgbClr val="C9DCF5"/>
            </a:solidFill>
          </a:ln>
          <a:effectLst>
            <a:outerShdw blurRad="38100" dist="19050" dir="5400000" rotWithShape="0">
              <a:srgbClr val="9FB3D4">
                <a:alpha val="30000"/>
              </a:srgbClr>
            </a:outerShdw>
          </a:effectLst>
        </p:spPr>
        <p:txBody>
          <a:bodyPr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661168" y="1175626"/>
                <a:ext cx="3688286" cy="37617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zh-CN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前向动态 Scale 计算</a:t>
                </a:r>
                <a:endPara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abs</m:t>
                          </m:r>
                          <m:r>
                            <m:rPr>
                              <m:lit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max</m:t>
                          </m:r>
                          <m:d>
                            <m:d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zh-CN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zh-CN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反向恒等直通 (STE) 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zh-CN" altLang="en-US"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>
                                  <a:latin typeface="Cambria Math" panose="02040503050406030204" pitchFamily="18" charset="0"/>
                                </a:rPr>
                                <m:t>dq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zh-CN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zh-CN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PyTorch 梯度截断实现</a:t>
                </a:r>
              </a:p>
              <a:p>
                <a:r>
                  <a:rPr lang="zh-CN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# 前向走量化，反向走连续梯度流 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zh-CN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x_dq = x + (x_dq - x).detach()</a:t>
                </a:r>
              </a:p>
              <a:p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168" y="1175626"/>
                <a:ext cx="3688286" cy="3761740"/>
              </a:xfrm>
              <a:prstGeom prst="rect">
                <a:avLst/>
              </a:prstGeom>
              <a:blipFill>
                <a:blip r:embed="rId4"/>
                <a:stretch>
                  <a:fillRect l="-13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文本框 17"/>
          <p:cNvSpPr txBox="1"/>
          <p:nvPr/>
        </p:nvSpPr>
        <p:spPr>
          <a:xfrm>
            <a:off x="1226997" y="1006242"/>
            <a:ext cx="23471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 直通估计器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FooterR"/>
          <p:cNvSpPr>
            <a:spLocks noGrp="1"/>
          </p:cNvSpPr>
          <p:nvPr/>
        </p:nvSpPr>
        <p:spPr>
          <a:xfrm>
            <a:off x="10058400" y="6492240"/>
            <a:ext cx="1737360" cy="274320"/>
          </a:xfrm>
          <a:prstGeom prst="rect">
            <a:avLst/>
          </a:prstGeom>
        </p:spPr>
        <p:txBody>
          <a:bodyPr wrap="none" rtlCol="0" anchor="ctr"/>
          <a:lstStyle/>
          <a:p>
            <a:pPr algn="r"/>
            <a:r>
              <a:rPr lang="en-US" altLang="zh-CN" sz="1000" dirty="0">
                <a:solidFill>
                  <a:srgbClr val="8A99AD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11</a:t>
            </a:r>
            <a:r>
              <a:rPr lang="zh-CN" sz="1000" dirty="0">
                <a:solidFill>
                  <a:srgbClr val="8A99AD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/ 1</a:t>
            </a:r>
            <a:r>
              <a:rPr lang="en-US" altLang="zh-CN" sz="1000" dirty="0">
                <a:solidFill>
                  <a:srgbClr val="8A99AD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7</a:t>
            </a:r>
            <a:endParaRPr lang="zh-CN" sz="1000" dirty="0">
              <a:solidFill>
                <a:srgbClr val="8A99AD"/>
              </a:solidFill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</p:txBody>
      </p:sp>
      <p:sp>
        <p:nvSpPr>
          <p:cNvPr id="30" name="FooterL"/>
          <p:cNvSpPr>
            <a:spLocks noGrp="1"/>
          </p:cNvSpPr>
          <p:nvPr/>
        </p:nvSpPr>
        <p:spPr>
          <a:xfrm>
            <a:off x="411480" y="6492240"/>
            <a:ext cx="7772400" cy="274320"/>
          </a:xfrm>
          <a:prstGeom prst="rect">
            <a:avLst/>
          </a:prstGeom>
        </p:spPr>
        <p:txBody>
          <a:bodyPr wrap="none" rtlCol="0" anchor="ctr"/>
          <a:lstStyle/>
          <a:p>
            <a:pPr algn="l"/>
            <a:r>
              <a:rPr lang="zh-CN" sz="1000">
                <a:solidFill>
                  <a:srgbClr val="8A99AD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Optic-SpaceNet · 光学 CNN 在轨加速系统</a:t>
            </a:r>
          </a:p>
        </p:txBody>
      </p:sp>
      <p:pic>
        <p:nvPicPr>
          <p:cNvPr id="34" name="图片 33" descr="集创赛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82635" y="-235470"/>
            <a:ext cx="1486038" cy="928774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5045384" y="5192278"/>
            <a:ext cx="45201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激活用 STE 动态 scale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权重用 LSQ+</a:t>
            </a:r>
          </a:p>
          <a:p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58829" y="5222634"/>
            <a:ext cx="45460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 简单稳定、scale 不可学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LSQ+ 上限更高、能学最优量化范围</a:t>
            </a:r>
          </a:p>
          <a:p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B89A281-4945-999F-CAFE-CCCB754074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-10810"/>
            <a:ext cx="558829" cy="118116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79704" y="100804"/>
            <a:ext cx="67505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3200" b="1" dirty="0">
                <a:solidFill>
                  <a:srgbClr val="006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自动闭环工具链：全流程端到端打通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3183842" y="5442908"/>
            <a:ext cx="746592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工程代码量证明：</a:t>
            </a: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zh-C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系统化闭环。本项目自主设计了 47 个 python 文件（包括 core/qat/data/training/scripts 等分层结构），并稳定通过 11 个核心 QAT bug 的跟踪及修复，健壮性极高。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485" y="613012"/>
            <a:ext cx="11091247" cy="4926824"/>
          </a:xfrm>
          <a:prstGeom prst="rect">
            <a:avLst/>
          </a:prstGeom>
        </p:spPr>
      </p:pic>
      <p:sp>
        <p:nvSpPr>
          <p:cNvPr id="111" name="FooterL"/>
          <p:cNvSpPr>
            <a:spLocks noGrp="1"/>
          </p:cNvSpPr>
          <p:nvPr/>
        </p:nvSpPr>
        <p:spPr>
          <a:xfrm>
            <a:off x="411480" y="6492240"/>
            <a:ext cx="7772400" cy="274320"/>
          </a:xfrm>
          <a:prstGeom prst="rect">
            <a:avLst/>
          </a:prstGeom>
        </p:spPr>
        <p:txBody>
          <a:bodyPr wrap="none" rtlCol="0" anchor="ctr"/>
          <a:lstStyle/>
          <a:p>
            <a:pPr algn="l"/>
            <a:r>
              <a:rPr lang="zh-CN" sz="1000" dirty="0">
                <a:solidFill>
                  <a:srgbClr val="8A99AD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Optic-SpaceNet · 光学 CNN 在轨加速系统</a:t>
            </a:r>
          </a:p>
        </p:txBody>
      </p:sp>
      <p:sp>
        <p:nvSpPr>
          <p:cNvPr id="113" name="FooterR"/>
          <p:cNvSpPr>
            <a:spLocks noGrp="1"/>
          </p:cNvSpPr>
          <p:nvPr/>
        </p:nvSpPr>
        <p:spPr>
          <a:xfrm>
            <a:off x="10058400" y="6492240"/>
            <a:ext cx="1737360" cy="274320"/>
          </a:xfrm>
          <a:prstGeom prst="rect">
            <a:avLst/>
          </a:prstGeom>
        </p:spPr>
        <p:txBody>
          <a:bodyPr wrap="none" rtlCol="0" anchor="ctr"/>
          <a:lstStyle/>
          <a:p>
            <a:pPr algn="r"/>
            <a:r>
              <a:rPr lang="en-US" altLang="zh-CN" sz="1000" dirty="0">
                <a:solidFill>
                  <a:srgbClr val="8A99AD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12</a:t>
            </a:r>
            <a:r>
              <a:rPr lang="zh-CN" sz="1000" dirty="0">
                <a:solidFill>
                  <a:srgbClr val="8A99AD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/ 1</a:t>
            </a:r>
            <a:r>
              <a:rPr lang="en-US" altLang="zh-CN" sz="1000" dirty="0">
                <a:solidFill>
                  <a:srgbClr val="8A99AD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7</a:t>
            </a:r>
            <a:endParaRPr lang="zh-CN" sz="1000" dirty="0">
              <a:solidFill>
                <a:srgbClr val="8A99AD"/>
              </a:solidFill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-10810"/>
            <a:ext cx="558829" cy="1181161"/>
          </a:xfrm>
          <a:prstGeom prst="rect">
            <a:avLst/>
          </a:prstGeom>
        </p:spPr>
      </p:pic>
      <p:pic>
        <p:nvPicPr>
          <p:cNvPr id="6" name="图片 5" descr="集创赛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82635" y="-235470"/>
            <a:ext cx="1486038" cy="928774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35973" y="212119"/>
            <a:ext cx="43909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3200" b="1" dirty="0">
                <a:solidFill>
                  <a:srgbClr val="006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光计算占比：突破 90%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967459" y="5723057"/>
            <a:ext cx="5066527" cy="1200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光子MOPs 占比</a:t>
            </a:r>
            <a:r>
              <a:rPr lang="en-US" altLang="zh-CN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zh-CN" sz="5400" b="1" dirty="0">
                <a:solidFill>
                  <a:srgbClr val="06B6D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90.65%</a:t>
            </a:r>
            <a:endParaRPr lang="zh-CN" altLang="zh-CN" sz="3600" dirty="0">
              <a:solidFill>
                <a:srgbClr val="0F172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7025997" y="436659"/>
          <a:ext cx="5066527" cy="5278687"/>
        </p:xfrm>
        <a:graphic>
          <a:graphicData uri="http://schemas.openxmlformats.org/drawingml/2006/table">
            <a:tbl>
              <a:tblPr/>
              <a:tblGrid>
                <a:gridCol w="6460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25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00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96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03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78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09186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1" i="0" dirty="0">
                          <a:solidFill>
                            <a:srgbClr val="FFFFFF"/>
                          </a:solidFill>
                          <a:effectLst/>
                          <a:latin typeface="var(--font-title)"/>
                        </a:rPr>
                        <a:t>网络层</a:t>
                      </a:r>
                    </a:p>
                  </a:txBody>
                  <a:tcPr marL="66670" marR="66670" marT="44447" marB="44447" anchor="ctr">
                    <a:solidFill>
                      <a:srgbClr val="0061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1" i="0" dirty="0">
                          <a:solidFill>
                            <a:srgbClr val="FFFFFF"/>
                          </a:solidFill>
                          <a:effectLst/>
                          <a:latin typeface="var(--font-title)"/>
                        </a:rPr>
                        <a:t>物理属性</a:t>
                      </a:r>
                    </a:p>
                  </a:txBody>
                  <a:tcPr marL="66670" marR="66670" marT="44447" marB="44447" anchor="ctr">
                    <a:solidFill>
                      <a:srgbClr val="0061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1" i="0">
                          <a:solidFill>
                            <a:srgbClr val="FFFFFF"/>
                          </a:solidFill>
                          <a:effectLst/>
                          <a:latin typeface="var(--font-title)"/>
                        </a:rPr>
                        <a:t>展平长度</a:t>
                      </a:r>
                    </a:p>
                  </a:txBody>
                  <a:tcPr marL="66670" marR="66670" marT="44447" marB="44447" anchor="ctr">
                    <a:solidFill>
                      <a:srgbClr val="0061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1" i="0">
                          <a:solidFill>
                            <a:srgbClr val="FFFFFF"/>
                          </a:solidFill>
                          <a:effectLst/>
                          <a:latin typeface="var(--font-title)"/>
                        </a:rPr>
                        <a:t>硬件对齐率</a:t>
                      </a:r>
                    </a:p>
                  </a:txBody>
                  <a:tcPr marL="66670" marR="66670" marT="44447" marB="44447" anchor="ctr">
                    <a:solidFill>
                      <a:srgbClr val="0061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1" i="0" dirty="0">
                          <a:solidFill>
                            <a:srgbClr val="FFFFFF"/>
                          </a:solidFill>
                          <a:effectLst/>
                          <a:latin typeface="var(--font-title)"/>
                        </a:rPr>
                        <a:t>算力负荷 (MOPs)</a:t>
                      </a:r>
                    </a:p>
                  </a:txBody>
                  <a:tcPr marL="66670" marR="66670" marT="44447" marB="44447" anchor="ctr">
                    <a:solidFill>
                      <a:srgbClr val="0061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1" i="0" dirty="0">
                          <a:solidFill>
                            <a:srgbClr val="FFFFFF"/>
                          </a:solidFill>
                          <a:effectLst/>
                          <a:latin typeface="var(--font-title)"/>
                        </a:rPr>
                        <a:t>运行器件空间</a:t>
                      </a:r>
                    </a:p>
                  </a:txBody>
                  <a:tcPr marL="66670" marR="66670" marT="44447" marB="44447" anchor="ctr">
                    <a:solidFill>
                      <a:srgbClr val="0061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037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 dirty="0">
                          <a:solidFill>
                            <a:srgbClr val="1815B0"/>
                          </a:solidFill>
                          <a:effectLst/>
                          <a:latin typeface="DM Sans" pitchFamily="2" charset="0"/>
                        </a:rPr>
                        <a:t>stem</a:t>
                      </a:r>
                      <a:endParaRPr lang="zh-CN" sz="1200" b="0" i="0" dirty="0">
                        <a:solidFill>
                          <a:schemeClr val="tx1"/>
                        </a:solidFill>
                        <a:effectLst/>
                        <a:latin typeface="DM Sans" pitchFamily="2" charset="0"/>
                      </a:endParaRPr>
                    </a:p>
                  </a:txBody>
                  <a:tcPr marL="66670" marR="66670" marT="44447" marB="44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 dirty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Conv 3→8, 1×1</a:t>
                      </a:r>
                    </a:p>
                  </a:txBody>
                  <a:tcPr marL="66670" marR="66670" marT="44447" marB="44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 dirty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3</a:t>
                      </a:r>
                    </a:p>
                  </a:txBody>
                  <a:tcPr marL="66670" marR="66670" marT="44447" marB="44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 dirty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37.5%</a:t>
                      </a:r>
                    </a:p>
                  </a:txBody>
                  <a:tcPr marL="66670" marR="66670" marT="44447" marB="44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 dirty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0.098 MOPs</a:t>
                      </a:r>
                    </a:p>
                  </a:txBody>
                  <a:tcPr marL="66670" marR="66670" marT="44447" marB="44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电计算 (FP32)</a:t>
                      </a:r>
                    </a:p>
                  </a:txBody>
                  <a:tcPr marL="66670" marR="66670" marT="44447" marB="44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037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>
                          <a:solidFill>
                            <a:srgbClr val="1815B0"/>
                          </a:solidFill>
                          <a:effectLst/>
                          <a:latin typeface="DM Sans" pitchFamily="2" charset="0"/>
                        </a:rPr>
                        <a:t>stage1</a:t>
                      </a:r>
                      <a:endParaRPr lang="zh-CN" sz="1200" b="0" i="0">
                        <a:solidFill>
                          <a:schemeClr val="tx1"/>
                        </a:solidFill>
                        <a:effectLst/>
                        <a:latin typeface="DM Sans" pitchFamily="2" charset="0"/>
                      </a:endParaRPr>
                    </a:p>
                  </a:txBody>
                  <a:tcPr marL="66670" marR="66670" marT="44447" marB="4444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 dirty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Conv 8→16, 2×2</a:t>
                      </a:r>
                    </a:p>
                  </a:txBody>
                  <a:tcPr marL="66670" marR="66670" marT="44447" marB="4444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32</a:t>
                      </a:r>
                    </a:p>
                  </a:txBody>
                  <a:tcPr marL="66670" marR="66670" marT="44447" marB="4444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 dirty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100.0%</a:t>
                      </a:r>
                    </a:p>
                  </a:txBody>
                  <a:tcPr marL="66670" marR="66670" marT="44447" marB="4444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 dirty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0.524 MOPs</a:t>
                      </a:r>
                    </a:p>
                  </a:txBody>
                  <a:tcPr marL="66670" marR="66670" marT="44447" marB="4444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 dirty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光子核心 (int8)</a:t>
                      </a:r>
                    </a:p>
                  </a:txBody>
                  <a:tcPr marL="66670" marR="66670" marT="44447" marB="4444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4F8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6037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>
                          <a:solidFill>
                            <a:srgbClr val="1815B0"/>
                          </a:solidFill>
                          <a:effectLst/>
                          <a:latin typeface="DM Sans" pitchFamily="2" charset="0"/>
                        </a:rPr>
                        <a:t>stage2</a:t>
                      </a:r>
                      <a:endParaRPr lang="zh-CN" sz="1200" b="0" i="0">
                        <a:solidFill>
                          <a:schemeClr val="tx1"/>
                        </a:solidFill>
                        <a:effectLst/>
                        <a:latin typeface="DM Sans" pitchFamily="2" charset="0"/>
                      </a:endParaRPr>
                    </a:p>
                  </a:txBody>
                  <a:tcPr marL="66670" marR="66670" marT="44447" marB="44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 dirty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Conv 16→32, 2×2</a:t>
                      </a:r>
                    </a:p>
                  </a:txBody>
                  <a:tcPr marL="66670" marR="66670" marT="44447" marB="44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 dirty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64</a:t>
                      </a:r>
                    </a:p>
                  </a:txBody>
                  <a:tcPr marL="66670" marR="66670" marT="44447" marB="44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100.0%</a:t>
                      </a:r>
                    </a:p>
                  </a:txBody>
                  <a:tcPr marL="66670" marR="66670" marT="44447" marB="44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 dirty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0.131 MOPs</a:t>
                      </a:r>
                    </a:p>
                  </a:txBody>
                  <a:tcPr marL="66670" marR="66670" marT="44447" marB="44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光子核心 (int8)</a:t>
                      </a:r>
                    </a:p>
                  </a:txBody>
                  <a:tcPr marL="66670" marR="66670" marT="44447" marB="44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6037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>
                          <a:solidFill>
                            <a:srgbClr val="1815B0"/>
                          </a:solidFill>
                          <a:effectLst/>
                          <a:latin typeface="DM Sans" pitchFamily="2" charset="0"/>
                        </a:rPr>
                        <a:t>stage3</a:t>
                      </a:r>
                      <a:endParaRPr lang="zh-CN" sz="1200" b="0" i="0">
                        <a:solidFill>
                          <a:schemeClr val="tx1"/>
                        </a:solidFill>
                        <a:effectLst/>
                        <a:latin typeface="DM Sans" pitchFamily="2" charset="0"/>
                      </a:endParaRPr>
                    </a:p>
                  </a:txBody>
                  <a:tcPr marL="66670" marR="66670" marT="44447" marB="4444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 dirty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Conv 32→16, 1×1</a:t>
                      </a:r>
                    </a:p>
                  </a:txBody>
                  <a:tcPr marL="66670" marR="66670" marT="44447" marB="4444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 dirty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32</a:t>
                      </a:r>
                    </a:p>
                  </a:txBody>
                  <a:tcPr marL="66670" marR="66670" marT="44447" marB="4444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 dirty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100.0%</a:t>
                      </a:r>
                    </a:p>
                  </a:txBody>
                  <a:tcPr marL="66670" marR="66670" marT="44447" marB="4444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 dirty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0.033 MOPs</a:t>
                      </a:r>
                    </a:p>
                  </a:txBody>
                  <a:tcPr marL="66670" marR="66670" marT="44447" marB="4444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光子核心 (int8)</a:t>
                      </a:r>
                    </a:p>
                  </a:txBody>
                  <a:tcPr marL="66670" marR="66670" marT="44447" marB="4444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4F8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6037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>
                          <a:solidFill>
                            <a:srgbClr val="1815B0"/>
                          </a:solidFill>
                          <a:effectLst/>
                          <a:latin typeface="DM Sans" pitchFamily="2" charset="0"/>
                        </a:rPr>
                        <a:t>fc1</a:t>
                      </a:r>
                      <a:endParaRPr lang="zh-CN" sz="1200" b="0" i="0">
                        <a:solidFill>
                          <a:schemeClr val="tx1"/>
                        </a:solidFill>
                        <a:effectLst/>
                        <a:latin typeface="DM Sans" pitchFamily="2" charset="0"/>
                      </a:endParaRPr>
                    </a:p>
                  </a:txBody>
                  <a:tcPr marL="66670" marR="66670" marT="44447" marB="44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Linear 1024→256</a:t>
                      </a:r>
                    </a:p>
                  </a:txBody>
                  <a:tcPr marL="66670" marR="66670" marT="44447" marB="44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1024</a:t>
                      </a:r>
                    </a:p>
                  </a:txBody>
                  <a:tcPr marL="66670" marR="66670" marT="44447" marB="44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100.0%</a:t>
                      </a:r>
                    </a:p>
                  </a:txBody>
                  <a:tcPr marL="66670" marR="66670" marT="44447" marB="44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 dirty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0.262 MOPs</a:t>
                      </a:r>
                    </a:p>
                  </a:txBody>
                  <a:tcPr marL="66670" marR="66670" marT="44447" marB="44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光子核心 (int8)</a:t>
                      </a:r>
                    </a:p>
                  </a:txBody>
                  <a:tcPr marL="66670" marR="66670" marT="44447" marB="44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6037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>
                          <a:solidFill>
                            <a:srgbClr val="1815B0"/>
                          </a:solidFill>
                          <a:effectLst/>
                          <a:latin typeface="DM Sans" pitchFamily="2" charset="0"/>
                        </a:rPr>
                        <a:t>fc2</a:t>
                      </a:r>
                      <a:endParaRPr lang="zh-CN" sz="1200" b="0" i="0">
                        <a:solidFill>
                          <a:schemeClr val="tx1"/>
                        </a:solidFill>
                        <a:effectLst/>
                        <a:latin typeface="DM Sans" pitchFamily="2" charset="0"/>
                      </a:endParaRPr>
                    </a:p>
                  </a:txBody>
                  <a:tcPr marL="66670" marR="66670" marT="44447" marB="4444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 dirty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Linear 256→10</a:t>
                      </a:r>
                    </a:p>
                  </a:txBody>
                  <a:tcPr marL="66670" marR="66670" marT="44447" marB="4444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256</a:t>
                      </a:r>
                    </a:p>
                  </a:txBody>
                  <a:tcPr marL="66670" marR="66670" marT="44447" marB="4444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100.0%</a:t>
                      </a:r>
                    </a:p>
                  </a:txBody>
                  <a:tcPr marL="66670" marR="66670" marT="44447" marB="4444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 dirty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0.003 MOPs</a:t>
                      </a:r>
                    </a:p>
                  </a:txBody>
                  <a:tcPr marL="66670" marR="66670" marT="44447" marB="4444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 dirty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光子核心 (int8)</a:t>
                      </a:r>
                    </a:p>
                  </a:txBody>
                  <a:tcPr marL="66670" marR="66670" marT="44447" marB="4444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4F8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013279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 dirty="0">
                          <a:solidFill>
                            <a:srgbClr val="1815B0"/>
                          </a:solidFill>
                          <a:effectLst/>
                          <a:latin typeface="DM Sans" pitchFamily="2" charset="0"/>
                        </a:rPr>
                        <a:t>整机</a:t>
                      </a:r>
                      <a:endParaRPr lang="en-US" altLang="zh-CN" sz="1200" b="0" i="0" dirty="0">
                        <a:solidFill>
                          <a:srgbClr val="1815B0"/>
                        </a:solidFill>
                        <a:effectLst/>
                        <a:latin typeface="DM Sans" pitchFamily="2" charset="0"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zh-CN" sz="1200" b="0" i="0" dirty="0">
                          <a:solidFill>
                            <a:srgbClr val="1815B0"/>
                          </a:solidFill>
                          <a:effectLst/>
                          <a:latin typeface="DM Sans" pitchFamily="2" charset="0"/>
                        </a:rPr>
                        <a:t>合并</a:t>
                      </a:r>
                    </a:p>
                  </a:txBody>
                  <a:tcPr marL="66670" marR="66670" marT="44447" marB="44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-</a:t>
                      </a:r>
                    </a:p>
                  </a:txBody>
                  <a:tcPr marL="66670" marR="66670" marT="44447" marB="44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-</a:t>
                      </a:r>
                    </a:p>
                  </a:txBody>
                  <a:tcPr marL="66670" marR="66670" marT="44447" marB="44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99.6%</a:t>
                      </a:r>
                    </a:p>
                  </a:txBody>
                  <a:tcPr marL="66670" marR="66670" marT="44447" marB="44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 dirty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1.051 MOPs</a:t>
                      </a:r>
                    </a:p>
                  </a:txBody>
                  <a:tcPr marL="66670" marR="66670" marT="44447" marB="44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 dirty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光: 0.953M  电: 0.098M</a:t>
                      </a:r>
                    </a:p>
                  </a:txBody>
                  <a:tcPr marL="66670" marR="66670" marT="44447" marB="44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3" name="FooterR"/>
          <p:cNvSpPr>
            <a:spLocks noGrp="1"/>
          </p:cNvSpPr>
          <p:nvPr/>
        </p:nvSpPr>
        <p:spPr>
          <a:xfrm>
            <a:off x="10058400" y="6492240"/>
            <a:ext cx="1737360" cy="274320"/>
          </a:xfrm>
          <a:prstGeom prst="rect">
            <a:avLst/>
          </a:prstGeom>
        </p:spPr>
        <p:txBody>
          <a:bodyPr wrap="none" rtlCol="0" anchor="ctr"/>
          <a:lstStyle/>
          <a:p>
            <a:pPr algn="r"/>
            <a:r>
              <a:rPr lang="zh-CN" sz="1000" dirty="0">
                <a:solidFill>
                  <a:srgbClr val="8A99AD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1</a:t>
            </a:r>
            <a:r>
              <a:rPr lang="en-US" altLang="zh-CN" sz="1000" dirty="0">
                <a:solidFill>
                  <a:srgbClr val="8A99AD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3</a:t>
            </a:r>
            <a:r>
              <a:rPr lang="zh-CN" sz="1000" dirty="0">
                <a:solidFill>
                  <a:srgbClr val="8A99AD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/ 1</a:t>
            </a:r>
            <a:r>
              <a:rPr lang="en-US" altLang="zh-CN" sz="1000" dirty="0">
                <a:solidFill>
                  <a:srgbClr val="8A99AD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7</a:t>
            </a:r>
            <a:endParaRPr lang="zh-CN" sz="1000" dirty="0">
              <a:solidFill>
                <a:srgbClr val="8A99AD"/>
              </a:solidFill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76" y="960790"/>
            <a:ext cx="6667261" cy="3055827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6382011" y="59617"/>
            <a:ext cx="5870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lang="zh-CN" altLang="zh-CN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2/3 (遥感特征图 64×64) 逐层物理相干计算量分布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A10EA531-ED32-8CE8-CF0F-71B87AAE13F4}"/>
              </a:ext>
            </a:extLst>
          </p:cNvPr>
          <p:cNvGrpSpPr/>
          <p:nvPr/>
        </p:nvGrpSpPr>
        <p:grpSpPr>
          <a:xfrm>
            <a:off x="254790" y="4143527"/>
            <a:ext cx="6474443" cy="2502354"/>
            <a:chOff x="254790" y="4143527"/>
            <a:chExt cx="6474443" cy="2502354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6F3F275F-8BB0-49CE-AEBB-757BF20517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4790" y="4143527"/>
              <a:ext cx="6474443" cy="2502354"/>
            </a:xfrm>
            <a:prstGeom prst="rect">
              <a:avLst/>
            </a:prstGeom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1B369BD5-7ABF-6AEC-C365-98553C63DB6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78931" y="5860388"/>
              <a:ext cx="685835" cy="172197"/>
            </a:xfrm>
            <a:prstGeom prst="rect">
              <a:avLst/>
            </a:prstGeom>
          </p:spPr>
        </p:pic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520870" y="7103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3200" b="1" dirty="0">
                <a:solidFill>
                  <a:srgbClr val="006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验证闭环</a:t>
            </a:r>
            <a:endParaRPr lang="zh-CN" altLang="en-US" sz="3200" b="1" dirty="0">
              <a:solidFill>
                <a:srgbClr val="0061E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0" name="Card"/>
          <p:cNvSpPr>
            <a:spLocks noGrp="1"/>
          </p:cNvSpPr>
          <p:nvPr/>
        </p:nvSpPr>
        <p:spPr>
          <a:xfrm>
            <a:off x="613519" y="1471960"/>
            <a:ext cx="5482480" cy="3910641"/>
          </a:xfrm>
          <a:prstGeom prst="roundRect">
            <a:avLst>
              <a:gd name="adj" fmla="val 4500"/>
            </a:avLst>
          </a:prstGeom>
          <a:solidFill>
            <a:srgbClr val="E7F1FD"/>
          </a:solidFill>
          <a:ln w="9525">
            <a:solidFill>
              <a:srgbClr val="C9DCF5"/>
            </a:solidFill>
          </a:ln>
          <a:effectLst>
            <a:outerShdw blurRad="38100" dist="19050" dir="5400000" rotWithShape="0">
              <a:srgbClr val="9FB3D4">
                <a:alpha val="30000"/>
              </a:srgbClr>
            </a:outerShdw>
          </a:effectLst>
        </p:spPr>
        <p:txBody>
          <a:bodyPr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02888" y="1539194"/>
            <a:ext cx="5393111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验证机制</a:t>
            </a:r>
            <a:r>
              <a:rPr lang="zh-CN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（双级闭环）</a:t>
            </a:r>
            <a:br>
              <a:rPr lang="zh-CN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秒级QAT仿真 ⇄ 数小时模拟器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实测</a:t>
            </a:r>
            <a:endParaRPr lang="zh-CN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抗噪精度</a:t>
            </a:r>
            <a:br>
              <a:rPr lang="zh-CN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预注入标定噪声，实际光计算较QAT回撤极小（M2 ↓1.63%，M3 ↓1.55%）</a:t>
            </a:r>
            <a:br>
              <a:rPr lang="zh-CN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消融对比</a:t>
            </a:r>
            <a:br>
              <a:rPr lang="zh-CN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蒸馏M3（90.28%） vs 无蒸馏M2（90.43%）</a:t>
            </a:r>
            <a:br>
              <a:rPr lang="zh-CN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 无统计显著性差异</a:t>
            </a:r>
          </a:p>
          <a:p>
            <a:r>
              <a:rPr lang="zh-CN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根本归因</a:t>
            </a:r>
            <a:br>
              <a:rPr lang="zh-CN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鲁棒性源于训练中适应物理噪声，而非高维教师网络拟合</a:t>
            </a:r>
          </a:p>
          <a:p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1" name="FooterL"/>
          <p:cNvSpPr>
            <a:spLocks noGrp="1"/>
          </p:cNvSpPr>
          <p:nvPr/>
        </p:nvSpPr>
        <p:spPr>
          <a:xfrm>
            <a:off x="411480" y="6492240"/>
            <a:ext cx="7772400" cy="274320"/>
          </a:xfrm>
          <a:prstGeom prst="rect">
            <a:avLst/>
          </a:prstGeom>
        </p:spPr>
        <p:txBody>
          <a:bodyPr wrap="none" rtlCol="0" anchor="ctr"/>
          <a:lstStyle/>
          <a:p>
            <a:pPr algn="l"/>
            <a:r>
              <a:rPr lang="zh-CN" sz="1000">
                <a:solidFill>
                  <a:srgbClr val="8A99AD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Optic-SpaceNet · 光学 CNN 在轨加速系统</a:t>
            </a:r>
          </a:p>
        </p:txBody>
      </p:sp>
      <p:sp>
        <p:nvSpPr>
          <p:cNvPr id="313" name="FooterR"/>
          <p:cNvSpPr>
            <a:spLocks noGrp="1"/>
          </p:cNvSpPr>
          <p:nvPr/>
        </p:nvSpPr>
        <p:spPr>
          <a:xfrm>
            <a:off x="10058400" y="6492240"/>
            <a:ext cx="1737360" cy="274320"/>
          </a:xfrm>
          <a:prstGeom prst="rect">
            <a:avLst/>
          </a:prstGeom>
        </p:spPr>
        <p:txBody>
          <a:bodyPr wrap="none" rtlCol="0" anchor="ctr"/>
          <a:lstStyle/>
          <a:p>
            <a:pPr algn="r"/>
            <a:r>
              <a:rPr lang="zh-CN" sz="1000" dirty="0">
                <a:solidFill>
                  <a:srgbClr val="8A99AD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1</a:t>
            </a:r>
            <a:r>
              <a:rPr lang="en-US" altLang="zh-CN" sz="1000" dirty="0">
                <a:solidFill>
                  <a:srgbClr val="8A99AD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4 </a:t>
            </a:r>
            <a:r>
              <a:rPr lang="zh-CN" sz="1000" dirty="0">
                <a:solidFill>
                  <a:srgbClr val="8A99AD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/ 1</a:t>
            </a:r>
            <a:r>
              <a:rPr lang="en-US" altLang="zh-CN" sz="1000" dirty="0">
                <a:solidFill>
                  <a:srgbClr val="8A99AD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7</a:t>
            </a:r>
            <a:endParaRPr lang="zh-CN" sz="1000" dirty="0">
              <a:solidFill>
                <a:srgbClr val="8A99AD"/>
              </a:solidFill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135194" y="806828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006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可视化前端</a:t>
            </a:r>
            <a:endParaRPr lang="en-US" altLang="zh-CN" sz="3200" b="1" dirty="0">
              <a:solidFill>
                <a:srgbClr val="0061E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4541" y="1684860"/>
            <a:ext cx="5852738" cy="34882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0810"/>
            <a:ext cx="558829" cy="1181161"/>
          </a:xfrm>
          <a:prstGeom prst="rect">
            <a:avLst/>
          </a:prstGeom>
        </p:spPr>
      </p:pic>
      <p:pic>
        <p:nvPicPr>
          <p:cNvPr id="10" name="图片 9" descr="集创赛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2635" y="-235470"/>
            <a:ext cx="1486038" cy="92877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86626" y="414549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59948" y="227275"/>
            <a:ext cx="55194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3200" b="1" dirty="0">
                <a:solidFill>
                  <a:srgbClr val="006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计算效率与在轨部署决策分析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45424" y="1170351"/>
            <a:ext cx="45448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轻量化降维打击：破除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卫</a:t>
            </a:r>
            <a:r>
              <a:rPr lang="zh-CN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星上电能瓶颈</a:t>
            </a:r>
          </a:p>
          <a:p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45091" y="1595710"/>
            <a:ext cx="4544833" cy="2183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2/3 推理开销</a:t>
            </a:r>
            <a:endParaRPr lang="en-US" altLang="zh-CN" cap="al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zh-CN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1.05 MOPs</a:t>
            </a:r>
            <a:r>
              <a:rPr lang="en-US" altLang="zh-CN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≈ 10</a:t>
            </a:r>
            <a:r>
              <a:rPr lang="en-US" altLang="zh-CN" sz="3200" b="1" baseline="30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-3 </a:t>
            </a:r>
            <a:r>
              <a:rPr lang="en-US" altLang="zh-CN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GOPS</a:t>
            </a:r>
            <a:endParaRPr lang="zh-CN" altLang="zh-CN" sz="32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参数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量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仅 </a:t>
            </a:r>
            <a:r>
              <a:rPr lang="zh-CN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268K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，高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度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适应低负荷在轨载荷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按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2.6 MOPs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计算的理论上板运行速度</a:t>
            </a:r>
          </a:p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理论上推理一张图片</a:t>
            </a:r>
            <a:r>
              <a:rPr lang="en-US" altLang="zh-CN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0.4s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162987" y="5467857"/>
            <a:ext cx="879405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Model 1 (VGG Baseline)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无</a:t>
            </a:r>
            <a:r>
              <a:rPr lang="zh-C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在轨实际可行性：</a:t>
            </a:r>
          </a:p>
          <a:p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单张图像耗算高达 156.6M MOPs (上板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约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60s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)。仿真推理单张高达 150 秒，跑完测试集累计需要 9 天！其功耗与时延远超在轨资源上限，根本无法搭载上天。</a:t>
            </a:r>
          </a:p>
        </p:txBody>
      </p:sp>
      <p:sp>
        <p:nvSpPr>
          <p:cNvPr id="113" name="FooterR"/>
          <p:cNvSpPr>
            <a:spLocks noGrp="1"/>
          </p:cNvSpPr>
          <p:nvPr/>
        </p:nvSpPr>
        <p:spPr>
          <a:xfrm>
            <a:off x="10058400" y="6492240"/>
            <a:ext cx="1737360" cy="274320"/>
          </a:xfrm>
          <a:prstGeom prst="rect">
            <a:avLst/>
          </a:prstGeom>
        </p:spPr>
        <p:txBody>
          <a:bodyPr wrap="none" rtlCol="0" anchor="ctr"/>
          <a:lstStyle/>
          <a:p>
            <a:pPr algn="r"/>
            <a:r>
              <a:rPr lang="zh-CN" sz="1000" dirty="0">
                <a:solidFill>
                  <a:srgbClr val="8A99AD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1</a:t>
            </a:r>
            <a:r>
              <a:rPr lang="en-US" altLang="zh-CN" sz="1000" dirty="0">
                <a:solidFill>
                  <a:srgbClr val="8A99AD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5</a:t>
            </a:r>
            <a:r>
              <a:rPr lang="zh-CN" sz="1000" dirty="0">
                <a:solidFill>
                  <a:srgbClr val="8A99AD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/ 1</a:t>
            </a:r>
            <a:r>
              <a:rPr lang="en-US" altLang="zh-CN" sz="1000" dirty="0">
                <a:solidFill>
                  <a:srgbClr val="8A99AD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7</a:t>
            </a:r>
            <a:endParaRPr lang="zh-CN" sz="1000" dirty="0">
              <a:solidFill>
                <a:srgbClr val="8A99AD"/>
              </a:solidFill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79414" y="3801505"/>
            <a:ext cx="350929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全量</a:t>
            </a:r>
            <a:r>
              <a:rPr lang="zh-CN" altLang="en-US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模拟</a:t>
            </a:r>
            <a:r>
              <a:rPr lang="zh-CN" altLang="zh-CN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耗时</a:t>
            </a:r>
            <a:endParaRPr lang="en-US" altLang="zh-CN" cap="al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~</a:t>
            </a:r>
            <a:r>
              <a:rPr lang="zh-CN" altLang="zh-CN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3.7 小时</a:t>
            </a:r>
            <a:endParaRPr lang="en-US" altLang="zh-CN" sz="32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累积调用物理芯片引擎 27,000 次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（5 光计算层 × 5400 张）</a:t>
            </a:r>
            <a:endParaRPr lang="zh-C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2786" y="538717"/>
            <a:ext cx="7274123" cy="5033600"/>
          </a:xfrm>
          <a:prstGeom prst="rect">
            <a:avLst/>
          </a:prstGeom>
        </p:spPr>
      </p:pic>
      <p:sp>
        <p:nvSpPr>
          <p:cNvPr id="18" name="FooterL"/>
          <p:cNvSpPr>
            <a:spLocks noGrp="1"/>
          </p:cNvSpPr>
          <p:nvPr/>
        </p:nvSpPr>
        <p:spPr>
          <a:xfrm>
            <a:off x="411480" y="6492240"/>
            <a:ext cx="7772400" cy="274320"/>
          </a:xfrm>
          <a:prstGeom prst="rect">
            <a:avLst/>
          </a:prstGeom>
        </p:spPr>
        <p:txBody>
          <a:bodyPr wrap="none" rtlCol="0" anchor="ctr"/>
          <a:lstStyle/>
          <a:p>
            <a:pPr algn="l"/>
            <a:r>
              <a:rPr lang="zh-CN" sz="1000">
                <a:solidFill>
                  <a:srgbClr val="8A99AD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Optic-SpaceNet · 光学 CNN 在轨加速系统</a:t>
            </a: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0810"/>
            <a:ext cx="558829" cy="1181161"/>
          </a:xfrm>
          <a:prstGeom prst="rect">
            <a:avLst/>
          </a:prstGeom>
        </p:spPr>
      </p:pic>
      <p:pic>
        <p:nvPicPr>
          <p:cNvPr id="22" name="图片 21" descr="集创赛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2635" y="-235470"/>
            <a:ext cx="1486038" cy="92877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rd"/>
          <p:cNvSpPr>
            <a:spLocks noGrp="1"/>
          </p:cNvSpPr>
          <p:nvPr/>
        </p:nvSpPr>
        <p:spPr>
          <a:xfrm>
            <a:off x="396241" y="5283877"/>
            <a:ext cx="11295016" cy="954107"/>
          </a:xfrm>
          <a:prstGeom prst="roundRect">
            <a:avLst>
              <a:gd name="adj" fmla="val 4500"/>
            </a:avLst>
          </a:pr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  <a:gs pos="26000">
                <a:schemeClr val="accent5">
                  <a:lumMod val="40000"/>
                  <a:lumOff val="60000"/>
                </a:schemeClr>
              </a:gs>
              <a:gs pos="88000">
                <a:schemeClr val="accent4">
                  <a:lumMod val="20000"/>
                  <a:lumOff val="80000"/>
                </a:schemeClr>
              </a:gs>
              <a:gs pos="64000">
                <a:schemeClr val="accent6">
                  <a:lumMod val="60000"/>
                  <a:lumOff val="4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800000" scaled="0"/>
          </a:gradFill>
          <a:ln w="9525">
            <a:solidFill>
              <a:srgbClr val="C9DCF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64546" y="304205"/>
            <a:ext cx="5519460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3200" b="1" dirty="0">
                <a:solidFill>
                  <a:srgbClr val="0061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系统成果总结与未来在轨展望</a:t>
            </a:r>
          </a:p>
          <a:p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945037" y="903461"/>
            <a:ext cx="4123636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未来在轨展望中，我们将以多阶段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混合分割策略</a:t>
            </a: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为核心，动态权衡光电计算配比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结合硬件在环闭环训练持续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降低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物理偏差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最终实现星载光学遥感数据的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端到端实时语义分割</a:t>
            </a: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，打通从地面训练到太空推理的全链路闭环，为高时效、低功耗的星上智能感知提供可靠支撑。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" name="FooterL"/>
          <p:cNvSpPr>
            <a:spLocks noGrp="1"/>
          </p:cNvSpPr>
          <p:nvPr/>
        </p:nvSpPr>
        <p:spPr>
          <a:xfrm>
            <a:off x="411480" y="6492240"/>
            <a:ext cx="7772400" cy="274320"/>
          </a:xfrm>
          <a:prstGeom prst="rect">
            <a:avLst/>
          </a:prstGeom>
        </p:spPr>
        <p:txBody>
          <a:bodyPr wrap="none" rtlCol="0" anchor="ctr"/>
          <a:lstStyle/>
          <a:p>
            <a:pPr algn="l"/>
            <a:r>
              <a:rPr lang="zh-CN" sz="1000">
                <a:solidFill>
                  <a:srgbClr val="8A99AD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Optic-SpaceNet · 光学 CNN 在轨加速系统</a:t>
            </a:r>
          </a:p>
        </p:txBody>
      </p:sp>
      <p:sp>
        <p:nvSpPr>
          <p:cNvPr id="113" name="FooterR"/>
          <p:cNvSpPr>
            <a:spLocks noGrp="1"/>
          </p:cNvSpPr>
          <p:nvPr/>
        </p:nvSpPr>
        <p:spPr>
          <a:xfrm>
            <a:off x="10058400" y="6492240"/>
            <a:ext cx="1737360" cy="274320"/>
          </a:xfrm>
          <a:prstGeom prst="rect">
            <a:avLst/>
          </a:prstGeom>
        </p:spPr>
        <p:txBody>
          <a:bodyPr wrap="none" rtlCol="0" anchor="ctr"/>
          <a:lstStyle/>
          <a:p>
            <a:pPr algn="r"/>
            <a:r>
              <a:rPr lang="zh-CN" sz="1000" dirty="0">
                <a:solidFill>
                  <a:srgbClr val="8A99AD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1</a:t>
            </a:r>
            <a:r>
              <a:rPr lang="en-US" altLang="zh-CN" sz="1000" dirty="0">
                <a:solidFill>
                  <a:srgbClr val="8A99AD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6</a:t>
            </a:r>
            <a:r>
              <a:rPr lang="zh-CN" sz="1000" dirty="0">
                <a:solidFill>
                  <a:srgbClr val="8A99AD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/ 1</a:t>
            </a:r>
            <a:r>
              <a:rPr lang="en-US" altLang="zh-CN" sz="1000" dirty="0">
                <a:solidFill>
                  <a:srgbClr val="8A99AD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7</a:t>
            </a:r>
            <a:endParaRPr lang="zh-CN" sz="1000" dirty="0">
              <a:solidFill>
                <a:srgbClr val="8A99AD"/>
              </a:solidFill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3031615"/>
              </p:ext>
            </p:extLst>
          </p:nvPr>
        </p:nvGraphicFramePr>
        <p:xfrm>
          <a:off x="907172" y="948574"/>
          <a:ext cx="6951730" cy="3695426"/>
        </p:xfrm>
        <a:graphic>
          <a:graphicData uri="http://schemas.openxmlformats.org/drawingml/2006/table">
            <a:tbl>
              <a:tblPr/>
              <a:tblGrid>
                <a:gridCol w="14878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00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0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032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670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b="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指标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b="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b="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b="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060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光计算</a:t>
                      </a:r>
                      <a:endParaRPr lang="en-US" altLang="zh-CN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zh-CN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占比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b="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97.74%</a:t>
                      </a:r>
                      <a:endParaRPr lang="en-US" altLang="zh-CN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2000" b="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73.64%</a:t>
                      </a:r>
                      <a:endParaRPr lang="zh-CN" sz="2000" b="0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90.65%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90.65%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0424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光计算精度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b="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98.15%</a:t>
                      </a:r>
                      <a:endParaRPr lang="en-US" altLang="zh-CN" sz="2000" b="0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zh-CN" sz="2000" b="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（q650）</a:t>
                      </a:r>
                      <a:endParaRPr lang="en-US" altLang="zh-CN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97.54%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2000" b="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（q650）</a:t>
                      </a:r>
                      <a:endParaRPr lang="en-US" altLang="zh-CN" sz="2000" b="0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90.43%</a:t>
                      </a:r>
                      <a:endParaRPr lang="en-US" altLang="zh-CN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zh-CN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（全量5400）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90.28%</a:t>
                      </a:r>
                      <a:endParaRPr lang="en-US" altLang="zh-CN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zh-CN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（全量5400）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670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参数量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2.39M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268K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268K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033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总 MOPs/张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156.6M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1.05M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1.05M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463534" y="4744141"/>
            <a:ext cx="783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褐色为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model1 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变体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    </a:t>
            </a:r>
            <a:r>
              <a:rPr lang="zh-CN" altLang="en-US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深绿色为</a:t>
            </a:r>
            <a:r>
              <a:rPr lang="en-US" altLang="zh-CN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model1 </a:t>
            </a:r>
            <a:r>
              <a:rPr lang="zh-CN" altLang="en-US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变体</a:t>
            </a:r>
            <a:r>
              <a:rPr lang="en-US" altLang="zh-CN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 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q650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表示测试集跑了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650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张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0810"/>
            <a:ext cx="558829" cy="1181161"/>
          </a:xfrm>
          <a:prstGeom prst="rect">
            <a:avLst/>
          </a:prstGeom>
        </p:spPr>
      </p:pic>
      <p:pic>
        <p:nvPicPr>
          <p:cNvPr id="11" name="图片 10" descr="集创赛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2635" y="-235470"/>
            <a:ext cx="1486038" cy="928774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49630" y="5494655"/>
            <a:ext cx="10460990" cy="6311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总结：模型</a:t>
            </a:r>
            <a:r>
              <a:rPr lang="zh-CN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极致轻量化</a:t>
            </a:r>
            <a:r>
              <a:rPr 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，充分适配</a:t>
            </a:r>
            <a:r>
              <a:rPr lang="zh-CN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光计算，具备在轨应用可行性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3964446" y="1356258"/>
            <a:ext cx="5789541" cy="3170265"/>
            <a:chOff x="2855913" y="-477838"/>
            <a:chExt cx="5757862" cy="2501900"/>
          </a:xfrm>
          <a:solidFill>
            <a:schemeClr val="accent3"/>
          </a:solidFill>
        </p:grpSpPr>
        <p:sp>
          <p:nvSpPr>
            <p:cNvPr id="10" name="Freeform 5"/>
            <p:cNvSpPr/>
            <p:nvPr userDrawn="1"/>
          </p:nvSpPr>
          <p:spPr bwMode="auto">
            <a:xfrm>
              <a:off x="2855913" y="76200"/>
              <a:ext cx="1317625" cy="1687513"/>
            </a:xfrm>
            <a:custGeom>
              <a:avLst/>
              <a:gdLst>
                <a:gd name="T0" fmla="*/ 557 w 702"/>
                <a:gd name="T1" fmla="*/ 136 h 898"/>
                <a:gd name="T2" fmla="*/ 681 w 702"/>
                <a:gd name="T3" fmla="*/ 72 h 898"/>
                <a:gd name="T4" fmla="*/ 700 w 702"/>
                <a:gd name="T5" fmla="*/ 55 h 898"/>
                <a:gd name="T6" fmla="*/ 673 w 702"/>
                <a:gd name="T7" fmla="*/ 31 h 898"/>
                <a:gd name="T8" fmla="*/ 656 w 702"/>
                <a:gd name="T9" fmla="*/ 16 h 898"/>
                <a:gd name="T10" fmla="*/ 569 w 702"/>
                <a:gd name="T11" fmla="*/ 21 h 898"/>
                <a:gd name="T12" fmla="*/ 286 w 702"/>
                <a:gd name="T13" fmla="*/ 79 h 898"/>
                <a:gd name="T14" fmla="*/ 38 w 702"/>
                <a:gd name="T15" fmla="*/ 130 h 898"/>
                <a:gd name="T16" fmla="*/ 4 w 702"/>
                <a:gd name="T17" fmla="*/ 193 h 898"/>
                <a:gd name="T18" fmla="*/ 34 w 702"/>
                <a:gd name="T19" fmla="*/ 231 h 898"/>
                <a:gd name="T20" fmla="*/ 216 w 702"/>
                <a:gd name="T21" fmla="*/ 210 h 898"/>
                <a:gd name="T22" fmla="*/ 381 w 702"/>
                <a:gd name="T23" fmla="*/ 176 h 898"/>
                <a:gd name="T24" fmla="*/ 374 w 702"/>
                <a:gd name="T25" fmla="*/ 216 h 898"/>
                <a:gd name="T26" fmla="*/ 351 w 702"/>
                <a:gd name="T27" fmla="*/ 487 h 898"/>
                <a:gd name="T28" fmla="*/ 338 w 702"/>
                <a:gd name="T29" fmla="*/ 716 h 898"/>
                <a:gd name="T30" fmla="*/ 329 w 702"/>
                <a:gd name="T31" fmla="*/ 755 h 898"/>
                <a:gd name="T32" fmla="*/ 350 w 702"/>
                <a:gd name="T33" fmla="*/ 771 h 898"/>
                <a:gd name="T34" fmla="*/ 350 w 702"/>
                <a:gd name="T35" fmla="*/ 799 h 898"/>
                <a:gd name="T36" fmla="*/ 345 w 702"/>
                <a:gd name="T37" fmla="*/ 843 h 898"/>
                <a:gd name="T38" fmla="*/ 358 w 702"/>
                <a:gd name="T39" fmla="*/ 840 h 898"/>
                <a:gd name="T40" fmla="*/ 397 w 702"/>
                <a:gd name="T41" fmla="*/ 885 h 898"/>
                <a:gd name="T42" fmla="*/ 402 w 702"/>
                <a:gd name="T43" fmla="*/ 896 h 898"/>
                <a:gd name="T44" fmla="*/ 412 w 702"/>
                <a:gd name="T45" fmla="*/ 870 h 898"/>
                <a:gd name="T46" fmla="*/ 427 w 702"/>
                <a:gd name="T47" fmla="*/ 828 h 898"/>
                <a:gd name="T48" fmla="*/ 444 w 702"/>
                <a:gd name="T49" fmla="*/ 704 h 898"/>
                <a:gd name="T50" fmla="*/ 534 w 702"/>
                <a:gd name="T51" fmla="*/ 164 h 898"/>
                <a:gd name="T52" fmla="*/ 557 w 702"/>
                <a:gd name="T53" fmla="*/ 136 h 8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02" h="898">
                  <a:moveTo>
                    <a:pt x="557" y="136"/>
                  </a:moveTo>
                  <a:cubicBezTo>
                    <a:pt x="599" y="117"/>
                    <a:pt x="649" y="111"/>
                    <a:pt x="681" y="72"/>
                  </a:cubicBezTo>
                  <a:cubicBezTo>
                    <a:pt x="686" y="65"/>
                    <a:pt x="702" y="68"/>
                    <a:pt x="700" y="55"/>
                  </a:cubicBezTo>
                  <a:cubicBezTo>
                    <a:pt x="698" y="40"/>
                    <a:pt x="685" y="35"/>
                    <a:pt x="673" y="31"/>
                  </a:cubicBezTo>
                  <a:cubicBezTo>
                    <a:pt x="666" y="27"/>
                    <a:pt x="680" y="0"/>
                    <a:pt x="656" y="16"/>
                  </a:cubicBezTo>
                  <a:cubicBezTo>
                    <a:pt x="627" y="16"/>
                    <a:pt x="598" y="15"/>
                    <a:pt x="569" y="21"/>
                  </a:cubicBezTo>
                  <a:cubicBezTo>
                    <a:pt x="475" y="41"/>
                    <a:pt x="380" y="60"/>
                    <a:pt x="286" y="79"/>
                  </a:cubicBezTo>
                  <a:cubicBezTo>
                    <a:pt x="203" y="96"/>
                    <a:pt x="121" y="114"/>
                    <a:pt x="38" y="130"/>
                  </a:cubicBezTo>
                  <a:cubicBezTo>
                    <a:pt x="0" y="138"/>
                    <a:pt x="7" y="167"/>
                    <a:pt x="4" y="193"/>
                  </a:cubicBezTo>
                  <a:cubicBezTo>
                    <a:pt x="1" y="216"/>
                    <a:pt x="12" y="226"/>
                    <a:pt x="34" y="231"/>
                  </a:cubicBezTo>
                  <a:cubicBezTo>
                    <a:pt x="98" y="247"/>
                    <a:pt x="156" y="221"/>
                    <a:pt x="216" y="210"/>
                  </a:cubicBezTo>
                  <a:cubicBezTo>
                    <a:pt x="271" y="201"/>
                    <a:pt x="324" y="180"/>
                    <a:pt x="381" y="176"/>
                  </a:cubicBezTo>
                  <a:cubicBezTo>
                    <a:pt x="378" y="192"/>
                    <a:pt x="375" y="204"/>
                    <a:pt x="374" y="216"/>
                  </a:cubicBezTo>
                  <a:cubicBezTo>
                    <a:pt x="362" y="306"/>
                    <a:pt x="365" y="397"/>
                    <a:pt x="351" y="487"/>
                  </a:cubicBezTo>
                  <a:cubicBezTo>
                    <a:pt x="338" y="562"/>
                    <a:pt x="341" y="640"/>
                    <a:pt x="338" y="716"/>
                  </a:cubicBezTo>
                  <a:cubicBezTo>
                    <a:pt x="335" y="729"/>
                    <a:pt x="333" y="742"/>
                    <a:pt x="329" y="755"/>
                  </a:cubicBezTo>
                  <a:cubicBezTo>
                    <a:pt x="324" y="776"/>
                    <a:pt x="336" y="774"/>
                    <a:pt x="350" y="771"/>
                  </a:cubicBezTo>
                  <a:cubicBezTo>
                    <a:pt x="345" y="781"/>
                    <a:pt x="350" y="790"/>
                    <a:pt x="350" y="799"/>
                  </a:cubicBezTo>
                  <a:cubicBezTo>
                    <a:pt x="344" y="813"/>
                    <a:pt x="341" y="829"/>
                    <a:pt x="345" y="843"/>
                  </a:cubicBezTo>
                  <a:cubicBezTo>
                    <a:pt x="349" y="859"/>
                    <a:pt x="352" y="835"/>
                    <a:pt x="358" y="840"/>
                  </a:cubicBezTo>
                  <a:cubicBezTo>
                    <a:pt x="381" y="847"/>
                    <a:pt x="379" y="875"/>
                    <a:pt x="397" y="885"/>
                  </a:cubicBezTo>
                  <a:cubicBezTo>
                    <a:pt x="397" y="889"/>
                    <a:pt x="398" y="898"/>
                    <a:pt x="402" y="896"/>
                  </a:cubicBezTo>
                  <a:cubicBezTo>
                    <a:pt x="413" y="891"/>
                    <a:pt x="411" y="879"/>
                    <a:pt x="412" y="870"/>
                  </a:cubicBezTo>
                  <a:cubicBezTo>
                    <a:pt x="424" y="858"/>
                    <a:pt x="425" y="842"/>
                    <a:pt x="427" y="828"/>
                  </a:cubicBezTo>
                  <a:cubicBezTo>
                    <a:pt x="433" y="787"/>
                    <a:pt x="438" y="745"/>
                    <a:pt x="444" y="704"/>
                  </a:cubicBezTo>
                  <a:cubicBezTo>
                    <a:pt x="467" y="523"/>
                    <a:pt x="495" y="342"/>
                    <a:pt x="534" y="164"/>
                  </a:cubicBezTo>
                  <a:cubicBezTo>
                    <a:pt x="537" y="149"/>
                    <a:pt x="541" y="143"/>
                    <a:pt x="557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1" name="Freeform 6"/>
            <p:cNvSpPr/>
            <p:nvPr userDrawn="1"/>
          </p:nvSpPr>
          <p:spPr bwMode="auto">
            <a:xfrm>
              <a:off x="5822950" y="-236538"/>
              <a:ext cx="796925" cy="1274763"/>
            </a:xfrm>
            <a:custGeom>
              <a:avLst/>
              <a:gdLst>
                <a:gd name="T0" fmla="*/ 70 w 425"/>
                <a:gd name="T1" fmla="*/ 666 h 678"/>
                <a:gd name="T2" fmla="*/ 102 w 425"/>
                <a:gd name="T3" fmla="*/ 625 h 678"/>
                <a:gd name="T4" fmla="*/ 140 w 425"/>
                <a:gd name="T5" fmla="*/ 469 h 678"/>
                <a:gd name="T6" fmla="*/ 199 w 425"/>
                <a:gd name="T7" fmla="*/ 577 h 678"/>
                <a:gd name="T8" fmla="*/ 248 w 425"/>
                <a:gd name="T9" fmla="*/ 639 h 678"/>
                <a:gd name="T10" fmla="*/ 383 w 425"/>
                <a:gd name="T11" fmla="*/ 548 h 678"/>
                <a:gd name="T12" fmla="*/ 392 w 425"/>
                <a:gd name="T13" fmla="*/ 470 h 678"/>
                <a:gd name="T14" fmla="*/ 395 w 425"/>
                <a:gd name="T15" fmla="*/ 377 h 678"/>
                <a:gd name="T16" fmla="*/ 414 w 425"/>
                <a:gd name="T17" fmla="*/ 160 h 678"/>
                <a:gd name="T18" fmla="*/ 421 w 425"/>
                <a:gd name="T19" fmla="*/ 110 h 678"/>
                <a:gd name="T20" fmla="*/ 408 w 425"/>
                <a:gd name="T21" fmla="*/ 136 h 678"/>
                <a:gd name="T22" fmla="*/ 408 w 425"/>
                <a:gd name="T23" fmla="*/ 61 h 678"/>
                <a:gd name="T24" fmla="*/ 403 w 425"/>
                <a:gd name="T25" fmla="*/ 47 h 678"/>
                <a:gd name="T26" fmla="*/ 385 w 425"/>
                <a:gd name="T27" fmla="*/ 53 h 678"/>
                <a:gd name="T28" fmla="*/ 369 w 425"/>
                <a:gd name="T29" fmla="*/ 31 h 678"/>
                <a:gd name="T30" fmla="*/ 348 w 425"/>
                <a:gd name="T31" fmla="*/ 0 h 678"/>
                <a:gd name="T32" fmla="*/ 341 w 425"/>
                <a:gd name="T33" fmla="*/ 24 h 678"/>
                <a:gd name="T34" fmla="*/ 325 w 425"/>
                <a:gd name="T35" fmla="*/ 70 h 678"/>
                <a:gd name="T36" fmla="*/ 285 w 425"/>
                <a:gd name="T37" fmla="*/ 308 h 678"/>
                <a:gd name="T38" fmla="*/ 264 w 425"/>
                <a:gd name="T39" fmla="*/ 407 h 678"/>
                <a:gd name="T40" fmla="*/ 165 w 425"/>
                <a:gd name="T41" fmla="*/ 251 h 678"/>
                <a:gd name="T42" fmla="*/ 89 w 425"/>
                <a:gd name="T43" fmla="*/ 222 h 678"/>
                <a:gd name="T44" fmla="*/ 55 w 425"/>
                <a:gd name="T45" fmla="*/ 274 h 678"/>
                <a:gd name="T46" fmla="*/ 7 w 425"/>
                <a:gd name="T47" fmla="*/ 539 h 678"/>
                <a:gd name="T48" fmla="*/ 6 w 425"/>
                <a:gd name="T49" fmla="*/ 622 h 678"/>
                <a:gd name="T50" fmla="*/ 70 w 425"/>
                <a:gd name="T51" fmla="*/ 666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25" h="678">
                  <a:moveTo>
                    <a:pt x="70" y="666"/>
                  </a:moveTo>
                  <a:cubicBezTo>
                    <a:pt x="91" y="660"/>
                    <a:pt x="97" y="641"/>
                    <a:pt x="102" y="625"/>
                  </a:cubicBezTo>
                  <a:cubicBezTo>
                    <a:pt x="115" y="575"/>
                    <a:pt x="126" y="525"/>
                    <a:pt x="140" y="469"/>
                  </a:cubicBezTo>
                  <a:cubicBezTo>
                    <a:pt x="156" y="511"/>
                    <a:pt x="186" y="537"/>
                    <a:pt x="199" y="577"/>
                  </a:cubicBezTo>
                  <a:cubicBezTo>
                    <a:pt x="206" y="598"/>
                    <a:pt x="211" y="636"/>
                    <a:pt x="248" y="639"/>
                  </a:cubicBezTo>
                  <a:cubicBezTo>
                    <a:pt x="327" y="646"/>
                    <a:pt x="360" y="624"/>
                    <a:pt x="383" y="548"/>
                  </a:cubicBezTo>
                  <a:cubicBezTo>
                    <a:pt x="391" y="523"/>
                    <a:pt x="394" y="497"/>
                    <a:pt x="392" y="470"/>
                  </a:cubicBezTo>
                  <a:cubicBezTo>
                    <a:pt x="391" y="439"/>
                    <a:pt x="386" y="405"/>
                    <a:pt x="395" y="377"/>
                  </a:cubicBezTo>
                  <a:cubicBezTo>
                    <a:pt x="416" y="305"/>
                    <a:pt x="410" y="232"/>
                    <a:pt x="414" y="160"/>
                  </a:cubicBezTo>
                  <a:cubicBezTo>
                    <a:pt x="421" y="144"/>
                    <a:pt x="425" y="127"/>
                    <a:pt x="421" y="110"/>
                  </a:cubicBezTo>
                  <a:cubicBezTo>
                    <a:pt x="408" y="114"/>
                    <a:pt x="424" y="133"/>
                    <a:pt x="408" y="136"/>
                  </a:cubicBezTo>
                  <a:cubicBezTo>
                    <a:pt x="402" y="111"/>
                    <a:pt x="404" y="86"/>
                    <a:pt x="408" y="61"/>
                  </a:cubicBezTo>
                  <a:cubicBezTo>
                    <a:pt x="409" y="55"/>
                    <a:pt x="410" y="49"/>
                    <a:pt x="403" y="47"/>
                  </a:cubicBezTo>
                  <a:cubicBezTo>
                    <a:pt x="396" y="45"/>
                    <a:pt x="388" y="45"/>
                    <a:pt x="385" y="53"/>
                  </a:cubicBezTo>
                  <a:cubicBezTo>
                    <a:pt x="374" y="50"/>
                    <a:pt x="370" y="41"/>
                    <a:pt x="369" y="31"/>
                  </a:cubicBezTo>
                  <a:cubicBezTo>
                    <a:pt x="373" y="14"/>
                    <a:pt x="351" y="14"/>
                    <a:pt x="348" y="0"/>
                  </a:cubicBezTo>
                  <a:cubicBezTo>
                    <a:pt x="346" y="8"/>
                    <a:pt x="344" y="16"/>
                    <a:pt x="341" y="24"/>
                  </a:cubicBezTo>
                  <a:cubicBezTo>
                    <a:pt x="332" y="38"/>
                    <a:pt x="328" y="54"/>
                    <a:pt x="325" y="70"/>
                  </a:cubicBezTo>
                  <a:cubicBezTo>
                    <a:pt x="312" y="149"/>
                    <a:pt x="300" y="229"/>
                    <a:pt x="285" y="308"/>
                  </a:cubicBezTo>
                  <a:cubicBezTo>
                    <a:pt x="279" y="341"/>
                    <a:pt x="278" y="376"/>
                    <a:pt x="264" y="407"/>
                  </a:cubicBezTo>
                  <a:cubicBezTo>
                    <a:pt x="209" y="367"/>
                    <a:pt x="207" y="297"/>
                    <a:pt x="165" y="251"/>
                  </a:cubicBezTo>
                  <a:cubicBezTo>
                    <a:pt x="144" y="228"/>
                    <a:pt x="117" y="220"/>
                    <a:pt x="89" y="222"/>
                  </a:cubicBezTo>
                  <a:cubicBezTo>
                    <a:pt x="61" y="224"/>
                    <a:pt x="57" y="252"/>
                    <a:pt x="55" y="274"/>
                  </a:cubicBezTo>
                  <a:cubicBezTo>
                    <a:pt x="45" y="363"/>
                    <a:pt x="29" y="452"/>
                    <a:pt x="7" y="539"/>
                  </a:cubicBezTo>
                  <a:cubicBezTo>
                    <a:pt x="0" y="566"/>
                    <a:pt x="2" y="595"/>
                    <a:pt x="6" y="622"/>
                  </a:cubicBezTo>
                  <a:cubicBezTo>
                    <a:pt x="14" y="673"/>
                    <a:pt x="22" y="678"/>
                    <a:pt x="70" y="66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Freeform 7"/>
            <p:cNvSpPr/>
            <p:nvPr userDrawn="1"/>
          </p:nvSpPr>
          <p:spPr bwMode="auto">
            <a:xfrm>
              <a:off x="3781425" y="1284287"/>
              <a:ext cx="4832350" cy="739775"/>
            </a:xfrm>
            <a:custGeom>
              <a:avLst/>
              <a:gdLst>
                <a:gd name="T0" fmla="*/ 2501 w 2575"/>
                <a:gd name="T1" fmla="*/ 20 h 394"/>
                <a:gd name="T2" fmla="*/ 2494 w 2575"/>
                <a:gd name="T3" fmla="*/ 22 h 394"/>
                <a:gd name="T4" fmla="*/ 2477 w 2575"/>
                <a:gd name="T5" fmla="*/ 22 h 394"/>
                <a:gd name="T6" fmla="*/ 2278 w 2575"/>
                <a:gd name="T7" fmla="*/ 47 h 394"/>
                <a:gd name="T8" fmla="*/ 1713 w 2575"/>
                <a:gd name="T9" fmla="*/ 111 h 394"/>
                <a:gd name="T10" fmla="*/ 1248 w 2575"/>
                <a:gd name="T11" fmla="*/ 152 h 394"/>
                <a:gd name="T12" fmla="*/ 649 w 2575"/>
                <a:gd name="T13" fmla="*/ 207 h 394"/>
                <a:gd name="T14" fmla="*/ 107 w 2575"/>
                <a:gd name="T15" fmla="*/ 272 h 394"/>
                <a:gd name="T16" fmla="*/ 20 w 2575"/>
                <a:gd name="T17" fmla="*/ 296 h 394"/>
                <a:gd name="T18" fmla="*/ 2 w 2575"/>
                <a:gd name="T19" fmla="*/ 318 h 394"/>
                <a:gd name="T20" fmla="*/ 20 w 2575"/>
                <a:gd name="T21" fmla="*/ 335 h 394"/>
                <a:gd name="T22" fmla="*/ 53 w 2575"/>
                <a:gd name="T23" fmla="*/ 352 h 394"/>
                <a:gd name="T24" fmla="*/ 122 w 2575"/>
                <a:gd name="T25" fmla="*/ 385 h 394"/>
                <a:gd name="T26" fmla="*/ 500 w 2575"/>
                <a:gd name="T27" fmla="*/ 352 h 394"/>
                <a:gd name="T28" fmla="*/ 1185 w 2575"/>
                <a:gd name="T29" fmla="*/ 267 h 394"/>
                <a:gd name="T30" fmla="*/ 1483 w 2575"/>
                <a:gd name="T31" fmla="*/ 239 h 394"/>
                <a:gd name="T32" fmla="*/ 2021 w 2575"/>
                <a:gd name="T33" fmla="*/ 171 h 394"/>
                <a:gd name="T34" fmla="*/ 2075 w 2575"/>
                <a:gd name="T35" fmla="*/ 162 h 394"/>
                <a:gd name="T36" fmla="*/ 2134 w 2575"/>
                <a:gd name="T37" fmla="*/ 157 h 394"/>
                <a:gd name="T38" fmla="*/ 2172 w 2575"/>
                <a:gd name="T39" fmla="*/ 150 h 394"/>
                <a:gd name="T40" fmla="*/ 2206 w 2575"/>
                <a:gd name="T41" fmla="*/ 149 h 394"/>
                <a:gd name="T42" fmla="*/ 2234 w 2575"/>
                <a:gd name="T43" fmla="*/ 135 h 394"/>
                <a:gd name="T44" fmla="*/ 2258 w 2575"/>
                <a:gd name="T45" fmla="*/ 128 h 394"/>
                <a:gd name="T46" fmla="*/ 2416 w 2575"/>
                <a:gd name="T47" fmla="*/ 94 h 394"/>
                <a:gd name="T48" fmla="*/ 2448 w 2575"/>
                <a:gd name="T49" fmla="*/ 72 h 394"/>
                <a:gd name="T50" fmla="*/ 2450 w 2575"/>
                <a:gd name="T51" fmla="*/ 71 h 394"/>
                <a:gd name="T52" fmla="*/ 2453 w 2575"/>
                <a:gd name="T53" fmla="*/ 71 h 394"/>
                <a:gd name="T54" fmla="*/ 2475 w 2575"/>
                <a:gd name="T55" fmla="*/ 69 h 394"/>
                <a:gd name="T56" fmla="*/ 2475 w 2575"/>
                <a:gd name="T57" fmla="*/ 63 h 394"/>
                <a:gd name="T58" fmla="*/ 2455 w 2575"/>
                <a:gd name="T59" fmla="*/ 67 h 394"/>
                <a:gd name="T60" fmla="*/ 2463 w 2575"/>
                <a:gd name="T61" fmla="*/ 49 h 394"/>
                <a:gd name="T62" fmla="*/ 2471 w 2575"/>
                <a:gd name="T63" fmla="*/ 50 h 394"/>
                <a:gd name="T64" fmla="*/ 2471 w 2575"/>
                <a:gd name="T65" fmla="*/ 50 h 394"/>
                <a:gd name="T66" fmla="*/ 2516 w 2575"/>
                <a:gd name="T67" fmla="*/ 36 h 394"/>
                <a:gd name="T68" fmla="*/ 2575 w 2575"/>
                <a:gd name="T69" fmla="*/ 15 h 394"/>
                <a:gd name="T70" fmla="*/ 2501 w 2575"/>
                <a:gd name="T71" fmla="*/ 20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75" h="394">
                  <a:moveTo>
                    <a:pt x="2501" y="20"/>
                  </a:moveTo>
                  <a:cubicBezTo>
                    <a:pt x="2499" y="21"/>
                    <a:pt x="2496" y="21"/>
                    <a:pt x="2494" y="22"/>
                  </a:cubicBezTo>
                  <a:cubicBezTo>
                    <a:pt x="2488" y="22"/>
                    <a:pt x="2483" y="22"/>
                    <a:pt x="2477" y="22"/>
                  </a:cubicBezTo>
                  <a:cubicBezTo>
                    <a:pt x="2409" y="18"/>
                    <a:pt x="2344" y="37"/>
                    <a:pt x="2278" y="47"/>
                  </a:cubicBezTo>
                  <a:cubicBezTo>
                    <a:pt x="2091" y="74"/>
                    <a:pt x="1902" y="89"/>
                    <a:pt x="1713" y="111"/>
                  </a:cubicBezTo>
                  <a:cubicBezTo>
                    <a:pt x="1559" y="128"/>
                    <a:pt x="1403" y="134"/>
                    <a:pt x="1248" y="152"/>
                  </a:cubicBezTo>
                  <a:cubicBezTo>
                    <a:pt x="1049" y="174"/>
                    <a:pt x="849" y="186"/>
                    <a:pt x="649" y="207"/>
                  </a:cubicBezTo>
                  <a:cubicBezTo>
                    <a:pt x="468" y="227"/>
                    <a:pt x="287" y="244"/>
                    <a:pt x="107" y="272"/>
                  </a:cubicBezTo>
                  <a:cubicBezTo>
                    <a:pt x="77" y="277"/>
                    <a:pt x="47" y="283"/>
                    <a:pt x="20" y="296"/>
                  </a:cubicBezTo>
                  <a:cubicBezTo>
                    <a:pt x="11" y="301"/>
                    <a:pt x="0" y="306"/>
                    <a:pt x="2" y="318"/>
                  </a:cubicBezTo>
                  <a:cubicBezTo>
                    <a:pt x="3" y="328"/>
                    <a:pt x="12" y="331"/>
                    <a:pt x="20" y="335"/>
                  </a:cubicBezTo>
                  <a:cubicBezTo>
                    <a:pt x="32" y="340"/>
                    <a:pt x="50" y="340"/>
                    <a:pt x="53" y="352"/>
                  </a:cubicBezTo>
                  <a:cubicBezTo>
                    <a:pt x="63" y="394"/>
                    <a:pt x="96" y="387"/>
                    <a:pt x="122" y="385"/>
                  </a:cubicBezTo>
                  <a:cubicBezTo>
                    <a:pt x="248" y="376"/>
                    <a:pt x="374" y="366"/>
                    <a:pt x="500" y="352"/>
                  </a:cubicBezTo>
                  <a:cubicBezTo>
                    <a:pt x="729" y="326"/>
                    <a:pt x="955" y="282"/>
                    <a:pt x="1185" y="267"/>
                  </a:cubicBezTo>
                  <a:cubicBezTo>
                    <a:pt x="1284" y="260"/>
                    <a:pt x="1384" y="251"/>
                    <a:pt x="1483" y="239"/>
                  </a:cubicBezTo>
                  <a:cubicBezTo>
                    <a:pt x="1662" y="218"/>
                    <a:pt x="1842" y="194"/>
                    <a:pt x="2021" y="171"/>
                  </a:cubicBezTo>
                  <a:cubicBezTo>
                    <a:pt x="2039" y="168"/>
                    <a:pt x="2057" y="165"/>
                    <a:pt x="2075" y="162"/>
                  </a:cubicBezTo>
                  <a:cubicBezTo>
                    <a:pt x="2095" y="166"/>
                    <a:pt x="2113" y="148"/>
                    <a:pt x="2134" y="157"/>
                  </a:cubicBezTo>
                  <a:cubicBezTo>
                    <a:pt x="2148" y="161"/>
                    <a:pt x="2162" y="160"/>
                    <a:pt x="2172" y="150"/>
                  </a:cubicBezTo>
                  <a:cubicBezTo>
                    <a:pt x="2184" y="138"/>
                    <a:pt x="2194" y="146"/>
                    <a:pt x="2206" y="149"/>
                  </a:cubicBezTo>
                  <a:cubicBezTo>
                    <a:pt x="2214" y="141"/>
                    <a:pt x="2229" y="150"/>
                    <a:pt x="2234" y="135"/>
                  </a:cubicBezTo>
                  <a:cubicBezTo>
                    <a:pt x="2241" y="129"/>
                    <a:pt x="2256" y="152"/>
                    <a:pt x="2258" y="128"/>
                  </a:cubicBezTo>
                  <a:cubicBezTo>
                    <a:pt x="2310" y="114"/>
                    <a:pt x="2362" y="98"/>
                    <a:pt x="2416" y="94"/>
                  </a:cubicBezTo>
                  <a:cubicBezTo>
                    <a:pt x="2430" y="92"/>
                    <a:pt x="2455" y="105"/>
                    <a:pt x="2448" y="72"/>
                  </a:cubicBezTo>
                  <a:cubicBezTo>
                    <a:pt x="2450" y="71"/>
                    <a:pt x="2450" y="71"/>
                    <a:pt x="2450" y="71"/>
                  </a:cubicBezTo>
                  <a:cubicBezTo>
                    <a:pt x="2453" y="71"/>
                    <a:pt x="2453" y="71"/>
                    <a:pt x="2453" y="71"/>
                  </a:cubicBezTo>
                  <a:cubicBezTo>
                    <a:pt x="2461" y="76"/>
                    <a:pt x="2469" y="77"/>
                    <a:pt x="2475" y="69"/>
                  </a:cubicBezTo>
                  <a:cubicBezTo>
                    <a:pt x="2476" y="68"/>
                    <a:pt x="2476" y="63"/>
                    <a:pt x="2475" y="63"/>
                  </a:cubicBezTo>
                  <a:cubicBezTo>
                    <a:pt x="2468" y="59"/>
                    <a:pt x="2462" y="64"/>
                    <a:pt x="2455" y="67"/>
                  </a:cubicBezTo>
                  <a:cubicBezTo>
                    <a:pt x="2446" y="56"/>
                    <a:pt x="2453" y="52"/>
                    <a:pt x="2463" y="49"/>
                  </a:cubicBezTo>
                  <a:cubicBezTo>
                    <a:pt x="2466" y="50"/>
                    <a:pt x="2468" y="50"/>
                    <a:pt x="2471" y="50"/>
                  </a:cubicBezTo>
                  <a:cubicBezTo>
                    <a:pt x="2471" y="50"/>
                    <a:pt x="2471" y="50"/>
                    <a:pt x="2471" y="50"/>
                  </a:cubicBezTo>
                  <a:cubicBezTo>
                    <a:pt x="2487" y="50"/>
                    <a:pt x="2504" y="50"/>
                    <a:pt x="2516" y="36"/>
                  </a:cubicBezTo>
                  <a:cubicBezTo>
                    <a:pt x="2538" y="36"/>
                    <a:pt x="2551" y="11"/>
                    <a:pt x="2575" y="15"/>
                  </a:cubicBezTo>
                  <a:cubicBezTo>
                    <a:pt x="2549" y="0"/>
                    <a:pt x="2525" y="12"/>
                    <a:pt x="2501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3929063" y="6350"/>
              <a:ext cx="1911350" cy="1619250"/>
            </a:xfrm>
            <a:custGeom>
              <a:avLst/>
              <a:gdLst>
                <a:gd name="T0" fmla="*/ 47 w 1018"/>
                <a:gd name="T1" fmla="*/ 358 h 862"/>
                <a:gd name="T2" fmla="*/ 51 w 1018"/>
                <a:gd name="T3" fmla="*/ 449 h 862"/>
                <a:gd name="T4" fmla="*/ 70 w 1018"/>
                <a:gd name="T5" fmla="*/ 534 h 862"/>
                <a:gd name="T6" fmla="*/ 182 w 1018"/>
                <a:gd name="T7" fmla="*/ 591 h 862"/>
                <a:gd name="T8" fmla="*/ 210 w 1018"/>
                <a:gd name="T9" fmla="*/ 513 h 862"/>
                <a:gd name="T10" fmla="*/ 403 w 1018"/>
                <a:gd name="T11" fmla="*/ 371 h 862"/>
                <a:gd name="T12" fmla="*/ 332 w 1018"/>
                <a:gd name="T13" fmla="*/ 844 h 862"/>
                <a:gd name="T14" fmla="*/ 395 w 1018"/>
                <a:gd name="T15" fmla="*/ 829 h 862"/>
                <a:gd name="T16" fmla="*/ 514 w 1018"/>
                <a:gd name="T17" fmla="*/ 372 h 862"/>
                <a:gd name="T18" fmla="*/ 586 w 1018"/>
                <a:gd name="T19" fmla="*/ 338 h 862"/>
                <a:gd name="T20" fmla="*/ 588 w 1018"/>
                <a:gd name="T21" fmla="*/ 631 h 862"/>
                <a:gd name="T22" fmla="*/ 588 w 1018"/>
                <a:gd name="T23" fmla="*/ 631 h 862"/>
                <a:gd name="T24" fmla="*/ 609 w 1018"/>
                <a:gd name="T25" fmla="*/ 631 h 862"/>
                <a:gd name="T26" fmla="*/ 609 w 1018"/>
                <a:gd name="T27" fmla="*/ 631 h 862"/>
                <a:gd name="T28" fmla="*/ 692 w 1018"/>
                <a:gd name="T29" fmla="*/ 481 h 862"/>
                <a:gd name="T30" fmla="*/ 843 w 1018"/>
                <a:gd name="T31" fmla="*/ 477 h 862"/>
                <a:gd name="T32" fmla="*/ 978 w 1018"/>
                <a:gd name="T33" fmla="*/ 679 h 862"/>
                <a:gd name="T34" fmla="*/ 996 w 1018"/>
                <a:gd name="T35" fmla="*/ 573 h 862"/>
                <a:gd name="T36" fmla="*/ 946 w 1018"/>
                <a:gd name="T37" fmla="*/ 385 h 862"/>
                <a:gd name="T38" fmla="*/ 907 w 1018"/>
                <a:gd name="T39" fmla="*/ 334 h 862"/>
                <a:gd name="T40" fmla="*/ 753 w 1018"/>
                <a:gd name="T41" fmla="*/ 48 h 862"/>
                <a:gd name="T42" fmla="*/ 666 w 1018"/>
                <a:gd name="T43" fmla="*/ 83 h 862"/>
                <a:gd name="T44" fmla="*/ 673 w 1018"/>
                <a:gd name="T45" fmla="*/ 161 h 862"/>
                <a:gd name="T46" fmla="*/ 582 w 1018"/>
                <a:gd name="T47" fmla="*/ 89 h 862"/>
                <a:gd name="T48" fmla="*/ 486 w 1018"/>
                <a:gd name="T49" fmla="*/ 48 h 862"/>
                <a:gd name="T50" fmla="*/ 426 w 1018"/>
                <a:gd name="T51" fmla="*/ 250 h 862"/>
                <a:gd name="T52" fmla="*/ 276 w 1018"/>
                <a:gd name="T53" fmla="*/ 318 h 862"/>
                <a:gd name="T54" fmla="*/ 281 w 1018"/>
                <a:gd name="T55" fmla="*/ 191 h 862"/>
                <a:gd name="T56" fmla="*/ 279 w 1018"/>
                <a:gd name="T57" fmla="*/ 76 h 862"/>
                <a:gd name="T58" fmla="*/ 171 w 1018"/>
                <a:gd name="T59" fmla="*/ 100 h 862"/>
                <a:gd name="T60" fmla="*/ 59 w 1018"/>
                <a:gd name="T61" fmla="*/ 358 h 862"/>
                <a:gd name="T62" fmla="*/ 725 w 1018"/>
                <a:gd name="T63" fmla="*/ 232 h 862"/>
                <a:gd name="T64" fmla="*/ 779 w 1018"/>
                <a:gd name="T65" fmla="*/ 382 h 862"/>
                <a:gd name="T66" fmla="*/ 697 w 1018"/>
                <a:gd name="T67" fmla="*/ 28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18" h="862">
                  <a:moveTo>
                    <a:pt x="59" y="358"/>
                  </a:moveTo>
                  <a:cubicBezTo>
                    <a:pt x="55" y="358"/>
                    <a:pt x="51" y="357"/>
                    <a:pt x="47" y="358"/>
                  </a:cubicBezTo>
                  <a:cubicBezTo>
                    <a:pt x="29" y="362"/>
                    <a:pt x="8" y="362"/>
                    <a:pt x="2" y="386"/>
                  </a:cubicBezTo>
                  <a:cubicBezTo>
                    <a:pt x="0" y="398"/>
                    <a:pt x="40" y="448"/>
                    <a:pt x="51" y="449"/>
                  </a:cubicBezTo>
                  <a:cubicBezTo>
                    <a:pt x="97" y="456"/>
                    <a:pt x="97" y="456"/>
                    <a:pt x="79" y="502"/>
                  </a:cubicBezTo>
                  <a:cubicBezTo>
                    <a:pt x="75" y="512"/>
                    <a:pt x="70" y="523"/>
                    <a:pt x="70" y="534"/>
                  </a:cubicBezTo>
                  <a:cubicBezTo>
                    <a:pt x="69" y="550"/>
                    <a:pt x="60" y="573"/>
                    <a:pt x="83" y="580"/>
                  </a:cubicBezTo>
                  <a:cubicBezTo>
                    <a:pt x="115" y="590"/>
                    <a:pt x="149" y="598"/>
                    <a:pt x="182" y="591"/>
                  </a:cubicBezTo>
                  <a:cubicBezTo>
                    <a:pt x="196" y="589"/>
                    <a:pt x="208" y="578"/>
                    <a:pt x="208" y="559"/>
                  </a:cubicBezTo>
                  <a:cubicBezTo>
                    <a:pt x="208" y="544"/>
                    <a:pt x="209" y="528"/>
                    <a:pt x="210" y="513"/>
                  </a:cubicBezTo>
                  <a:cubicBezTo>
                    <a:pt x="211" y="482"/>
                    <a:pt x="210" y="443"/>
                    <a:pt x="238" y="427"/>
                  </a:cubicBezTo>
                  <a:cubicBezTo>
                    <a:pt x="286" y="398"/>
                    <a:pt x="343" y="388"/>
                    <a:pt x="403" y="371"/>
                  </a:cubicBezTo>
                  <a:cubicBezTo>
                    <a:pt x="386" y="444"/>
                    <a:pt x="369" y="509"/>
                    <a:pt x="354" y="576"/>
                  </a:cubicBezTo>
                  <a:cubicBezTo>
                    <a:pt x="333" y="664"/>
                    <a:pt x="320" y="753"/>
                    <a:pt x="332" y="844"/>
                  </a:cubicBezTo>
                  <a:cubicBezTo>
                    <a:pt x="334" y="862"/>
                    <a:pt x="350" y="858"/>
                    <a:pt x="351" y="858"/>
                  </a:cubicBezTo>
                  <a:cubicBezTo>
                    <a:pt x="365" y="846"/>
                    <a:pt x="386" y="841"/>
                    <a:pt x="395" y="829"/>
                  </a:cubicBezTo>
                  <a:cubicBezTo>
                    <a:pt x="410" y="808"/>
                    <a:pt x="418" y="781"/>
                    <a:pt x="426" y="756"/>
                  </a:cubicBezTo>
                  <a:cubicBezTo>
                    <a:pt x="463" y="630"/>
                    <a:pt x="490" y="501"/>
                    <a:pt x="514" y="372"/>
                  </a:cubicBezTo>
                  <a:cubicBezTo>
                    <a:pt x="524" y="323"/>
                    <a:pt x="547" y="297"/>
                    <a:pt x="593" y="285"/>
                  </a:cubicBezTo>
                  <a:cubicBezTo>
                    <a:pt x="596" y="304"/>
                    <a:pt x="591" y="322"/>
                    <a:pt x="586" y="338"/>
                  </a:cubicBezTo>
                  <a:cubicBezTo>
                    <a:pt x="566" y="401"/>
                    <a:pt x="553" y="465"/>
                    <a:pt x="558" y="530"/>
                  </a:cubicBezTo>
                  <a:cubicBezTo>
                    <a:pt x="560" y="563"/>
                    <a:pt x="546" y="607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91" y="641"/>
                    <a:pt x="594" y="650"/>
                    <a:pt x="598" y="661"/>
                  </a:cubicBezTo>
                  <a:cubicBezTo>
                    <a:pt x="607" y="651"/>
                    <a:pt x="609" y="642"/>
                    <a:pt x="609" y="631"/>
                  </a:cubicBezTo>
                  <a:cubicBezTo>
                    <a:pt x="607" y="629"/>
                    <a:pt x="604" y="627"/>
                    <a:pt x="602" y="626"/>
                  </a:cubicBezTo>
                  <a:cubicBezTo>
                    <a:pt x="604" y="625"/>
                    <a:pt x="607" y="626"/>
                    <a:pt x="609" y="631"/>
                  </a:cubicBezTo>
                  <a:cubicBezTo>
                    <a:pt x="624" y="577"/>
                    <a:pt x="623" y="519"/>
                    <a:pt x="642" y="463"/>
                  </a:cubicBezTo>
                  <a:cubicBezTo>
                    <a:pt x="658" y="474"/>
                    <a:pt x="674" y="479"/>
                    <a:pt x="692" y="481"/>
                  </a:cubicBezTo>
                  <a:cubicBezTo>
                    <a:pt x="733" y="487"/>
                    <a:pt x="770" y="466"/>
                    <a:pt x="810" y="461"/>
                  </a:cubicBezTo>
                  <a:cubicBezTo>
                    <a:pt x="830" y="459"/>
                    <a:pt x="836" y="462"/>
                    <a:pt x="843" y="477"/>
                  </a:cubicBezTo>
                  <a:cubicBezTo>
                    <a:pt x="865" y="521"/>
                    <a:pt x="881" y="567"/>
                    <a:pt x="890" y="617"/>
                  </a:cubicBezTo>
                  <a:cubicBezTo>
                    <a:pt x="902" y="691"/>
                    <a:pt x="905" y="690"/>
                    <a:pt x="978" y="679"/>
                  </a:cubicBezTo>
                  <a:cubicBezTo>
                    <a:pt x="1013" y="674"/>
                    <a:pt x="1018" y="655"/>
                    <a:pt x="1013" y="627"/>
                  </a:cubicBezTo>
                  <a:cubicBezTo>
                    <a:pt x="1010" y="609"/>
                    <a:pt x="1005" y="590"/>
                    <a:pt x="996" y="573"/>
                  </a:cubicBezTo>
                  <a:cubicBezTo>
                    <a:pt x="971" y="523"/>
                    <a:pt x="959" y="469"/>
                    <a:pt x="943" y="416"/>
                  </a:cubicBezTo>
                  <a:cubicBezTo>
                    <a:pt x="939" y="404"/>
                    <a:pt x="941" y="394"/>
                    <a:pt x="946" y="385"/>
                  </a:cubicBezTo>
                  <a:cubicBezTo>
                    <a:pt x="958" y="363"/>
                    <a:pt x="952" y="345"/>
                    <a:pt x="929" y="342"/>
                  </a:cubicBezTo>
                  <a:cubicBezTo>
                    <a:pt x="920" y="341"/>
                    <a:pt x="913" y="345"/>
                    <a:pt x="907" y="334"/>
                  </a:cubicBezTo>
                  <a:cubicBezTo>
                    <a:pt x="880" y="282"/>
                    <a:pt x="848" y="233"/>
                    <a:pt x="825" y="180"/>
                  </a:cubicBezTo>
                  <a:cubicBezTo>
                    <a:pt x="805" y="134"/>
                    <a:pt x="781" y="90"/>
                    <a:pt x="753" y="48"/>
                  </a:cubicBezTo>
                  <a:cubicBezTo>
                    <a:pt x="749" y="41"/>
                    <a:pt x="743" y="28"/>
                    <a:pt x="735" y="32"/>
                  </a:cubicBezTo>
                  <a:cubicBezTo>
                    <a:pt x="710" y="45"/>
                    <a:pt x="684" y="60"/>
                    <a:pt x="666" y="83"/>
                  </a:cubicBezTo>
                  <a:cubicBezTo>
                    <a:pt x="653" y="100"/>
                    <a:pt x="673" y="112"/>
                    <a:pt x="676" y="127"/>
                  </a:cubicBezTo>
                  <a:cubicBezTo>
                    <a:pt x="678" y="139"/>
                    <a:pt x="696" y="150"/>
                    <a:pt x="673" y="161"/>
                  </a:cubicBezTo>
                  <a:cubicBezTo>
                    <a:pt x="636" y="178"/>
                    <a:pt x="601" y="201"/>
                    <a:pt x="557" y="213"/>
                  </a:cubicBezTo>
                  <a:cubicBezTo>
                    <a:pt x="566" y="170"/>
                    <a:pt x="573" y="129"/>
                    <a:pt x="582" y="89"/>
                  </a:cubicBezTo>
                  <a:cubicBezTo>
                    <a:pt x="592" y="45"/>
                    <a:pt x="584" y="29"/>
                    <a:pt x="539" y="12"/>
                  </a:cubicBezTo>
                  <a:cubicBezTo>
                    <a:pt x="506" y="0"/>
                    <a:pt x="499" y="30"/>
                    <a:pt x="486" y="48"/>
                  </a:cubicBezTo>
                  <a:cubicBezTo>
                    <a:pt x="474" y="64"/>
                    <a:pt x="466" y="83"/>
                    <a:pt x="462" y="103"/>
                  </a:cubicBezTo>
                  <a:cubicBezTo>
                    <a:pt x="450" y="152"/>
                    <a:pt x="438" y="201"/>
                    <a:pt x="426" y="250"/>
                  </a:cubicBezTo>
                  <a:cubicBezTo>
                    <a:pt x="423" y="263"/>
                    <a:pt x="421" y="275"/>
                    <a:pt x="406" y="280"/>
                  </a:cubicBezTo>
                  <a:cubicBezTo>
                    <a:pt x="363" y="292"/>
                    <a:pt x="319" y="305"/>
                    <a:pt x="276" y="318"/>
                  </a:cubicBezTo>
                  <a:cubicBezTo>
                    <a:pt x="255" y="324"/>
                    <a:pt x="252" y="314"/>
                    <a:pt x="255" y="297"/>
                  </a:cubicBezTo>
                  <a:cubicBezTo>
                    <a:pt x="261" y="261"/>
                    <a:pt x="266" y="225"/>
                    <a:pt x="281" y="191"/>
                  </a:cubicBezTo>
                  <a:cubicBezTo>
                    <a:pt x="294" y="161"/>
                    <a:pt x="298" y="130"/>
                    <a:pt x="300" y="99"/>
                  </a:cubicBezTo>
                  <a:cubicBezTo>
                    <a:pt x="301" y="83"/>
                    <a:pt x="297" y="76"/>
                    <a:pt x="279" y="76"/>
                  </a:cubicBezTo>
                  <a:cubicBezTo>
                    <a:pt x="261" y="75"/>
                    <a:pt x="242" y="71"/>
                    <a:pt x="224" y="66"/>
                  </a:cubicBezTo>
                  <a:cubicBezTo>
                    <a:pt x="192" y="57"/>
                    <a:pt x="183" y="72"/>
                    <a:pt x="171" y="100"/>
                  </a:cubicBezTo>
                  <a:cubicBezTo>
                    <a:pt x="143" y="164"/>
                    <a:pt x="145" y="233"/>
                    <a:pt x="126" y="298"/>
                  </a:cubicBezTo>
                  <a:cubicBezTo>
                    <a:pt x="114" y="341"/>
                    <a:pt x="97" y="356"/>
                    <a:pt x="59" y="358"/>
                  </a:cubicBezTo>
                  <a:close/>
                  <a:moveTo>
                    <a:pt x="697" y="282"/>
                  </a:moveTo>
                  <a:cubicBezTo>
                    <a:pt x="703" y="265"/>
                    <a:pt x="715" y="249"/>
                    <a:pt x="725" y="232"/>
                  </a:cubicBezTo>
                  <a:cubicBezTo>
                    <a:pt x="757" y="273"/>
                    <a:pt x="777" y="314"/>
                    <a:pt x="794" y="358"/>
                  </a:cubicBezTo>
                  <a:cubicBezTo>
                    <a:pt x="802" y="378"/>
                    <a:pt x="797" y="383"/>
                    <a:pt x="779" y="382"/>
                  </a:cubicBezTo>
                  <a:cubicBezTo>
                    <a:pt x="774" y="382"/>
                    <a:pt x="769" y="383"/>
                    <a:pt x="764" y="383"/>
                  </a:cubicBezTo>
                  <a:cubicBezTo>
                    <a:pt x="618" y="393"/>
                    <a:pt x="664" y="384"/>
                    <a:pt x="697" y="2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4" name="Freeform 9"/>
            <p:cNvSpPr>
              <a:spLocks noEditPoints="1"/>
            </p:cNvSpPr>
            <p:nvPr userDrawn="1"/>
          </p:nvSpPr>
          <p:spPr bwMode="auto">
            <a:xfrm>
              <a:off x="6592888" y="-477838"/>
              <a:ext cx="1638300" cy="1947863"/>
            </a:xfrm>
            <a:custGeom>
              <a:avLst/>
              <a:gdLst>
                <a:gd name="T0" fmla="*/ 14 w 873"/>
                <a:gd name="T1" fmla="*/ 1009 h 1036"/>
                <a:gd name="T2" fmla="*/ 20 w 873"/>
                <a:gd name="T3" fmla="*/ 1026 h 1036"/>
                <a:gd name="T4" fmla="*/ 44 w 873"/>
                <a:gd name="T5" fmla="*/ 1024 h 1036"/>
                <a:gd name="T6" fmla="*/ 118 w 873"/>
                <a:gd name="T7" fmla="*/ 878 h 1036"/>
                <a:gd name="T8" fmla="*/ 151 w 873"/>
                <a:gd name="T9" fmla="*/ 746 h 1036"/>
                <a:gd name="T10" fmla="*/ 167 w 873"/>
                <a:gd name="T11" fmla="*/ 764 h 1036"/>
                <a:gd name="T12" fmla="*/ 280 w 873"/>
                <a:gd name="T13" fmla="*/ 911 h 1036"/>
                <a:gd name="T14" fmla="*/ 435 w 873"/>
                <a:gd name="T15" fmla="*/ 964 h 1036"/>
                <a:gd name="T16" fmla="*/ 466 w 873"/>
                <a:gd name="T17" fmla="*/ 913 h 1036"/>
                <a:gd name="T18" fmla="*/ 696 w 873"/>
                <a:gd name="T19" fmla="*/ 846 h 1036"/>
                <a:gd name="T20" fmla="*/ 762 w 873"/>
                <a:gd name="T21" fmla="*/ 639 h 1036"/>
                <a:gd name="T22" fmla="*/ 639 w 873"/>
                <a:gd name="T23" fmla="*/ 496 h 1036"/>
                <a:gd name="T24" fmla="*/ 650 w 873"/>
                <a:gd name="T25" fmla="*/ 490 h 1036"/>
                <a:gd name="T26" fmla="*/ 676 w 873"/>
                <a:gd name="T27" fmla="*/ 443 h 1036"/>
                <a:gd name="T28" fmla="*/ 650 w 873"/>
                <a:gd name="T29" fmla="*/ 416 h 1036"/>
                <a:gd name="T30" fmla="*/ 650 w 873"/>
                <a:gd name="T31" fmla="*/ 401 h 1036"/>
                <a:gd name="T32" fmla="*/ 766 w 873"/>
                <a:gd name="T33" fmla="*/ 311 h 1036"/>
                <a:gd name="T34" fmla="*/ 837 w 873"/>
                <a:gd name="T35" fmla="*/ 325 h 1036"/>
                <a:gd name="T36" fmla="*/ 837 w 873"/>
                <a:gd name="T37" fmla="*/ 325 h 1036"/>
                <a:gd name="T38" fmla="*/ 863 w 873"/>
                <a:gd name="T39" fmla="*/ 362 h 1036"/>
                <a:gd name="T40" fmla="*/ 858 w 873"/>
                <a:gd name="T41" fmla="*/ 317 h 1036"/>
                <a:gd name="T42" fmla="*/ 861 w 873"/>
                <a:gd name="T43" fmla="*/ 281 h 1036"/>
                <a:gd name="T44" fmla="*/ 677 w 873"/>
                <a:gd name="T45" fmla="*/ 218 h 1036"/>
                <a:gd name="T46" fmla="*/ 613 w 873"/>
                <a:gd name="T47" fmla="*/ 265 h 1036"/>
                <a:gd name="T48" fmla="*/ 474 w 873"/>
                <a:gd name="T49" fmla="*/ 462 h 1036"/>
                <a:gd name="T50" fmla="*/ 446 w 873"/>
                <a:gd name="T51" fmla="*/ 482 h 1036"/>
                <a:gd name="T52" fmla="*/ 227 w 873"/>
                <a:gd name="T53" fmla="*/ 529 h 1036"/>
                <a:gd name="T54" fmla="*/ 204 w 873"/>
                <a:gd name="T55" fmla="*/ 507 h 1036"/>
                <a:gd name="T56" fmla="*/ 256 w 873"/>
                <a:gd name="T57" fmla="*/ 298 h 1036"/>
                <a:gd name="T58" fmla="*/ 306 w 873"/>
                <a:gd name="T59" fmla="*/ 72 h 1036"/>
                <a:gd name="T60" fmla="*/ 256 w 873"/>
                <a:gd name="T61" fmla="*/ 12 h 1036"/>
                <a:gd name="T62" fmla="*/ 217 w 873"/>
                <a:gd name="T63" fmla="*/ 37 h 1036"/>
                <a:gd name="T64" fmla="*/ 173 w 873"/>
                <a:gd name="T65" fmla="*/ 140 h 1036"/>
                <a:gd name="T66" fmla="*/ 88 w 873"/>
                <a:gd name="T67" fmla="*/ 513 h 1036"/>
                <a:gd name="T68" fmla="*/ 57 w 873"/>
                <a:gd name="T69" fmla="*/ 633 h 1036"/>
                <a:gd name="T70" fmla="*/ 14 w 873"/>
                <a:gd name="T71" fmla="*/ 1009 h 1036"/>
                <a:gd name="T72" fmla="*/ 431 w 873"/>
                <a:gd name="T73" fmla="*/ 585 h 1036"/>
                <a:gd name="T74" fmla="*/ 442 w 873"/>
                <a:gd name="T75" fmla="*/ 583 h 1036"/>
                <a:gd name="T76" fmla="*/ 566 w 873"/>
                <a:gd name="T77" fmla="*/ 617 h 1036"/>
                <a:gd name="T78" fmla="*/ 617 w 873"/>
                <a:gd name="T79" fmla="*/ 656 h 1036"/>
                <a:gd name="T80" fmla="*/ 629 w 873"/>
                <a:gd name="T81" fmla="*/ 754 h 1036"/>
                <a:gd name="T82" fmla="*/ 521 w 873"/>
                <a:gd name="T83" fmla="*/ 826 h 1036"/>
                <a:gd name="T84" fmla="*/ 469 w 873"/>
                <a:gd name="T85" fmla="*/ 873 h 1036"/>
                <a:gd name="T86" fmla="*/ 456 w 873"/>
                <a:gd name="T87" fmla="*/ 875 h 1036"/>
                <a:gd name="T88" fmla="*/ 440 w 873"/>
                <a:gd name="T89" fmla="*/ 881 h 1036"/>
                <a:gd name="T90" fmla="*/ 440 w 873"/>
                <a:gd name="T91" fmla="*/ 881 h 1036"/>
                <a:gd name="T92" fmla="*/ 440 w 873"/>
                <a:gd name="T93" fmla="*/ 881 h 1036"/>
                <a:gd name="T94" fmla="*/ 370 w 873"/>
                <a:gd name="T95" fmla="*/ 820 h 1036"/>
                <a:gd name="T96" fmla="*/ 313 w 873"/>
                <a:gd name="T97" fmla="*/ 762 h 1036"/>
                <a:gd name="T98" fmla="*/ 205 w 873"/>
                <a:gd name="T99" fmla="*/ 650 h 1036"/>
                <a:gd name="T100" fmla="*/ 431 w 873"/>
                <a:gd name="T101" fmla="*/ 585 h 10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73" h="1036">
                  <a:moveTo>
                    <a:pt x="14" y="1009"/>
                  </a:moveTo>
                  <a:cubicBezTo>
                    <a:pt x="14" y="1015"/>
                    <a:pt x="9" y="1032"/>
                    <a:pt x="20" y="1026"/>
                  </a:cubicBezTo>
                  <a:cubicBezTo>
                    <a:pt x="29" y="1021"/>
                    <a:pt x="33" y="1036"/>
                    <a:pt x="44" y="1024"/>
                  </a:cubicBezTo>
                  <a:cubicBezTo>
                    <a:pt x="83" y="982"/>
                    <a:pt x="105" y="933"/>
                    <a:pt x="118" y="878"/>
                  </a:cubicBezTo>
                  <a:cubicBezTo>
                    <a:pt x="129" y="836"/>
                    <a:pt x="139" y="793"/>
                    <a:pt x="151" y="746"/>
                  </a:cubicBezTo>
                  <a:cubicBezTo>
                    <a:pt x="159" y="755"/>
                    <a:pt x="164" y="759"/>
                    <a:pt x="167" y="764"/>
                  </a:cubicBezTo>
                  <a:cubicBezTo>
                    <a:pt x="205" y="813"/>
                    <a:pt x="243" y="862"/>
                    <a:pt x="280" y="911"/>
                  </a:cubicBezTo>
                  <a:cubicBezTo>
                    <a:pt x="320" y="964"/>
                    <a:pt x="374" y="978"/>
                    <a:pt x="435" y="964"/>
                  </a:cubicBezTo>
                  <a:cubicBezTo>
                    <a:pt x="460" y="959"/>
                    <a:pt x="488" y="949"/>
                    <a:pt x="466" y="913"/>
                  </a:cubicBezTo>
                  <a:cubicBezTo>
                    <a:pt x="550" y="909"/>
                    <a:pt x="628" y="898"/>
                    <a:pt x="696" y="846"/>
                  </a:cubicBezTo>
                  <a:cubicBezTo>
                    <a:pt x="763" y="796"/>
                    <a:pt x="789" y="719"/>
                    <a:pt x="762" y="639"/>
                  </a:cubicBezTo>
                  <a:cubicBezTo>
                    <a:pt x="741" y="574"/>
                    <a:pt x="691" y="535"/>
                    <a:pt x="639" y="496"/>
                  </a:cubicBezTo>
                  <a:cubicBezTo>
                    <a:pt x="644" y="494"/>
                    <a:pt x="647" y="492"/>
                    <a:pt x="650" y="490"/>
                  </a:cubicBezTo>
                  <a:cubicBezTo>
                    <a:pt x="665" y="478"/>
                    <a:pt x="673" y="460"/>
                    <a:pt x="676" y="443"/>
                  </a:cubicBezTo>
                  <a:cubicBezTo>
                    <a:pt x="679" y="429"/>
                    <a:pt x="671" y="415"/>
                    <a:pt x="650" y="416"/>
                  </a:cubicBezTo>
                  <a:cubicBezTo>
                    <a:pt x="643" y="416"/>
                    <a:pt x="646" y="404"/>
                    <a:pt x="650" y="401"/>
                  </a:cubicBezTo>
                  <a:cubicBezTo>
                    <a:pt x="689" y="371"/>
                    <a:pt x="702" y="310"/>
                    <a:pt x="766" y="311"/>
                  </a:cubicBezTo>
                  <a:cubicBezTo>
                    <a:pt x="791" y="312"/>
                    <a:pt x="813" y="322"/>
                    <a:pt x="837" y="325"/>
                  </a:cubicBezTo>
                  <a:cubicBezTo>
                    <a:pt x="837" y="325"/>
                    <a:pt x="837" y="325"/>
                    <a:pt x="837" y="325"/>
                  </a:cubicBezTo>
                  <a:cubicBezTo>
                    <a:pt x="840" y="341"/>
                    <a:pt x="860" y="345"/>
                    <a:pt x="863" y="362"/>
                  </a:cubicBezTo>
                  <a:cubicBezTo>
                    <a:pt x="870" y="345"/>
                    <a:pt x="868" y="331"/>
                    <a:pt x="858" y="317"/>
                  </a:cubicBezTo>
                  <a:cubicBezTo>
                    <a:pt x="873" y="306"/>
                    <a:pt x="868" y="294"/>
                    <a:pt x="861" y="281"/>
                  </a:cubicBezTo>
                  <a:cubicBezTo>
                    <a:pt x="835" y="230"/>
                    <a:pt x="755" y="177"/>
                    <a:pt x="677" y="218"/>
                  </a:cubicBezTo>
                  <a:cubicBezTo>
                    <a:pt x="653" y="231"/>
                    <a:pt x="632" y="246"/>
                    <a:pt x="613" y="265"/>
                  </a:cubicBezTo>
                  <a:cubicBezTo>
                    <a:pt x="555" y="322"/>
                    <a:pt x="490" y="375"/>
                    <a:pt x="474" y="462"/>
                  </a:cubicBezTo>
                  <a:cubicBezTo>
                    <a:pt x="470" y="480"/>
                    <a:pt x="457" y="478"/>
                    <a:pt x="446" y="482"/>
                  </a:cubicBezTo>
                  <a:cubicBezTo>
                    <a:pt x="374" y="504"/>
                    <a:pt x="301" y="514"/>
                    <a:pt x="227" y="529"/>
                  </a:cubicBezTo>
                  <a:cubicBezTo>
                    <a:pt x="205" y="533"/>
                    <a:pt x="200" y="526"/>
                    <a:pt x="204" y="507"/>
                  </a:cubicBezTo>
                  <a:cubicBezTo>
                    <a:pt x="221" y="437"/>
                    <a:pt x="236" y="367"/>
                    <a:pt x="256" y="298"/>
                  </a:cubicBezTo>
                  <a:cubicBezTo>
                    <a:pt x="277" y="223"/>
                    <a:pt x="288" y="147"/>
                    <a:pt x="306" y="72"/>
                  </a:cubicBezTo>
                  <a:cubicBezTo>
                    <a:pt x="315" y="32"/>
                    <a:pt x="281" y="24"/>
                    <a:pt x="256" y="12"/>
                  </a:cubicBezTo>
                  <a:cubicBezTo>
                    <a:pt x="233" y="0"/>
                    <a:pt x="226" y="24"/>
                    <a:pt x="217" y="37"/>
                  </a:cubicBezTo>
                  <a:cubicBezTo>
                    <a:pt x="194" y="68"/>
                    <a:pt x="181" y="103"/>
                    <a:pt x="173" y="140"/>
                  </a:cubicBezTo>
                  <a:cubicBezTo>
                    <a:pt x="145" y="265"/>
                    <a:pt x="120" y="390"/>
                    <a:pt x="88" y="513"/>
                  </a:cubicBezTo>
                  <a:cubicBezTo>
                    <a:pt x="77" y="553"/>
                    <a:pt x="64" y="591"/>
                    <a:pt x="57" y="633"/>
                  </a:cubicBezTo>
                  <a:cubicBezTo>
                    <a:pt x="35" y="758"/>
                    <a:pt x="0" y="881"/>
                    <a:pt x="14" y="1009"/>
                  </a:cubicBezTo>
                  <a:close/>
                  <a:moveTo>
                    <a:pt x="431" y="585"/>
                  </a:moveTo>
                  <a:cubicBezTo>
                    <a:pt x="435" y="585"/>
                    <a:pt x="439" y="585"/>
                    <a:pt x="442" y="583"/>
                  </a:cubicBezTo>
                  <a:cubicBezTo>
                    <a:pt x="498" y="542"/>
                    <a:pt x="531" y="579"/>
                    <a:pt x="566" y="617"/>
                  </a:cubicBezTo>
                  <a:cubicBezTo>
                    <a:pt x="580" y="633"/>
                    <a:pt x="598" y="647"/>
                    <a:pt x="617" y="656"/>
                  </a:cubicBezTo>
                  <a:cubicBezTo>
                    <a:pt x="666" y="679"/>
                    <a:pt x="659" y="719"/>
                    <a:pt x="629" y="754"/>
                  </a:cubicBezTo>
                  <a:cubicBezTo>
                    <a:pt x="601" y="788"/>
                    <a:pt x="559" y="807"/>
                    <a:pt x="521" y="826"/>
                  </a:cubicBezTo>
                  <a:cubicBezTo>
                    <a:pt x="497" y="838"/>
                    <a:pt x="475" y="843"/>
                    <a:pt x="469" y="873"/>
                  </a:cubicBezTo>
                  <a:cubicBezTo>
                    <a:pt x="469" y="874"/>
                    <a:pt x="461" y="874"/>
                    <a:pt x="456" y="875"/>
                  </a:cubicBezTo>
                  <a:cubicBezTo>
                    <a:pt x="451" y="877"/>
                    <a:pt x="445" y="879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28" y="848"/>
                    <a:pt x="393" y="841"/>
                    <a:pt x="370" y="820"/>
                  </a:cubicBezTo>
                  <a:cubicBezTo>
                    <a:pt x="350" y="802"/>
                    <a:pt x="331" y="783"/>
                    <a:pt x="313" y="762"/>
                  </a:cubicBezTo>
                  <a:cubicBezTo>
                    <a:pt x="280" y="723"/>
                    <a:pt x="241" y="688"/>
                    <a:pt x="205" y="650"/>
                  </a:cubicBezTo>
                  <a:cubicBezTo>
                    <a:pt x="278" y="625"/>
                    <a:pt x="353" y="599"/>
                    <a:pt x="431" y="58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24" name="椭圆 23"/>
          <p:cNvSpPr/>
          <p:nvPr/>
        </p:nvSpPr>
        <p:spPr>
          <a:xfrm>
            <a:off x="10128669" y="1735494"/>
            <a:ext cx="1150294" cy="115029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altLang="zh-CN" sz="2800" dirty="0">
              <a:solidFill>
                <a:schemeClr val="bg1">
                  <a:lumMod val="65000"/>
                </a:schemeClr>
              </a:solidFill>
              <a:latin typeface="Impact" panose="020B0806030902050204" pitchFamily="34" charset="0"/>
            </a:endParaRPr>
          </a:p>
        </p:txBody>
      </p:sp>
      <p:pic>
        <p:nvPicPr>
          <p:cNvPr id="20" name="图片占位符 19" descr="图片包含 建筑物, 户外, 天空&#10;&#10;自动生成的说明"/>
          <p:cNvPicPr>
            <a:picLocks noGrp="1" noChangeAspect="1"/>
          </p:cNvPicPr>
          <p:nvPr>
            <p:ph type="pic" sz="quarter" idx="19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3693" y="0"/>
            <a:ext cx="4927057" cy="6866909"/>
          </a:xfrm>
        </p:spPr>
      </p:pic>
      <p:sp>
        <p:nvSpPr>
          <p:cNvPr id="2" name="文本框 1"/>
          <p:cNvSpPr txBox="1"/>
          <p:nvPr/>
        </p:nvSpPr>
        <p:spPr>
          <a:xfrm>
            <a:off x="6832985" y="5247060"/>
            <a:ext cx="24481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/>
              <a:t>CICC 1003564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2243" y="1948366"/>
            <a:ext cx="1281897" cy="72455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2464</Words>
  <Application>Microsoft Office PowerPoint</Application>
  <PresentationFormat>宽屏</PresentationFormat>
  <Paragraphs>352</Paragraphs>
  <Slides>17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9" baseType="lpstr">
      <vt:lpstr>Plus Jakarta Sans</vt:lpstr>
      <vt:lpstr>var(--font-title)</vt:lpstr>
      <vt:lpstr>等线</vt:lpstr>
      <vt:lpstr>等线 Light</vt:lpstr>
      <vt:lpstr>微软雅黑</vt:lpstr>
      <vt:lpstr>Arial</vt:lpstr>
      <vt:lpstr>Cambria Math</vt:lpstr>
      <vt:lpstr>Courier New</vt:lpstr>
      <vt:lpstr>DM Sans</vt:lpstr>
      <vt:lpstr>Impact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lhhisdd@163.com</dc:creator>
  <cp:lastModifiedBy>lhhisdd@163.com</cp:lastModifiedBy>
  <cp:revision>131</cp:revision>
  <dcterms:created xsi:type="dcterms:W3CDTF">2026-07-19T14:35:31Z</dcterms:created>
  <dcterms:modified xsi:type="dcterms:W3CDTF">2026-07-20T03:55:50Z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2052-12.1.26026.26026</vt:lpwstr>
  </property>
  <property fmtid="{D5CDD505-2E9C-101B-9397-08002B2CF9AE}" pid="3" name="ICV">
    <vt:lpwstr>98F8192F1548C28650D65C6A50D4CD3A_43</vt:lpwstr>
  </property>
</Properties>
</file>