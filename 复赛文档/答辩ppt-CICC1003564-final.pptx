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65" r:id="rId3"/>
    <p:sldId id="259" r:id="rId4"/>
    <p:sldId id="260" r:id="rId5"/>
    <p:sldId id="261" r:id="rId6"/>
    <p:sldId id="262" r:id="rId7"/>
    <p:sldId id="273" r:id="rId8"/>
    <p:sldId id="267" r:id="rId9"/>
    <p:sldId id="274" r:id="rId10"/>
    <p:sldId id="271" r:id="rId11"/>
    <p:sldId id="269" r:id="rId12"/>
    <p:sldId id="266" r:id="rId13"/>
    <p:sldId id="268" r:id="rId14"/>
    <p:sldId id="263" r:id="rId15"/>
    <p:sldId id="264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0BE84"/>
    <a:srgbClr val="DA6579"/>
    <a:srgbClr val="2A2738"/>
    <a:srgbClr val="112E36"/>
    <a:srgbClr val="EDF5F8"/>
    <a:srgbClr val="EEF6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F60B81-9FB9-463D-887C-E815C92BB131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FD74B1-9578-41F2-9F83-75E9C2DDC17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0590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图片更新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5724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混合分割加速比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硬件在环闭环训练</a:t>
            </a:r>
            <a:r>
              <a:rPr lang="zh-CN" alt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在轨实验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FD74B1-9578-41F2-9F83-75E9C2DDC17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9226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D97CF9-94F7-CCDC-1DFB-68F3DB376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6F059C6-BF85-FF3B-8E90-5E49E25C8F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7717FF-5DBC-2510-2972-1158D80A0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0CAAB5-CAFE-084E-6EF7-F09D4BABF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0A32B6-A887-0FD8-2B0D-5C5701FD6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48066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F2616-9844-7882-2E59-1AF3A81C3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8C581CA-DBA3-25A4-55F3-3E2955B00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6DC20A-3668-5759-C03A-79C402A39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01CFB68-AA36-816E-1184-5AD7BAE5B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6680CA-8176-CE9E-8B7D-5D293ED6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833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F765ED-803C-26FC-D778-135B800B1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F602C37-F7D9-468C-9C57-EAA64F748E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4E8DEAA-495D-E1B8-E8FE-F0BF79AD3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E6E180-F565-411F-E757-09D4636F3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AAEE75-8509-C592-3737-12E20C266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3619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861356-3619-97C4-2BF9-6694A755D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1C25EE-38A0-E32F-477A-3F945A66F3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10F4E3-1112-6C86-10E7-8FD57817B1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2F2A2E2-34F7-B1E2-8C42-F758F36A6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6D164D-294F-D0D0-D6BF-A8604A395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7A6599-AFFE-D9CD-8EAD-E4A5A093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87214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6BD158-153D-40D7-AE05-D437B15B4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C13AA8-3EC6-F95A-4DB2-D936678A4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60DCC2-5864-4829-C155-98E8D468C8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FF99EEE-2440-4952-8B10-CD5A84F58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E81C8F4-2CF6-75E3-BDD0-364E7BD2C3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CBBCBF6-8A4E-7869-A021-AB87EB07E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6CB7142-B20F-4BCB-B61B-629292ECAB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D2CA931-A92B-1D4C-4F13-F8989A4BE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14636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ED5DFD-7AE4-3D0B-BFA4-ED40123C3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C1B5B59-89DA-B64B-612C-3F0149BECA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B40C110-7BFD-E1F6-0FAF-554FCC043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95FF14-B0A4-14B1-74C3-7F029E6E2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17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4382749-9D27-CE20-FBC8-73C2BC8E1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F23D7B1-3850-EFC6-7373-DA5C8C72E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068206-B1B2-011E-ECF9-A0550402C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837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16DC53-0811-18A6-AC2B-1D2AFB2D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988B50-37E7-2E09-6BE9-212949BAA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F251064-6709-132B-D4A5-AFDAA97C11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F1025C6-7D01-8D0F-4614-4124619B60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8F54878-2BF1-FDC7-4C8E-7CD464536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AF444ED-DADE-93F2-213E-81349DCC5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9414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E80096-B554-0F1D-A7EC-3F449778A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FE1AA8F-6A20-D794-8E66-7F746E4C9F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B3702C6-18A7-E6EF-1F07-C5B81B05A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D0BA99A-2272-9890-E064-FD2E3C418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EAF181-E18A-57BB-F5AC-9AA49DC4F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919E17-9C01-7BE6-F1EF-DCFCCE51F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8030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A8CFFC-44CF-99E8-C00E-482D79E00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ABE8778-B118-71AE-3931-670F82353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E24C3D-539B-0223-05AE-F845DA435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AF4286-EDB2-D298-9C18-21D5E473D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2D4DE37-03F9-F873-E5A1-DB29648F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230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8E5FE17-32C4-1B30-2212-AB9E0F43FF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02C4B79-2858-D5A1-0BED-BAD2E5626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1B15A99-630B-C847-CA4F-8CD9FABD6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75239B2-3053-8A90-292A-37A8B07BB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94D3B6-899D-CE74-757A-3B14390E1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8493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图片占位符 68">
            <a:extLst>
              <a:ext uri="{FF2B5EF4-FFF2-40B4-BE49-F238E27FC236}">
                <a16:creationId xmlns:a16="http://schemas.microsoft.com/office/drawing/2014/main" id="{17DCCBA1-CDE1-4A2D-861B-782D47E49E72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927057" cy="6866909"/>
          </a:xfrm>
          <a:custGeom>
            <a:avLst/>
            <a:gdLst>
              <a:gd name="connsiteX0" fmla="*/ 0 w 4927057"/>
              <a:gd name="connsiteY0" fmla="*/ 0 h 6866909"/>
              <a:gd name="connsiteX1" fmla="*/ 4547560 w 4927057"/>
              <a:gd name="connsiteY1" fmla="*/ 0 h 6866909"/>
              <a:gd name="connsiteX2" fmla="*/ 4816571 w 4927057"/>
              <a:gd name="connsiteY2" fmla="*/ 103308 h 6866909"/>
              <a:gd name="connsiteX3" fmla="*/ 4816571 w 4927057"/>
              <a:gd name="connsiteY3" fmla="*/ 613768 h 6866909"/>
              <a:gd name="connsiteX4" fmla="*/ 2331425 w 4927057"/>
              <a:gd name="connsiteY4" fmla="*/ 2971609 h 6866909"/>
              <a:gd name="connsiteX5" fmla="*/ 2331425 w 4927057"/>
              <a:gd name="connsiteY5" fmla="*/ 3475993 h 6866909"/>
              <a:gd name="connsiteX6" fmla="*/ 3843009 w 4927057"/>
              <a:gd name="connsiteY6" fmla="*/ 4916221 h 6866909"/>
              <a:gd name="connsiteX7" fmla="*/ 3843009 w 4927057"/>
              <a:gd name="connsiteY7" fmla="*/ 5420605 h 6866909"/>
              <a:gd name="connsiteX8" fmla="*/ 2433906 w 4927057"/>
              <a:gd name="connsiteY8" fmla="*/ 6763602 h 6866909"/>
              <a:gd name="connsiteX9" fmla="*/ 2164895 w 4927057"/>
              <a:gd name="connsiteY9" fmla="*/ 6866909 h 6866909"/>
              <a:gd name="connsiteX10" fmla="*/ 0 w 4927057"/>
              <a:gd name="connsiteY10" fmla="*/ 6866909 h 6866909"/>
              <a:gd name="connsiteX11" fmla="*/ 0 w 4927057"/>
              <a:gd name="connsiteY11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927057" h="6866909">
                <a:moveTo>
                  <a:pt x="0" y="0"/>
                </a:moveTo>
                <a:lnTo>
                  <a:pt x="4547560" y="0"/>
                </a:lnTo>
                <a:cubicBezTo>
                  <a:pt x="4650041" y="0"/>
                  <a:pt x="4746116" y="36462"/>
                  <a:pt x="4816571" y="103308"/>
                </a:cubicBezTo>
                <a:cubicBezTo>
                  <a:pt x="4963886" y="243077"/>
                  <a:pt x="4963886" y="473999"/>
                  <a:pt x="4816571" y="613768"/>
                </a:cubicBezTo>
                <a:cubicBezTo>
                  <a:pt x="4816571" y="613768"/>
                  <a:pt x="4816571" y="613768"/>
                  <a:pt x="2331425" y="2971609"/>
                </a:cubicBezTo>
                <a:cubicBezTo>
                  <a:pt x="2184110" y="3111379"/>
                  <a:pt x="2184110" y="3336224"/>
                  <a:pt x="2331425" y="3475993"/>
                </a:cubicBezTo>
                <a:cubicBezTo>
                  <a:pt x="2331425" y="3475993"/>
                  <a:pt x="2331425" y="3475993"/>
                  <a:pt x="3843009" y="4916221"/>
                </a:cubicBezTo>
                <a:cubicBezTo>
                  <a:pt x="3990324" y="5055990"/>
                  <a:pt x="3990324" y="5280836"/>
                  <a:pt x="3843009" y="5420605"/>
                </a:cubicBezTo>
                <a:cubicBezTo>
                  <a:pt x="3843009" y="5420605"/>
                  <a:pt x="3843009" y="5420605"/>
                  <a:pt x="2433906" y="6763602"/>
                </a:cubicBezTo>
                <a:cubicBezTo>
                  <a:pt x="2363450" y="6830448"/>
                  <a:pt x="2267375" y="6866909"/>
                  <a:pt x="2164895" y="6866909"/>
                </a:cubicBezTo>
                <a:cubicBezTo>
                  <a:pt x="2164895" y="6866909"/>
                  <a:pt x="2164895" y="6866909"/>
                  <a:pt x="0" y="6866909"/>
                </a:cubicBez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9E1C5DA2-4F8B-48E1-A5AD-97BD81CAFB01}"/>
              </a:ext>
            </a:extLst>
          </p:cNvPr>
          <p:cNvSpPr>
            <a:spLocks/>
          </p:cNvSpPr>
          <p:nvPr userDrawn="1"/>
        </p:nvSpPr>
        <p:spPr bwMode="auto">
          <a:xfrm>
            <a:off x="0" y="-8909"/>
            <a:ext cx="146229" cy="6866909"/>
          </a:xfrm>
          <a:custGeom>
            <a:avLst/>
            <a:gdLst>
              <a:gd name="connsiteX0" fmla="*/ 0 w 146229"/>
              <a:gd name="connsiteY0" fmla="*/ 0 h 6866909"/>
              <a:gd name="connsiteX1" fmla="*/ 146229 w 146229"/>
              <a:gd name="connsiteY1" fmla="*/ 0 h 6866909"/>
              <a:gd name="connsiteX2" fmla="*/ 146229 w 146229"/>
              <a:gd name="connsiteY2" fmla="*/ 6866909 h 6866909"/>
              <a:gd name="connsiteX3" fmla="*/ 0 w 146229"/>
              <a:gd name="connsiteY3" fmla="*/ 6866909 h 6866909"/>
              <a:gd name="connsiteX4" fmla="*/ 0 w 146229"/>
              <a:gd name="connsiteY4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6229" h="6866909">
                <a:moveTo>
                  <a:pt x="0" y="0"/>
                </a:moveTo>
                <a:lnTo>
                  <a:pt x="146229" y="0"/>
                </a:lnTo>
                <a:cubicBezTo>
                  <a:pt x="146229" y="6866909"/>
                  <a:pt x="146229" y="6866909"/>
                  <a:pt x="146229" y="6866909"/>
                </a:cubicBezTo>
                <a:lnTo>
                  <a:pt x="0" y="6866909"/>
                </a:lnTo>
                <a:cubicBezTo>
                  <a:pt x="0" y="6866909"/>
                  <a:pt x="0" y="6866909"/>
                  <a:pt x="0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38B3C36C-0FBE-4F43-B2A7-D03D74F471D6}"/>
              </a:ext>
            </a:extLst>
          </p:cNvPr>
          <p:cNvSpPr>
            <a:spLocks/>
          </p:cNvSpPr>
          <p:nvPr userDrawn="1"/>
        </p:nvSpPr>
        <p:spPr bwMode="auto">
          <a:xfrm>
            <a:off x="2490525" y="0"/>
            <a:ext cx="2946441" cy="6866909"/>
          </a:xfrm>
          <a:custGeom>
            <a:avLst/>
            <a:gdLst>
              <a:gd name="connsiteX0" fmla="*/ 2253196 w 2946441"/>
              <a:gd name="connsiteY0" fmla="*/ 0 h 6866909"/>
              <a:gd name="connsiteX1" fmla="*/ 2592682 w 2946441"/>
              <a:gd name="connsiteY1" fmla="*/ 0 h 6866909"/>
              <a:gd name="connsiteX2" fmla="*/ 2841680 w 2946441"/>
              <a:gd name="connsiteY2" fmla="*/ 103307 h 6866909"/>
              <a:gd name="connsiteX3" fmla="*/ 2841680 w 2946441"/>
              <a:gd name="connsiteY3" fmla="*/ 613768 h 6866909"/>
              <a:gd name="connsiteX4" fmla="*/ 485308 w 2946441"/>
              <a:gd name="connsiteY4" fmla="*/ 2971609 h 6866909"/>
              <a:gd name="connsiteX5" fmla="*/ 485308 w 2946441"/>
              <a:gd name="connsiteY5" fmla="*/ 3475993 h 6866909"/>
              <a:gd name="connsiteX6" fmla="*/ 1924638 w 2946441"/>
              <a:gd name="connsiteY6" fmla="*/ 4916221 h 6866909"/>
              <a:gd name="connsiteX7" fmla="*/ 1924638 w 2946441"/>
              <a:gd name="connsiteY7" fmla="*/ 5420605 h 6866909"/>
              <a:gd name="connsiteX8" fmla="*/ 588551 w 2946441"/>
              <a:gd name="connsiteY8" fmla="*/ 6763602 h 6866909"/>
              <a:gd name="connsiteX9" fmla="*/ 333479 w 2946441"/>
              <a:gd name="connsiteY9" fmla="*/ 6866909 h 6866909"/>
              <a:gd name="connsiteX10" fmla="*/ 42616 w 2946441"/>
              <a:gd name="connsiteY10" fmla="*/ 6866909 h 6866909"/>
              <a:gd name="connsiteX11" fmla="*/ 0 w 2946441"/>
              <a:gd name="connsiteY11" fmla="*/ 6866909 h 6866909"/>
              <a:gd name="connsiteX12" fmla="*/ 255079 w 2946441"/>
              <a:gd name="connsiteY12" fmla="*/ 6763602 h 6866909"/>
              <a:gd name="connsiteX13" fmla="*/ 1591205 w 2946441"/>
              <a:gd name="connsiteY13" fmla="*/ 5420605 h 6866909"/>
              <a:gd name="connsiteX14" fmla="*/ 1591205 w 2946441"/>
              <a:gd name="connsiteY14" fmla="*/ 4916221 h 6866909"/>
              <a:gd name="connsiteX15" fmla="*/ 151833 w 2946441"/>
              <a:gd name="connsiteY15" fmla="*/ 3475993 h 6866909"/>
              <a:gd name="connsiteX16" fmla="*/ 151833 w 2946441"/>
              <a:gd name="connsiteY16" fmla="*/ 2971609 h 6866909"/>
              <a:gd name="connsiteX17" fmla="*/ 2508274 w 2946441"/>
              <a:gd name="connsiteY17" fmla="*/ 613768 h 6866909"/>
              <a:gd name="connsiteX18" fmla="*/ 2508274 w 2946441"/>
              <a:gd name="connsiteY18" fmla="*/ 103307 h 6866909"/>
              <a:gd name="connsiteX19" fmla="*/ 2253196 w 2946441"/>
              <a:gd name="connsiteY19" fmla="*/ 0 h 6866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2946441" h="6866909">
                <a:moveTo>
                  <a:pt x="2253196" y="0"/>
                </a:moveTo>
                <a:lnTo>
                  <a:pt x="2592682" y="0"/>
                </a:lnTo>
                <a:cubicBezTo>
                  <a:pt x="2683779" y="0"/>
                  <a:pt x="2774876" y="36461"/>
                  <a:pt x="2841680" y="103307"/>
                </a:cubicBezTo>
                <a:cubicBezTo>
                  <a:pt x="2981362" y="243076"/>
                  <a:pt x="2981362" y="473999"/>
                  <a:pt x="2841680" y="613768"/>
                </a:cubicBezTo>
                <a:cubicBezTo>
                  <a:pt x="2841680" y="613768"/>
                  <a:pt x="2841680" y="613768"/>
                  <a:pt x="485308" y="2971609"/>
                </a:cubicBezTo>
                <a:cubicBezTo>
                  <a:pt x="345626" y="3111378"/>
                  <a:pt x="345626" y="3336224"/>
                  <a:pt x="485308" y="3475993"/>
                </a:cubicBezTo>
                <a:cubicBezTo>
                  <a:pt x="485308" y="3475993"/>
                  <a:pt x="485308" y="3475993"/>
                  <a:pt x="1924638" y="4916221"/>
                </a:cubicBezTo>
                <a:cubicBezTo>
                  <a:pt x="2064320" y="5055990"/>
                  <a:pt x="2064320" y="5280836"/>
                  <a:pt x="1924638" y="5420605"/>
                </a:cubicBezTo>
                <a:cubicBezTo>
                  <a:pt x="1924638" y="5420605"/>
                  <a:pt x="1924638" y="5420605"/>
                  <a:pt x="588551" y="6763602"/>
                </a:cubicBezTo>
                <a:cubicBezTo>
                  <a:pt x="521746" y="6830448"/>
                  <a:pt x="430649" y="6866909"/>
                  <a:pt x="333479" y="6866909"/>
                </a:cubicBezTo>
                <a:cubicBezTo>
                  <a:pt x="333479" y="6866909"/>
                  <a:pt x="333479" y="6866909"/>
                  <a:pt x="42616" y="6866909"/>
                </a:cubicBezTo>
                <a:lnTo>
                  <a:pt x="0" y="6866909"/>
                </a:lnTo>
                <a:cubicBezTo>
                  <a:pt x="97173" y="6866909"/>
                  <a:pt x="188272" y="6830448"/>
                  <a:pt x="255079" y="6763602"/>
                </a:cubicBezTo>
                <a:cubicBezTo>
                  <a:pt x="1591205" y="5420605"/>
                  <a:pt x="1591205" y="5420605"/>
                  <a:pt x="1591205" y="5420605"/>
                </a:cubicBezTo>
                <a:cubicBezTo>
                  <a:pt x="1730891" y="5280836"/>
                  <a:pt x="1730891" y="5055990"/>
                  <a:pt x="1591205" y="4916221"/>
                </a:cubicBezTo>
                <a:cubicBezTo>
                  <a:pt x="151833" y="3475993"/>
                  <a:pt x="151833" y="3475993"/>
                  <a:pt x="151833" y="3475993"/>
                </a:cubicBezTo>
                <a:cubicBezTo>
                  <a:pt x="12147" y="3336224"/>
                  <a:pt x="12147" y="3111378"/>
                  <a:pt x="151833" y="2971609"/>
                </a:cubicBezTo>
                <a:cubicBezTo>
                  <a:pt x="2508274" y="613768"/>
                  <a:pt x="2508274" y="613768"/>
                  <a:pt x="2508274" y="613768"/>
                </a:cubicBezTo>
                <a:cubicBezTo>
                  <a:pt x="2647960" y="473999"/>
                  <a:pt x="2647960" y="243076"/>
                  <a:pt x="2508274" y="103307"/>
                </a:cubicBezTo>
                <a:cubicBezTo>
                  <a:pt x="2441468" y="36461"/>
                  <a:pt x="2350368" y="0"/>
                  <a:pt x="2253196" y="0"/>
                </a:cubicBezTo>
                <a:close/>
              </a:path>
            </a:pathLst>
          </a:custGeom>
          <a:solidFill>
            <a:srgbClr val="00ADE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zh-CN" altLang="en-US"/>
          </a:p>
        </p:txBody>
      </p:sp>
      <p:sp>
        <p:nvSpPr>
          <p:cNvPr id="59" name="Freeform 52">
            <a:extLst>
              <a:ext uri="{FF2B5EF4-FFF2-40B4-BE49-F238E27FC236}">
                <a16:creationId xmlns:a16="http://schemas.microsoft.com/office/drawing/2014/main" id="{140CA74E-FF57-4DED-95E1-15757996C113}"/>
              </a:ext>
            </a:extLst>
          </p:cNvPr>
          <p:cNvSpPr>
            <a:spLocks/>
          </p:cNvSpPr>
          <p:nvPr userDrawn="1"/>
        </p:nvSpPr>
        <p:spPr bwMode="auto">
          <a:xfrm>
            <a:off x="3497795" y="6004160"/>
            <a:ext cx="1836635" cy="862751"/>
          </a:xfrm>
          <a:custGeom>
            <a:avLst/>
            <a:gdLst>
              <a:gd name="T0" fmla="*/ 302 w 302"/>
              <a:gd name="T1" fmla="*/ 142 h 142"/>
              <a:gd name="T2" fmla="*/ 173 w 302"/>
              <a:gd name="T3" fmla="*/ 12 h 142"/>
              <a:gd name="T4" fmla="*/ 129 w 302"/>
              <a:gd name="T5" fmla="*/ 12 h 142"/>
              <a:gd name="T6" fmla="*/ 0 w 302"/>
              <a:gd name="T7" fmla="*/ 142 h 142"/>
              <a:gd name="T8" fmla="*/ 302 w 302"/>
              <a:gd name="T9" fmla="*/ 142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2" h="142">
                <a:moveTo>
                  <a:pt x="302" y="142"/>
                </a:moveTo>
                <a:cubicBezTo>
                  <a:pt x="173" y="12"/>
                  <a:pt x="173" y="12"/>
                  <a:pt x="173" y="12"/>
                </a:cubicBezTo>
                <a:cubicBezTo>
                  <a:pt x="161" y="0"/>
                  <a:pt x="142" y="0"/>
                  <a:pt x="129" y="12"/>
                </a:cubicBezTo>
                <a:cubicBezTo>
                  <a:pt x="0" y="142"/>
                  <a:pt x="0" y="142"/>
                  <a:pt x="0" y="142"/>
                </a:cubicBezTo>
                <a:lnTo>
                  <a:pt x="302" y="142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Freeform 51">
            <a:extLst>
              <a:ext uri="{FF2B5EF4-FFF2-40B4-BE49-F238E27FC236}">
                <a16:creationId xmlns:a16="http://schemas.microsoft.com/office/drawing/2014/main" id="{8E35EC59-7131-4881-8A77-09EF54507C3F}"/>
              </a:ext>
            </a:extLst>
          </p:cNvPr>
          <p:cNvSpPr>
            <a:spLocks/>
          </p:cNvSpPr>
          <p:nvPr userDrawn="1"/>
        </p:nvSpPr>
        <p:spPr bwMode="auto">
          <a:xfrm>
            <a:off x="8940801" y="-1"/>
            <a:ext cx="1121717" cy="521688"/>
          </a:xfrm>
          <a:custGeom>
            <a:avLst/>
            <a:gdLst>
              <a:gd name="T0" fmla="*/ 0 w 303"/>
              <a:gd name="T1" fmla="*/ 0 h 141"/>
              <a:gd name="T2" fmla="*/ 130 w 303"/>
              <a:gd name="T3" fmla="*/ 129 h 141"/>
              <a:gd name="T4" fmla="*/ 173 w 303"/>
              <a:gd name="T5" fmla="*/ 129 h 141"/>
              <a:gd name="T6" fmla="*/ 303 w 303"/>
              <a:gd name="T7" fmla="*/ 0 h 141"/>
              <a:gd name="T8" fmla="*/ 0 w 303"/>
              <a:gd name="T9" fmla="*/ 0 h 1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3" h="141">
                <a:moveTo>
                  <a:pt x="0" y="0"/>
                </a:moveTo>
                <a:cubicBezTo>
                  <a:pt x="130" y="129"/>
                  <a:pt x="130" y="129"/>
                  <a:pt x="130" y="129"/>
                </a:cubicBezTo>
                <a:cubicBezTo>
                  <a:pt x="142" y="141"/>
                  <a:pt x="161" y="141"/>
                  <a:pt x="173" y="129"/>
                </a:cubicBezTo>
                <a:cubicBezTo>
                  <a:pt x="303" y="0"/>
                  <a:pt x="303" y="0"/>
                  <a:pt x="303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0" name="Freeform 53">
            <a:extLst>
              <a:ext uri="{FF2B5EF4-FFF2-40B4-BE49-F238E27FC236}">
                <a16:creationId xmlns:a16="http://schemas.microsoft.com/office/drawing/2014/main" id="{2868BB98-B4DA-4E11-918C-DB7C8B50DAB3}"/>
              </a:ext>
            </a:extLst>
          </p:cNvPr>
          <p:cNvSpPr>
            <a:spLocks/>
          </p:cNvSpPr>
          <p:nvPr userDrawn="1"/>
        </p:nvSpPr>
        <p:spPr bwMode="auto">
          <a:xfrm>
            <a:off x="9417976" y="-1"/>
            <a:ext cx="2774025" cy="3876157"/>
          </a:xfrm>
          <a:custGeom>
            <a:avLst/>
            <a:gdLst>
              <a:gd name="T0" fmla="*/ 23 w 750"/>
              <a:gd name="T1" fmla="*/ 237 h 1048"/>
              <a:gd name="T2" fmla="*/ 243 w 750"/>
              <a:gd name="T3" fmla="*/ 17 h 1048"/>
              <a:gd name="T4" fmla="*/ 285 w 750"/>
              <a:gd name="T5" fmla="*/ 0 h 1048"/>
              <a:gd name="T6" fmla="*/ 750 w 750"/>
              <a:gd name="T7" fmla="*/ 0 h 1048"/>
              <a:gd name="T8" fmla="*/ 750 w 750"/>
              <a:gd name="T9" fmla="*/ 1048 h 1048"/>
              <a:gd name="T10" fmla="*/ 23 w 750"/>
              <a:gd name="T11" fmla="*/ 321 h 1048"/>
              <a:gd name="T12" fmla="*/ 23 w 750"/>
              <a:gd name="T13" fmla="*/ 237 h 104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50" h="1048">
                <a:moveTo>
                  <a:pt x="23" y="237"/>
                </a:moveTo>
                <a:cubicBezTo>
                  <a:pt x="243" y="17"/>
                  <a:pt x="243" y="17"/>
                  <a:pt x="243" y="17"/>
                </a:cubicBezTo>
                <a:cubicBezTo>
                  <a:pt x="254" y="6"/>
                  <a:pt x="269" y="0"/>
                  <a:pt x="285" y="0"/>
                </a:cubicBezTo>
                <a:cubicBezTo>
                  <a:pt x="750" y="0"/>
                  <a:pt x="750" y="0"/>
                  <a:pt x="750" y="0"/>
                </a:cubicBezTo>
                <a:cubicBezTo>
                  <a:pt x="750" y="1048"/>
                  <a:pt x="750" y="1048"/>
                  <a:pt x="750" y="1048"/>
                </a:cubicBezTo>
                <a:cubicBezTo>
                  <a:pt x="23" y="321"/>
                  <a:pt x="23" y="321"/>
                  <a:pt x="23" y="321"/>
                </a:cubicBezTo>
                <a:cubicBezTo>
                  <a:pt x="0" y="298"/>
                  <a:pt x="0" y="260"/>
                  <a:pt x="23" y="237"/>
                </a:cubicBezTo>
                <a:close/>
              </a:path>
            </a:pathLst>
          </a:custGeom>
          <a:solidFill>
            <a:srgbClr val="FFB53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9751308C-2CB1-459B-89DB-3A4531608854}"/>
              </a:ext>
            </a:extLst>
          </p:cNvPr>
          <p:cNvSpPr/>
          <p:nvPr userDrawn="1"/>
        </p:nvSpPr>
        <p:spPr>
          <a:xfrm>
            <a:off x="10062518" y="1675446"/>
            <a:ext cx="1279178" cy="127917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标题 1">
            <a:extLst>
              <a:ext uri="{FF2B5EF4-FFF2-40B4-BE49-F238E27FC236}">
                <a16:creationId xmlns:a16="http://schemas.microsoft.com/office/drawing/2014/main" id="{BFAEB5CF-34AC-49E0-88C9-BC61C99E740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475845" y="2368777"/>
            <a:ext cx="5426076" cy="1621509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l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13" name="文本占位符 62">
            <a:extLst>
              <a:ext uri="{FF2B5EF4-FFF2-40B4-BE49-F238E27FC236}">
                <a16:creationId xmlns:a16="http://schemas.microsoft.com/office/drawing/2014/main" id="{E54A68FA-5892-4AED-9D99-BF7746D1E6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75845" y="4675013"/>
            <a:ext cx="5426076" cy="3108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14" name="文本占位符 13">
            <a:extLst>
              <a:ext uri="{FF2B5EF4-FFF2-40B4-BE49-F238E27FC236}">
                <a16:creationId xmlns:a16="http://schemas.microsoft.com/office/drawing/2014/main" id="{897B519E-C472-4AAF-98C8-9ED2D16BEA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75846" y="4378742"/>
            <a:ext cx="5426076" cy="296271"/>
          </a:xfrm>
          <a:prstGeom prst="rect">
            <a:avLst/>
          </a:prstGeom>
        </p:spPr>
        <p:txBody>
          <a:bodyPr vert="horz" anchor="ctr">
            <a:noAutofit/>
          </a:bodyPr>
          <a:lstStyle>
            <a:lvl1pPr marL="0" indent="0" algn="l">
              <a:buNone/>
              <a:defRPr sz="1500" b="0">
                <a:solidFill>
                  <a:schemeClr val="tx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9079436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78DAF8A-A3AE-61C3-57F4-C478F1546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C2B45A-0B22-A05C-0A47-9DFA2262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AAAF346-CF1B-C6D8-8688-CAFDF0A11A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BC73B0-5CBF-4C2B-913F-C8FC7EDBB2EF}" type="datetimeFigureOut">
              <a:rPr lang="zh-CN" altLang="en-US" smtClean="0"/>
              <a:t>2026/7/19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280DC5-95FB-8CD7-F1DF-AD1B725D70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89D0049-F685-227A-64CF-1FC29C68BC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8E4ED-5289-4BB6-9CD9-1197EE4CA2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3283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www.modelscope.cn/datasets/lhh010/EuroSAT_RGB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首页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76300" y="1486417"/>
            <a:ext cx="104394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5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面向航空航天在轨计算</a:t>
            </a:r>
            <a:endParaRPr lang="en-US" altLang="zh-CN" sz="5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zh-CN" sz="5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的光学 CNN 加速系统 </a:t>
            </a:r>
            <a:endParaRPr lang="en-US" altLang="zh-CN" sz="5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zh-CN" sz="4400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—— Optic-SpaceNet</a:t>
            </a:r>
            <a:endParaRPr lang="en-US" altLang="zh-CN" sz="4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endParaRPr lang="en-US" altLang="zh-CN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r>
              <a:rPr lang="zh-CN" altLang="en-US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多</a:t>
            </a:r>
            <a:r>
              <a:rPr lang="zh-CN" altLang="zh-CN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模型</a:t>
            </a:r>
            <a:r>
              <a:rPr lang="zh-CN" altLang="en-US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架构</a:t>
            </a:r>
            <a:r>
              <a:rPr lang="zh-CN" altLang="zh-CN" dirty="0">
                <a:solidFill>
                  <a:srgbClr val="142DA8"/>
                </a:solidFill>
                <a:latin typeface="Alimama ShuHeiTi Bold" charset="-122"/>
                <a:ea typeface="Alimama ShuHeiTi Bold" charset="-122"/>
              </a:rPr>
              <a:t>量化迁移 × 曦智 Gazelle 光计算平台</a:t>
            </a:r>
          </a:p>
          <a:p>
            <a:pPr algn="ctr"/>
            <a:endParaRPr lang="zh-CN" altLang="zh-CN" sz="44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  <a:p>
            <a:pPr algn="ctr"/>
            <a:endParaRPr lang="zh-CN" altLang="en-US" sz="4000" dirty="0">
              <a:solidFill>
                <a:srgbClr val="142DA8"/>
              </a:solidFill>
              <a:latin typeface="Alimama ShuHeiTi Bold" charset="-122"/>
              <a:ea typeface="Alimama ShuHeiTi Bold" charset="-122"/>
            </a:endParaRPr>
          </a:p>
        </p:txBody>
      </p:sp>
      <p:pic>
        <p:nvPicPr>
          <p:cNvPr id="9" name="图片 8" descr="集创赛黑字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16" y="190417"/>
            <a:ext cx="1296000" cy="1296000"/>
          </a:xfrm>
          <a:prstGeom prst="rect">
            <a:avLst/>
          </a:prstGeom>
        </p:spPr>
      </p:pic>
      <p:sp>
        <p:nvSpPr>
          <p:cNvPr id="14" name="圆角矩形 13"/>
          <p:cNvSpPr/>
          <p:nvPr/>
        </p:nvSpPr>
        <p:spPr>
          <a:xfrm>
            <a:off x="4317999" y="5373950"/>
            <a:ext cx="3404235" cy="539054"/>
          </a:xfrm>
          <a:prstGeom prst="roundRect">
            <a:avLst>
              <a:gd name="adj" fmla="val 50000"/>
            </a:avLst>
          </a:prstGeom>
          <a:solidFill>
            <a:srgbClr val="004CE5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/>
              <a:t>CICC 1003564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22C56590-6174-E86D-568E-22B3A55FDD8E}"/>
              </a:ext>
            </a:extLst>
          </p:cNvPr>
          <p:cNvGrpSpPr/>
          <p:nvPr/>
        </p:nvGrpSpPr>
        <p:grpSpPr>
          <a:xfrm>
            <a:off x="4296000" y="4567603"/>
            <a:ext cx="3600000" cy="553195"/>
            <a:chOff x="4296000" y="3420000"/>
            <a:chExt cx="3600000" cy="553195"/>
          </a:xfrm>
        </p:grpSpPr>
        <p:sp>
          <p:nvSpPr>
            <p:cNvPr id="6" name="圆角矩形 10">
              <a:extLst>
                <a:ext uri="{FF2B5EF4-FFF2-40B4-BE49-F238E27FC236}">
                  <a16:creationId xmlns:a16="http://schemas.microsoft.com/office/drawing/2014/main" id="{3B446EB0-0C64-3743-94B2-A59059FBCF96}"/>
                </a:ext>
              </a:extLst>
            </p:cNvPr>
            <p:cNvSpPr/>
            <p:nvPr/>
          </p:nvSpPr>
          <p:spPr>
            <a:xfrm>
              <a:off x="4296000" y="3420000"/>
              <a:ext cx="3600000" cy="540000"/>
            </a:xfrm>
            <a:prstGeom prst="roundRect">
              <a:avLst>
                <a:gd name="adj" fmla="val 15518"/>
              </a:avLst>
            </a:prstGeom>
            <a:solidFill>
              <a:schemeClr val="bg1"/>
            </a:solidFill>
            <a:ln w="25400">
              <a:solidFill>
                <a:srgbClr val="142D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tIns="144145"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B7EDD38-785A-A159-1052-B1CA8B151D24}"/>
                </a:ext>
              </a:extLst>
            </p:cNvPr>
            <p:cNvSpPr txBox="1"/>
            <p:nvPr/>
          </p:nvSpPr>
          <p:spPr>
            <a:xfrm>
              <a:off x="4418965" y="3420110"/>
              <a:ext cx="3354070" cy="5530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000" dirty="0">
                  <a:solidFill>
                    <a:srgbClr val="142DA8"/>
                  </a:solidFill>
                  <a:latin typeface="HarmonyOS Sans SC Black" panose="00000A00000000000000" charset="-122"/>
                  <a:ea typeface="HarmonyOS Sans SC Black" panose="00000A00000000000000" charset="-122"/>
                </a:rPr>
                <a:t>曦智科技 命题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6E5F4B0-27F0-D317-A43A-A31AF3633722}"/>
              </a:ext>
            </a:extLst>
          </p:cNvPr>
          <p:cNvSpPr txBox="1"/>
          <p:nvPr/>
        </p:nvSpPr>
        <p:spPr>
          <a:xfrm>
            <a:off x="718922" y="198831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在轨遥感计算的结构性困境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8895BCB-58BC-72F4-6B6E-AEDFDEA8867C}"/>
              </a:ext>
            </a:extLst>
          </p:cNvPr>
          <p:cNvSpPr txBox="1"/>
          <p:nvPr/>
        </p:nvSpPr>
        <p:spPr>
          <a:xfrm>
            <a:off x="5248906" y="5611113"/>
            <a:ext cx="60439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光计算核心芯片抗 SEU 辐射能力强，但外围的 DAC/ADC、FPGA 等电气模块仍需辅以常规宇航加固措施。</a:t>
            </a:r>
            <a:endParaRPr lang="zh-CN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5D81356-3D7A-5F18-8737-3783823CC4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090506"/>
              </p:ext>
            </p:extLst>
          </p:nvPr>
        </p:nvGraphicFramePr>
        <p:xfrm>
          <a:off x="5248906" y="1094111"/>
          <a:ext cx="6376805" cy="4192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0140">
                  <a:extLst>
                    <a:ext uri="{9D8B030D-6E8A-4147-A177-3AD203B41FA5}">
                      <a16:colId xmlns:a16="http://schemas.microsoft.com/office/drawing/2014/main" val="2520349776"/>
                    </a:ext>
                  </a:extLst>
                </a:gridCol>
                <a:gridCol w="2157556">
                  <a:extLst>
                    <a:ext uri="{9D8B030D-6E8A-4147-A177-3AD203B41FA5}">
                      <a16:colId xmlns:a16="http://schemas.microsoft.com/office/drawing/2014/main" val="2945032955"/>
                    </a:ext>
                  </a:extLst>
                </a:gridCol>
                <a:gridCol w="2029109">
                  <a:extLst>
                    <a:ext uri="{9D8B030D-6E8A-4147-A177-3AD203B41FA5}">
                      <a16:colId xmlns:a16="http://schemas.microsoft.com/office/drawing/2014/main" val="1400314923"/>
                    </a:ext>
                  </a:extLst>
                </a:gridCol>
              </a:tblGrid>
              <a:tr h="556992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评价指标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电子计算 (GPU/ASIC)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光学计算核 (Gazelle)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5285541"/>
                  </a:ext>
                </a:extLst>
              </a:tr>
              <a:tr h="67506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功耗与散热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极高 (散热设计庞大)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极低 (超高能量效率)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606481"/>
                  </a:ext>
                </a:extLst>
              </a:tr>
              <a:tr h="773251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单粒子翻转 (SEU)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高发 (需复杂冗余纠错)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天然免疫 (模拟物理过程)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045705"/>
                  </a:ext>
                </a:extLst>
              </a:tr>
              <a:tr h="760977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计算延迟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受寄存器、总线带宽限制</a:t>
                      </a:r>
                      <a:endParaRPr lang="zh-CN" altLang="en-US" sz="2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光速波分/并行相干运算</a:t>
                      </a:r>
                      <a:endParaRPr lang="zh-CN" altLang="en-US" sz="24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6616712"/>
                  </a:ext>
                </a:extLst>
              </a:tr>
              <a:tr h="900504">
                <a:tc>
                  <a:txBody>
                    <a:bodyPr/>
                    <a:lstStyle/>
                    <a:p>
                      <a:r>
                        <a:rPr lang="zh-CN" altLang="zh-CN" sz="2400" b="1" i="0" kern="1200" dirty="0">
                          <a:solidFill>
                            <a:srgbClr val="1815B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太空退化寿命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电学老化、寿命5-10年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zh-CN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无电偏置老化、寿命&gt;10年</a:t>
                      </a:r>
                      <a:endParaRPr lang="zh-CN" altLang="en-US" sz="2400" b="0" dirty="0"/>
                    </a:p>
                  </a:txBody>
                  <a:tcPr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430056"/>
                  </a:ext>
                </a:extLst>
              </a:tr>
            </a:tbl>
          </a:graphicData>
        </a:graphic>
      </p:graphicFrame>
      <p:pic>
        <p:nvPicPr>
          <p:cNvPr id="3" name="图片 2">
            <a:extLst>
              <a:ext uri="{FF2B5EF4-FFF2-40B4-BE49-F238E27FC236}">
                <a16:creationId xmlns:a16="http://schemas.microsoft.com/office/drawing/2014/main" id="{7612D245-3E8C-F348-DC61-2BAD990055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885" y="1960161"/>
            <a:ext cx="4648711" cy="3099140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02 / 15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DA2A32-317F-7C6B-5FD0-9AAC874F9F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BE992194-FAA5-5CE6-1703-33753BAD50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811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CCB72E09-BCDF-9368-CFB2-7D87B23FB9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-485915" y="2409570"/>
            <a:ext cx="5552940" cy="2514648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AA5C9285-DFB3-E1BD-F896-E66E5A403E22}"/>
              </a:ext>
            </a:extLst>
          </p:cNvPr>
          <p:cNvSpPr txBox="1"/>
          <p:nvPr/>
        </p:nvSpPr>
        <p:spPr>
          <a:xfrm>
            <a:off x="679704" y="191813"/>
            <a:ext cx="592982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遥感数据集与十类地物分类任务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3F096D8F-4278-BB6C-8DA8-28EBAD47E8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5075" y="693304"/>
            <a:ext cx="7286403" cy="5380728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4CF814B-913C-4570-5613-9D9FB69CC237}"/>
              </a:ext>
            </a:extLst>
          </p:cNvPr>
          <p:cNvSpPr txBox="1"/>
          <p:nvPr/>
        </p:nvSpPr>
        <p:spPr>
          <a:xfrm>
            <a:off x="5039582" y="6074032"/>
            <a:ext cx="5036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数据集见：</a:t>
            </a:r>
            <a:r>
              <a:rPr lang="zh-CN" altLang="en-US" dirty="0">
                <a:hlinkClick r:id="rId4"/>
              </a:rPr>
              <a:t>卫星图像多分类数据集 </a:t>
            </a:r>
            <a:r>
              <a:rPr lang="en-US" altLang="zh-CN" dirty="0">
                <a:hlinkClick r:id="rId4"/>
              </a:rPr>
              <a:t>· </a:t>
            </a:r>
            <a:r>
              <a:rPr lang="es-ES" altLang="zh-CN" dirty="0">
                <a:hlinkClick r:id="rId4"/>
              </a:rPr>
              <a:t>modelscope</a:t>
            </a:r>
            <a:endParaRPr lang="zh-CN" altLang="en-US" dirty="0"/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03 / 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4F1B886-B97D-56F4-7620-FD1787EBC8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>
            <a:extLst>
              <a:ext uri="{FF2B5EF4-FFF2-40B4-BE49-F238E27FC236}">
                <a16:creationId xmlns:a16="http://schemas.microsoft.com/office/drawing/2014/main" id="{283F5DB2-7183-F02E-AAEE-B56BF65CDC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443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AE6311-FDE2-46C2-6D3F-BF6F8F312D33}"/>
              </a:ext>
            </a:extLst>
          </p:cNvPr>
          <p:cNvSpPr txBox="1"/>
          <p:nvPr/>
        </p:nvSpPr>
        <p:spPr>
          <a:xfrm>
            <a:off x="780028" y="231454"/>
            <a:ext cx="503535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硬件</a:t>
            </a:r>
            <a:r>
              <a:rPr lang="zh-CN" altLang="en-US" sz="3200" b="1" dirty="0">
                <a:solidFill>
                  <a:srgbClr val="0061E2"/>
                </a:solidFill>
              </a:rPr>
              <a:t>模拟</a:t>
            </a:r>
            <a:r>
              <a:rPr lang="zh-CN" altLang="zh-CN" sz="3200" b="1" dirty="0">
                <a:solidFill>
                  <a:srgbClr val="0061E2"/>
                </a:solidFill>
              </a:rPr>
              <a:t>平台 Gazelle</a:t>
            </a:r>
            <a:r>
              <a:rPr lang="en-US" altLang="zh-CN" sz="3200" b="1" dirty="0">
                <a:solidFill>
                  <a:srgbClr val="0061E2"/>
                </a:solidFill>
              </a:rPr>
              <a:t> </a:t>
            </a:r>
            <a:r>
              <a:rPr lang="zh-CN" altLang="en-US" sz="3200" b="1" dirty="0">
                <a:solidFill>
                  <a:srgbClr val="0061E2"/>
                </a:solidFill>
              </a:rPr>
              <a:t>环境</a:t>
            </a:r>
            <a:endParaRPr lang="zh-CN" altLang="zh-CN" sz="3200" b="1" dirty="0">
              <a:solidFill>
                <a:srgbClr val="0061E2"/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9DD4A29-369A-CA29-2FB5-B591764BAC00}"/>
              </a:ext>
            </a:extLst>
          </p:cNvPr>
          <p:cNvSpPr txBox="1"/>
          <p:nvPr/>
        </p:nvSpPr>
        <p:spPr>
          <a:xfrm>
            <a:off x="411480" y="1496534"/>
            <a:ext cx="53036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结论：</a:t>
            </a:r>
            <a:endParaRPr lang="en-US" altLang="zh-CN" sz="2400" b="1" dirty="0"/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分块约束：tile 8×2，输入长度须被8整除</a:t>
            </a:r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物理线性度 99.4%，偏差可忽略</a:t>
            </a:r>
          </a:p>
          <a:p>
            <a:r>
              <a:rPr lang="en-US" altLang="zh-CN" sz="2000" dirty="0"/>
              <a:t>    </a:t>
            </a:r>
            <a:r>
              <a:rPr lang="zh-CN" altLang="zh-CN" sz="2000" dirty="0"/>
              <a:t>精度损失源于量化噪声及激活量化精度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8267FE3-0C44-53D7-A77F-28C6037729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8032" y="271570"/>
            <a:ext cx="6523968" cy="326198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55E357-7572-376A-6166-A40BA838BD1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9F9F9"/>
              </a:clrFrom>
              <a:clrTo>
                <a:srgbClr val="F9F9F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96" b="26720"/>
          <a:stretch>
            <a:fillRect/>
          </a:stretch>
        </p:blipFill>
        <p:spPr>
          <a:xfrm>
            <a:off x="6311648" y="3826524"/>
            <a:ext cx="5752762" cy="1692442"/>
          </a:xfrm>
          <a:prstGeom prst="rect">
            <a:avLst/>
          </a:prstGeom>
        </p:spPr>
      </p:pic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5EAAC59F-7B59-B1D6-6811-32A50718E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1440234"/>
              </p:ext>
            </p:extLst>
          </p:nvPr>
        </p:nvGraphicFramePr>
        <p:xfrm>
          <a:off x="459505" y="3522294"/>
          <a:ext cx="5852143" cy="2329180"/>
        </p:xfrm>
        <a:graphic>
          <a:graphicData uri="http://schemas.openxmlformats.org/drawingml/2006/table">
            <a:tbl>
              <a:tblPr/>
              <a:tblGrid>
                <a:gridCol w="1390049">
                  <a:extLst>
                    <a:ext uri="{9D8B030D-6E8A-4147-A177-3AD203B41FA5}">
                      <a16:colId xmlns:a16="http://schemas.microsoft.com/office/drawing/2014/main" val="2762495698"/>
                    </a:ext>
                  </a:extLst>
                </a:gridCol>
                <a:gridCol w="1351964">
                  <a:extLst>
                    <a:ext uri="{9D8B030D-6E8A-4147-A177-3AD203B41FA5}">
                      <a16:colId xmlns:a16="http://schemas.microsoft.com/office/drawing/2014/main" val="3609416111"/>
                    </a:ext>
                  </a:extLst>
                </a:gridCol>
                <a:gridCol w="3110130">
                  <a:extLst>
                    <a:ext uri="{9D8B030D-6E8A-4147-A177-3AD203B41FA5}">
                      <a16:colId xmlns:a16="http://schemas.microsoft.com/office/drawing/2014/main" val="41886346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物理属性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数值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cap="all" dirty="0">
                          <a:solidFill>
                            <a:srgbClr val="FFFFFF"/>
                          </a:solidFill>
                          <a:effectLst/>
                          <a:latin typeface="Plus Jakarta Sans"/>
                        </a:rPr>
                        <a:t>物理约束 / 工程学影响</a:t>
                      </a:r>
                    </a:p>
                  </a:txBody>
                  <a:tcPr marL="101600" marR="101600" marT="76200" marB="76200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6400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物理计算 Tile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</a:rPr>
                        <a:t>8×2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(k=8, n=2)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卷积乘加展平后长度必须被 8 整除，否则硬件必须补零闲置</a:t>
                      </a:r>
                    </a:p>
                  </a:txBody>
                  <a:tcPr marL="101600" marR="101600" marT="69850" marB="698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6315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</a:rPr>
                        <a:t>原生支持精度</a:t>
                      </a:r>
                      <a:endParaRPr 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激活 / </a:t>
                      </a:r>
                      <a:endParaRPr lang="en-US" altLang="zh-CN" sz="1400" b="0" i="0" dirty="0">
                        <a:solidFill>
                          <a:schemeClr val="tx1"/>
                        </a:solidFill>
                        <a:effectLst/>
                        <a:latin typeface="Plus Jakarta Sans"/>
                      </a:endParaRPr>
                    </a:p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1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8-bit</a:t>
                      </a: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 权重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sz="1400" b="0" i="0" dirty="0">
                          <a:solidFill>
                            <a:schemeClr val="tx1"/>
                          </a:solidFill>
                          <a:effectLst/>
                          <a:latin typeface="Plus Jakarta Sans"/>
                        </a:rPr>
                        <a:t>支持 INT8 GEMM，无需为了适配降低精度至 INT4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54862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375"/>
                        </a:spcBef>
                        <a:buNone/>
                      </a:pPr>
                      <a:r>
                        <a:rPr lang="zh-CN" altLang="en-US" sz="1400" b="1" i="0" kern="1200" dirty="0">
                          <a:solidFill>
                            <a:srgbClr val="1815B0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运算速率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7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altLang="zh-CN" sz="1400" b="1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2.6MOPs</a:t>
                      </a:r>
                      <a:endParaRPr lang="es-ES" altLang="zh-CN" sz="1800" b="0" i="0" u="none" strike="noStrike" kern="1200" baseline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 defTabSz="914400" rtl="0" eaLnBrk="1" latinLnBrk="0" hangingPunct="1">
                        <a:spcBef>
                          <a:spcPts val="375"/>
                        </a:spcBef>
                        <a:buNone/>
                      </a:pPr>
                      <a:r>
                        <a:rPr lang="zh-CN" altLang="zh-CN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算力总容量极其有限，要求工程上必须采用极度轻量化的网络结构</a:t>
                      </a:r>
                      <a:r>
                        <a:rPr lang="zh-CN" altLang="en-US" sz="1400" b="0" i="0" kern="1200" dirty="0">
                          <a:solidFill>
                            <a:schemeClr val="tx1"/>
                          </a:solidFill>
                          <a:effectLst/>
                          <a:latin typeface="Plus Jakarta Sans"/>
                          <a:ea typeface="+mn-ea"/>
                          <a:cs typeface="+mn-cs"/>
                        </a:rPr>
                        <a:t>以避免大量计算</a:t>
                      </a:r>
                    </a:p>
                  </a:txBody>
                  <a:tcPr marL="101600" marR="101600" marT="69850" marB="6985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48396"/>
                  </a:ext>
                </a:extLst>
              </a:tr>
            </a:tbl>
          </a:graphicData>
        </a:graphic>
      </p:graphicFrame>
      <p:sp>
        <p:nvSpPr>
          <p:cNvPr id="10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04 / 15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FF4C16D-B3CF-1923-37FC-2E3C512FDF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4" name="图片 13" descr="集创赛1">
            <a:extLst>
              <a:ext uri="{FF2B5EF4-FFF2-40B4-BE49-F238E27FC236}">
                <a16:creationId xmlns:a16="http://schemas.microsoft.com/office/drawing/2014/main" id="{49E6EFAB-7F79-136B-A0F3-061B8511BE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4772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BCD4FFB-5EFC-AE1C-0600-8A1518CB57A7}"/>
              </a:ext>
            </a:extLst>
          </p:cNvPr>
          <p:cNvSpPr txBox="1"/>
          <p:nvPr/>
        </p:nvSpPr>
        <p:spPr>
          <a:xfrm>
            <a:off x="764481" y="287382"/>
            <a:ext cx="63401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三模型设计：极简化硬件感知架构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C2D1CD-BC8F-067E-BE03-7035D7632286}"/>
              </a:ext>
            </a:extLst>
          </p:cNvPr>
          <p:cNvSpPr txBox="1"/>
          <p:nvPr/>
        </p:nvSpPr>
        <p:spPr>
          <a:xfrm>
            <a:off x="3398346" y="5890386"/>
            <a:ext cx="53953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用 1/9 的参数量 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实现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 1/150 的在轨推算</a:t>
            </a:r>
            <a:r>
              <a:rPr lang="zh-CN" altLang="en-US" sz="2000" dirty="0">
                <a:latin typeface="幼圆" panose="02010509060101010101" pitchFamily="49" charset="-122"/>
                <a:ea typeface="幼圆" panose="02010509060101010101" pitchFamily="49" charset="-122"/>
              </a:rPr>
              <a:t>负担</a:t>
            </a:r>
            <a:r>
              <a:rPr lang="zh-CN" altLang="zh-CN" sz="2000" dirty="0">
                <a:latin typeface="幼圆" panose="02010509060101010101" pitchFamily="49" charset="-122"/>
                <a:ea typeface="幼圆" panose="02010509060101010101" pitchFamily="49" charset="-122"/>
              </a:rPr>
              <a:t>。</a:t>
            </a:r>
            <a:endParaRPr lang="zh-CN" altLang="en-US" sz="2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2CC6C38-9878-2BEF-F227-BF775EFD0B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01536"/>
                  </p:ext>
                </p:extLst>
              </p:nvPr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>
                      <a:extLst>
                        <a:ext uri="{9D8B030D-6E8A-4147-A177-3AD203B41FA5}">
                          <a16:colId xmlns:a16="http://schemas.microsoft.com/office/drawing/2014/main" val="747698638"/>
                        </a:ext>
                      </a:extLst>
                    </a:gridCol>
                    <a:gridCol w="2938858">
                      <a:extLst>
                        <a:ext uri="{9D8B030D-6E8A-4147-A177-3AD203B41FA5}">
                          <a16:colId xmlns:a16="http://schemas.microsoft.com/office/drawing/2014/main" val="1745584961"/>
                        </a:ext>
                      </a:extLst>
                    </a:gridCol>
                    <a:gridCol w="3037772">
                      <a:extLst>
                        <a:ext uri="{9D8B030D-6E8A-4147-A177-3AD203B41FA5}">
                          <a16:colId xmlns:a16="http://schemas.microsoft.com/office/drawing/2014/main" val="784892841"/>
                        </a:ext>
                      </a:extLst>
                    </a:gridCol>
                    <a:gridCol w="3448945">
                      <a:extLst>
                        <a:ext uri="{9D8B030D-6E8A-4147-A177-3AD203B41FA5}">
                          <a16:colId xmlns:a16="http://schemas.microsoft.com/office/drawing/2014/main" val="1417104393"/>
                        </a:ext>
                      </a:extLst>
                    </a:gridCol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1239155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003621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759851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992989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65619"/>
                      </a:ext>
                    </a:extLst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754118"/>
                      </a:ext>
                    </a:extLst>
                  </a:tr>
                  <a:tr h="151200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ResNet-18 蒸馏辅导训练</a:t>
                          </a:r>
                          <a:endParaRPr lang="en-US" alt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 (教师: 97.83%)</a:t>
                          </a:r>
                        </a:p>
                        <a:p>
                          <a:pPr marL="0" marR="0" algn="ctr">
                            <a:spcBef>
                              <a:spcPts val="300"/>
                            </a:spcBef>
                            <a:spcAft>
                              <a:spcPts val="3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𝐾𝐷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1−</m:t>
                                    </m:r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</m:d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𝐶𝐸</m:t>
                                    </m:r>
                                  </m:sub>
                                </m:sSub>
                                <m:r>
                                  <a:rPr lang="en-US" altLang="zh-CN" sz="2000" i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zh-CN" altLang="en-US" sz="20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sSup>
                                  <m:sSup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  <m:sup>
                                    <m:r>
                                      <a:rPr lang="en-US" altLang="zh-CN" sz="2000" i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sSub>
                                  <m:sSubPr>
                                    <m:ctrlP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zh-CN" altLang="en-US" sz="2000" i="1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𝐾𝐿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  <a:p>
                          <a:pPr marL="0" marR="0" algn="ctr">
                            <a:buNone/>
                          </a:pPr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T = 4.0,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11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    </m:t>
                              </m:r>
                              <m:r>
                                <a:rPr lang="zh-CN" altLang="en-US" sz="11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zh-CN" sz="11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= 0.7</a:t>
                          </a:r>
                          <a:endParaRPr lang="zh-CN" sz="1600" b="0" i="0" dirty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206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5">
                <a:extLst>
                  <a:ext uri="{FF2B5EF4-FFF2-40B4-BE49-F238E27FC236}">
                    <a16:creationId xmlns:a16="http://schemas.microsoft.com/office/drawing/2014/main" id="{92CC6C38-9878-2BEF-F227-BF775EFD0B1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8901536"/>
                  </p:ext>
                </p:extLst>
              </p:nvPr>
            </p:nvGraphicFramePr>
            <p:xfrm>
              <a:off x="338659" y="1456540"/>
              <a:ext cx="11514682" cy="4232103"/>
            </p:xfrm>
            <a:graphic>
              <a:graphicData uri="http://schemas.openxmlformats.org/drawingml/2006/table">
                <a:tbl>
                  <a:tblPr/>
                  <a:tblGrid>
                    <a:gridCol w="2089107">
                      <a:extLst>
                        <a:ext uri="{9D8B030D-6E8A-4147-A177-3AD203B41FA5}">
                          <a16:colId xmlns:a16="http://schemas.microsoft.com/office/drawing/2014/main" val="747698638"/>
                        </a:ext>
                      </a:extLst>
                    </a:gridCol>
                    <a:gridCol w="2938858">
                      <a:extLst>
                        <a:ext uri="{9D8B030D-6E8A-4147-A177-3AD203B41FA5}">
                          <a16:colId xmlns:a16="http://schemas.microsoft.com/office/drawing/2014/main" val="1745584961"/>
                        </a:ext>
                      </a:extLst>
                    </a:gridCol>
                    <a:gridCol w="3037772">
                      <a:extLst>
                        <a:ext uri="{9D8B030D-6E8A-4147-A177-3AD203B41FA5}">
                          <a16:colId xmlns:a16="http://schemas.microsoft.com/office/drawing/2014/main" val="784892841"/>
                        </a:ext>
                      </a:extLst>
                    </a:gridCol>
                    <a:gridCol w="3448945">
                      <a:extLst>
                        <a:ext uri="{9D8B030D-6E8A-4147-A177-3AD203B41FA5}">
                          <a16:colId xmlns:a16="http://schemas.microsoft.com/office/drawing/2014/main" val="1417104393"/>
                        </a:ext>
                      </a:extLst>
                    </a:gridCol>
                  </a:tblGrid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评估对比维度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1 (基准 VGG)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2 (SpaceNet V1)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FFFFFF"/>
                              </a:solidFill>
                              <a:effectLst/>
                              <a:latin typeface="var(--font-title)"/>
                            </a:rPr>
                            <a:t>Model 3 (SpaceNet V2)</a:t>
                          </a:r>
                        </a:p>
                      </a:txBody>
                      <a:tcPr marL="76200" marR="76200" marT="50800" marB="50800" anchor="ctr">
                        <a:solidFill>
                          <a:srgbClr val="0061E2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81239155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架构定义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6×Conv (3×3)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4×Conv (1×1 / 2×2) + 2×FC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同 Model 2 (引入知识蒸馏)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47003621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模型参数量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2.39 M 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268 K (降低至 1/9)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2759851"/>
                      </a:ext>
                    </a:extLst>
                  </a:tr>
                  <a:tr h="519787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首层对齐/硬件处理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27 (对齐率 84.4%) / 光学计算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3 (对齐率 37.5%) / 留电计算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4992989"/>
                      </a:ext>
                    </a:extLst>
                  </a:tr>
                  <a:tr h="357823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综合对齐对位率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99.8%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99.6%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95665619"/>
                      </a:ext>
                    </a:extLst>
                  </a:tr>
                  <a:tr h="607058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单图有效计算复杂度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156.6M MOPs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1.05M MOPs (轻量)</a:t>
                          </a:r>
                        </a:p>
                      </a:txBody>
                      <a:tcPr marL="76200" marR="76200" marT="50800" marB="5080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F8FAFC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9754118"/>
                      </a:ext>
                    </a:extLst>
                  </a:tr>
                  <a:tr h="1512002"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1" i="0">
                              <a:solidFill>
                                <a:srgbClr val="1815B0"/>
                              </a:solidFill>
                              <a:effectLst/>
                              <a:latin typeface="DM Sans" pitchFamily="2" charset="0"/>
                            </a:rPr>
                            <a:t>QAT 与训练策略</a:t>
                          </a:r>
                          <a:endParaRPr lang="zh-CN" sz="1600" b="0" i="0">
                            <a:solidFill>
                              <a:schemeClr val="tx1"/>
                            </a:solidFill>
                            <a:effectLst/>
                            <a:latin typeface="DM Sans" pitchFamily="2" charset="0"/>
                          </a:endParaRP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监督分类训练 (FP32)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buNone/>
                          </a:pPr>
                          <a:r>
                            <a:rPr lang="zh-CN" sz="1600" b="0" i="0" dirty="0">
                              <a:solidFill>
                                <a:schemeClr val="tx1"/>
                              </a:solidFill>
                              <a:effectLst/>
                              <a:latin typeface="DM Sans" pitchFamily="2" charset="0"/>
                            </a:rPr>
                            <a:t>硬件适配定标从零 QAT</a:t>
                          </a:r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rgbClr val="F4F8FE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6200" marR="76200" marT="50800" marB="50800"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34099" t="-179920" r="-353" b="-80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22065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05 / 15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EB1826F9-191B-AEE1-3579-48EA6FAD4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B9D23E1B-9D1D-6A60-E66C-9776C5291E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6002A0A-18B5-3440-BE38-7B229F291326}"/>
              </a:ext>
            </a:extLst>
          </p:cNvPr>
          <p:cNvSpPr txBox="1"/>
          <p:nvPr/>
        </p:nvSpPr>
        <p:spPr>
          <a:xfrm>
            <a:off x="243392" y="0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</a:rPr>
              <a:t>阶段量化演进</a:t>
            </a:r>
          </a:p>
        </p:txBody>
      </p:sp>
      <p:graphicFrame>
        <p:nvGraphicFramePr>
          <p:cNvPr id="121" name="表格 120">
            <a:extLst>
              <a:ext uri="{FF2B5EF4-FFF2-40B4-BE49-F238E27FC236}">
                <a16:creationId xmlns:a16="http://schemas.microsoft.com/office/drawing/2014/main" id="{C17A95BB-5F2A-DCEB-293E-143A5EFCDE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295828"/>
              </p:ext>
            </p:extLst>
          </p:nvPr>
        </p:nvGraphicFramePr>
        <p:xfrm>
          <a:off x="418190" y="517451"/>
          <a:ext cx="11530418" cy="5960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6652">
                  <a:extLst>
                    <a:ext uri="{9D8B030D-6E8A-4147-A177-3AD203B41FA5}">
                      <a16:colId xmlns:a16="http://schemas.microsoft.com/office/drawing/2014/main" val="1619803826"/>
                    </a:ext>
                  </a:extLst>
                </a:gridCol>
                <a:gridCol w="1906795">
                  <a:extLst>
                    <a:ext uri="{9D8B030D-6E8A-4147-A177-3AD203B41FA5}">
                      <a16:colId xmlns:a16="http://schemas.microsoft.com/office/drawing/2014/main" val="151514826"/>
                    </a:ext>
                  </a:extLst>
                </a:gridCol>
                <a:gridCol w="4068726">
                  <a:extLst>
                    <a:ext uri="{9D8B030D-6E8A-4147-A177-3AD203B41FA5}">
                      <a16:colId xmlns:a16="http://schemas.microsoft.com/office/drawing/2014/main" val="378241341"/>
                    </a:ext>
                  </a:extLst>
                </a:gridCol>
                <a:gridCol w="1363480">
                  <a:extLst>
                    <a:ext uri="{9D8B030D-6E8A-4147-A177-3AD203B41FA5}">
                      <a16:colId xmlns:a16="http://schemas.microsoft.com/office/drawing/2014/main" val="4258003811"/>
                    </a:ext>
                  </a:extLst>
                </a:gridCol>
                <a:gridCol w="1287571">
                  <a:extLst>
                    <a:ext uri="{9D8B030D-6E8A-4147-A177-3AD203B41FA5}">
                      <a16:colId xmlns:a16="http://schemas.microsoft.com/office/drawing/2014/main" val="659815878"/>
                    </a:ext>
                  </a:extLst>
                </a:gridCol>
                <a:gridCol w="1167194">
                  <a:extLst>
                    <a:ext uri="{9D8B030D-6E8A-4147-A177-3AD203B41FA5}">
                      <a16:colId xmlns:a16="http://schemas.microsoft.com/office/drawing/2014/main" val="2153688162"/>
                    </a:ext>
                  </a:extLst>
                </a:gridCol>
              </a:tblGrid>
              <a:tr h="606202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阶段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内容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核心技术要素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M1 (VGG)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M2 (SN V1)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M3 (SN V2+KD)</a:t>
                      </a:r>
                    </a:p>
                  </a:txBody>
                  <a:tcPr>
                    <a:solidFill>
                      <a:srgbClr val="28359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7307549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① FP32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基准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标准全精度训练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标准CNN训练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无量化</a:t>
                      </a:r>
                      <a:r>
                        <a:rPr lang="zh-CN" alt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，</a:t>
                      </a:r>
                      <a:r>
                        <a:rPr lang="pt-BR" altLang="zh-CN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M1 bias=True; M2/M3 Conv bias=False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97.17%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90.15%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91.44%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1973281"/>
                  </a:ext>
                </a:extLst>
              </a:tr>
              <a:tr h="6483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② QAT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微调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FP32→int4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直接微调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BN融合→QAT层替换→低lr微调15-20 epoch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85.91%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73.63%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73.22%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0164549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③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从零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QAT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从头学习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int4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特征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随机初始化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epoch-1起全int4伪量化, STE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91.17%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81.20%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83.26%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6415933"/>
                  </a:ext>
                </a:extLst>
              </a:tr>
              <a:tr h="8660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④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非对称量化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      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+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噪声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非对称量化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+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噪声正则化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uint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8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激活/int4权重,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Gaussian噪声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, bias=False,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BN</a:t>
                      </a:r>
                      <a:r>
                        <a:rPr sz="1800" kern="1200" dirty="0" err="1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保留</a:t>
                      </a:r>
                      <a:r>
                        <a:rPr 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（</a:t>
                      </a:r>
                      <a:r>
                        <a:rPr lang="en-US" altLang="zh-CN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M2/M3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为 </a:t>
                      </a:r>
                      <a:r>
                        <a:rPr lang="en-US" altLang="zh-CN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bug </a:t>
                      </a: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修复后重跑值）</a:t>
                      </a:r>
                      <a:endParaRPr sz="1800" kern="1200" dirty="0">
                        <a:solidFill>
                          <a:srgbClr val="2121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96.46%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91.06% </a:t>
                      </a:r>
                      <a:r>
                        <a:rPr lang="en-US" sz="1800" b="0" baseline="3000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*</a:t>
                      </a:r>
                      <a:endParaRPr sz="1800" b="0" baseline="3000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91.50%</a:t>
                      </a:r>
                      <a:r>
                        <a:rPr lang="en-U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en-US" sz="1800" b="0" baseline="300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*</a:t>
                      </a:r>
                      <a:endParaRPr sz="1800" b="0" baseline="300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4266613"/>
                  </a:ext>
                </a:extLst>
              </a:tr>
              <a:tr h="606202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⑤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混合精度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光电异构部署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Conv=int4(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光计算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), Linear=fp32(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电计算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)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91.26%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91.13%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694028"/>
                  </a:ext>
                </a:extLst>
              </a:tr>
              <a:tr h="64830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⑥ Gazelle</a:t>
                      </a:r>
                      <a:r>
                        <a:rPr lang="en-US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QAT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int8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原生精度</a:t>
                      </a: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+ </a:t>
                      </a:r>
                      <a:r>
                        <a:rPr sz="1800" dirty="0" err="1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硬件噪声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int8权重(256级), DAC ENOB=7.5+TIA噪声, stem FP32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n-US" altLang="zh-CN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</a:t>
                      </a:r>
                      <a:r>
                        <a:rPr lang="es-ES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7.87%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98.02%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92.06%</a:t>
                      </a:r>
                      <a:r>
                        <a:rPr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</a:p>
                  </a:txBody>
                  <a:tcPr>
                    <a:solidFill>
                      <a:srgbClr val="EDF1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n-US" altLang="zh-CN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91.83%</a:t>
                      </a:r>
                      <a:endParaRPr sz="18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rgbClr val="EDF1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7142050"/>
                  </a:ext>
                </a:extLst>
              </a:tr>
              <a:tr h="1125803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s-ES" sz="1800" b="1" kern="1200" dirty="0">
                          <a:solidFill>
                            <a:srgbClr val="28359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⑦ osimulator</a:t>
                      </a:r>
                      <a:r>
                        <a:rPr lang="zh-CN" altLang="en-US" sz="1800" b="1" kern="1200" dirty="0">
                          <a:solidFill>
                            <a:srgbClr val="283593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真机实测</a:t>
                      </a:r>
                      <a:endParaRPr sz="1800" b="1" kern="1200" dirty="0">
                        <a:solidFill>
                          <a:srgbClr val="283593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zh-CN" altLang="en-US" sz="1800" kern="1200" dirty="0">
                          <a:solidFill>
                            <a:srgbClr val="21212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+mn-cs"/>
                        </a:rPr>
                        <a:t>真实光计算硬件仿真</a:t>
                      </a:r>
                      <a:endParaRPr sz="1800" kern="1200" dirty="0">
                        <a:solidFill>
                          <a:srgbClr val="21212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+mn-cs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COMPASS 8a8w12o, DAC ENOB=7.5, TIA σ=5.31</a:t>
                      </a:r>
                      <a:endParaRPr sz="180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 </a:t>
                      </a:r>
                      <a:r>
                        <a:rPr lang="pt-BR" sz="1800" b="0" dirty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98.15% (q650) </a:t>
                      </a:r>
                    </a:p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pt-BR" sz="1800" b="0" dirty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97.54% (q650)</a:t>
                      </a:r>
                      <a:endParaRPr sz="1800" b="0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90.43%</a:t>
                      </a:r>
                    </a:p>
                    <a:p>
                      <a:pPr algn="ctr">
                        <a:defRPr sz="1100" b="1">
                          <a:solidFill>
                            <a:srgbClr val="283593"/>
                          </a:solidFill>
                          <a:latin typeface="Arial"/>
                        </a:defRPr>
                      </a:pPr>
                      <a:r>
                        <a:rPr lang="zh-CN" altLang="en-US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（全量</a:t>
                      </a:r>
                      <a:r>
                        <a:rPr lang="en-US" altLang="zh-CN" sz="1800" b="0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5400)</a:t>
                      </a:r>
                      <a:endParaRPr sz="1800" b="0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212121"/>
                          </a:solidFill>
                          <a:latin typeface="Arial"/>
                        </a:defRPr>
                      </a:pPr>
                      <a:r>
                        <a:rPr lang="es-E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90.28%</a:t>
                      </a:r>
                      <a:r>
                        <a:rPr lang="zh-CN" altLang="en-US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（全量</a:t>
                      </a:r>
                      <a:r>
                        <a:rPr lang="en-US" altLang="zh-CN" sz="1800" b="0" dirty="0"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5400)</a:t>
                      </a:r>
                      <a:endParaRPr sz="1800" b="0" dirty="0"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157542"/>
                  </a:ext>
                </a:extLst>
              </a:tr>
            </a:tbl>
          </a:graphicData>
        </a:graphic>
      </p:graphicFrame>
      <p:sp>
        <p:nvSpPr>
          <p:cNvPr id="125" name="文本框 124">
            <a:extLst>
              <a:ext uri="{FF2B5EF4-FFF2-40B4-BE49-F238E27FC236}">
                <a16:creationId xmlns:a16="http://schemas.microsoft.com/office/drawing/2014/main" id="{6016005F-7E97-04B1-48E4-7E91A99D01B8}"/>
              </a:ext>
            </a:extLst>
          </p:cNvPr>
          <p:cNvSpPr txBox="1"/>
          <p:nvPr/>
        </p:nvSpPr>
        <p:spPr>
          <a:xfrm>
            <a:off x="4183063" y="74060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B   </a:t>
            </a:r>
            <a:r>
              <a:rPr lang="en-US" altLang="zh-CN" dirty="0"/>
              <a:t>q650</a:t>
            </a:r>
            <a:r>
              <a:rPr lang="zh-CN" altLang="en-US" dirty="0"/>
              <a:t>表示测试集跑了</a:t>
            </a:r>
            <a:r>
              <a:rPr lang="en-US" altLang="zh-CN" dirty="0"/>
              <a:t>650</a:t>
            </a:r>
            <a:r>
              <a:rPr lang="zh-CN" altLang="en-US" dirty="0"/>
              <a:t>张</a:t>
            </a:r>
          </a:p>
        </p:txBody>
      </p:sp>
      <p:sp>
        <p:nvSpPr>
          <p:cNvPr id="127" name="FooterR">
            <a:extLst>
              <a:ext uri="{FF2B5EF4-FFF2-40B4-BE49-F238E27FC236}">
                <a16:creationId xmlns:a16="http://schemas.microsoft.com/office/drawing/2014/main" id="{21A01C9C-6D34-7B70-580F-7B339A92744B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6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129" name="FooterL">
            <a:extLst>
              <a:ext uri="{FF2B5EF4-FFF2-40B4-BE49-F238E27FC236}">
                <a16:creationId xmlns:a16="http://schemas.microsoft.com/office/drawing/2014/main" id="{5DB9DD3B-A91B-92E6-DB97-4AD016022CEE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85A5F24-F135-60C3-084C-5A19363947CC}"/>
              </a:ext>
            </a:extLst>
          </p:cNvPr>
          <p:cNvSpPr txBox="1"/>
          <p:nvPr/>
        </p:nvSpPr>
        <p:spPr>
          <a:xfrm>
            <a:off x="9518353" y="6492240"/>
            <a:ext cx="16466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* </a:t>
            </a:r>
            <a:r>
              <a:rPr lang="zh-CN" altLang="en-US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为</a:t>
            </a:r>
            <a:r>
              <a:rPr lang="en-US" altLang="zh-CN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bug</a:t>
            </a:r>
            <a:r>
              <a:rPr lang="zh-CN" altLang="en-US" sz="1200" dirty="0">
                <a:solidFill>
                  <a:srgbClr val="21212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修复后的结果</a:t>
            </a:r>
          </a:p>
        </p:txBody>
      </p:sp>
    </p:spTree>
    <p:extLst>
      <p:ext uri="{BB962C8B-B14F-4D97-AF65-F5344CB8AC3E}">
        <p14:creationId xmlns:p14="http://schemas.microsoft.com/office/powerpoint/2010/main" val="3894232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797BCFC-5F52-082C-CC64-C70AF3F1C99F}"/>
              </a:ext>
            </a:extLst>
          </p:cNvPr>
          <p:cNvSpPr txBox="1"/>
          <p:nvPr/>
        </p:nvSpPr>
        <p:spPr>
          <a:xfrm>
            <a:off x="792051" y="102171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七</a:t>
            </a:r>
            <a:r>
              <a:rPr lang="zh-CN" altLang="zh-CN" sz="3200" b="1" dirty="0">
                <a:solidFill>
                  <a:srgbClr val="0061E2"/>
                </a:solidFill>
              </a:rPr>
              <a:t>阶段精度曲线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1302F7-AA3B-0779-3120-9FFBF356A86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84818" y="394559"/>
            <a:ext cx="11059050" cy="606888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FC752DA4-A0C9-ACE7-BDC5-01EAD0D801C9}"/>
              </a:ext>
            </a:extLst>
          </p:cNvPr>
          <p:cNvSpPr txBox="1"/>
          <p:nvPr/>
        </p:nvSpPr>
        <p:spPr>
          <a:xfrm>
            <a:off x="1419522" y="5922056"/>
            <a:ext cx="38813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F</a:t>
            </a:r>
            <a:r>
              <a:rPr lang="zh-CN" altLang="zh-CN"/>
              <a:t>P</a:t>
            </a:r>
            <a:r>
              <a:rPr lang="zh-CN" altLang="zh-CN" dirty="0"/>
              <a:t>32 权重依赖精细精度，突变量化破坏特征，低 lr 逃不出坏局部最小</a:t>
            </a:r>
            <a:endParaRPr lang="en-US" altLang="zh-CN" dirty="0"/>
          </a:p>
          <a:p>
            <a:r>
              <a:rPr lang="zh-CN" altLang="zh-CN" dirty="0"/>
              <a:t>QAT Conv 全关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C6889B4-C5D3-63FB-51C9-0BBA22002476}"/>
              </a:ext>
            </a:extLst>
          </p:cNvPr>
          <p:cNvSpPr txBox="1"/>
          <p:nvPr/>
        </p:nvSpPr>
        <p:spPr>
          <a:xfrm>
            <a:off x="5107956" y="4719287"/>
            <a:ext cx="35637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dirty="0"/>
              <a:t>动态 scale 不稳、首末层信息损失</a:t>
            </a:r>
          </a:p>
          <a:p>
            <a:endParaRPr lang="zh-CN" altLang="en-US" dirty="0"/>
          </a:p>
        </p:txBody>
      </p:sp>
      <p:cxnSp>
        <p:nvCxnSpPr>
          <p:cNvPr id="13" name="连接符: 曲线 12">
            <a:extLst>
              <a:ext uri="{FF2B5EF4-FFF2-40B4-BE49-F238E27FC236}">
                <a16:creationId xmlns:a16="http://schemas.microsoft.com/office/drawing/2014/main" id="{2B367DC8-C3BA-AE56-8F38-7AACEA4F24AD}"/>
              </a:ext>
            </a:extLst>
          </p:cNvPr>
          <p:cNvCxnSpPr>
            <a:cxnSpLocks/>
          </p:cNvCxnSpPr>
          <p:nvPr/>
        </p:nvCxnSpPr>
        <p:spPr>
          <a:xfrm rot="16200000" flipV="1">
            <a:off x="3019742" y="5155323"/>
            <a:ext cx="1021279" cy="512188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连接符: 曲线 20">
            <a:extLst>
              <a:ext uri="{FF2B5EF4-FFF2-40B4-BE49-F238E27FC236}">
                <a16:creationId xmlns:a16="http://schemas.microsoft.com/office/drawing/2014/main" id="{063B73ED-1A59-EE2F-22BF-FC8AA899F768}"/>
              </a:ext>
            </a:extLst>
          </p:cNvPr>
          <p:cNvCxnSpPr>
            <a:cxnSpLocks/>
          </p:cNvCxnSpPr>
          <p:nvPr/>
        </p:nvCxnSpPr>
        <p:spPr>
          <a:xfrm rot="10800000">
            <a:off x="4856344" y="3673427"/>
            <a:ext cx="1391034" cy="1070441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ooterR">
            <a:extLst>
              <a:ext uri="{FF2B5EF4-FFF2-40B4-BE49-F238E27FC236}">
                <a16:creationId xmlns:a16="http://schemas.microsoft.com/office/drawing/2014/main" id="{93224BA0-7146-15DD-AAE0-5034C88FB081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07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pic>
        <p:nvPicPr>
          <p:cNvPr id="30" name="图片 29">
            <a:extLst>
              <a:ext uri="{FF2B5EF4-FFF2-40B4-BE49-F238E27FC236}">
                <a16:creationId xmlns:a16="http://schemas.microsoft.com/office/drawing/2014/main" id="{A892400A-5487-F28F-373F-D19CAA0EF9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32" name="图片 31" descr="集创赛1">
            <a:extLst>
              <a:ext uri="{FF2B5EF4-FFF2-40B4-BE49-F238E27FC236}">
                <a16:creationId xmlns:a16="http://schemas.microsoft.com/office/drawing/2014/main" id="{8B461D33-4665-A771-F8EF-7F32D32DB0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122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9F15C6E-D02A-D327-33C8-125AE966BE62}"/>
              </a:ext>
            </a:extLst>
          </p:cNvPr>
          <p:cNvSpPr txBox="1"/>
          <p:nvPr/>
        </p:nvSpPr>
        <p:spPr>
          <a:xfrm>
            <a:off x="441858" y="454132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A823F34-3CCF-D176-06D7-F537B3F60B0B}"/>
              </a:ext>
            </a:extLst>
          </p:cNvPr>
          <p:cNvSpPr txBox="1"/>
          <p:nvPr/>
        </p:nvSpPr>
        <p:spPr>
          <a:xfrm>
            <a:off x="679704" y="14652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核心创新：</a:t>
            </a:r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321620" y="6433913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8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C544B149-94CD-8DAE-2CA4-D7719E0A05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3458339"/>
              </p:ext>
            </p:extLst>
          </p:nvPr>
        </p:nvGraphicFramePr>
        <p:xfrm>
          <a:off x="688868" y="1170351"/>
          <a:ext cx="10814263" cy="459740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54056">
                  <a:extLst>
                    <a:ext uri="{9D8B030D-6E8A-4147-A177-3AD203B41FA5}">
                      <a16:colId xmlns:a16="http://schemas.microsoft.com/office/drawing/2014/main" val="1839315560"/>
                    </a:ext>
                  </a:extLst>
                </a:gridCol>
                <a:gridCol w="5271753">
                  <a:extLst>
                    <a:ext uri="{9D8B030D-6E8A-4147-A177-3AD203B41FA5}">
                      <a16:colId xmlns:a16="http://schemas.microsoft.com/office/drawing/2014/main" val="1680387822"/>
                    </a:ext>
                  </a:extLst>
                </a:gridCol>
                <a:gridCol w="3388454">
                  <a:extLst>
                    <a:ext uri="{9D8B030D-6E8A-4147-A177-3AD203B41FA5}">
                      <a16:colId xmlns:a16="http://schemas.microsoft.com/office/drawing/2014/main" val="4918097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核心技术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关键做法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rgbClr val="FFFFFF"/>
                          </a:solidFill>
                        </a:rPr>
                        <a:t>核心成果</a:t>
                      </a:r>
                      <a:endParaRPr lang="zh-CN" altLang="en-US" sz="2000" b="1" kern="1200" dirty="0">
                        <a:solidFill>
                          <a:srgbClr val="FFFFFF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16097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① 物理噪声训练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DAC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量化噪声与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TIA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加性高斯噪声写入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QAT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前向传播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物理仿真与真机完全弥合，推理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Gap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锁死在 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~1.6%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 以内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858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② 首层异构计算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首层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3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通道卷积（宽度未对齐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）强制执行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FP32/FPGA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电算，避免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62.5%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空算开销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杜绝零填充噪声对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BN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统计值的系统性偏移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391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③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全程对齐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摒弃离线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INT4→INT8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映射（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Scale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不对齐引入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~6%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截断损失），直接在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INT8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原生网格训练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学出最佳量化分阶（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LSQ+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），消除系统级截断误差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6532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④ 硬件感知结构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内部通道取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的倍数，使内部卷积层逐层均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100%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对齐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8×2 tile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R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综合对齐率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99.6%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，光计算层零补零浪费 → 有效算力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=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名义算力（仅 </a:t>
                      </a:r>
                      <a:r>
                        <a:rPr lang="en-US" altLang="zh-CN" sz="2000" b="1" kern="1200" dirty="0">
                          <a:solidFill>
                            <a:schemeClr val="tx1"/>
                          </a:solidFill>
                        </a:rPr>
                        <a:t>RGB </a:t>
                      </a:r>
                      <a:r>
                        <a:rPr lang="zh-CN" altLang="en-US" sz="2000" b="1" kern="1200" dirty="0">
                          <a:solidFill>
                            <a:schemeClr val="tx1"/>
                          </a:solidFill>
                        </a:rPr>
                        <a:t>首层例外，已置电计算，见②）</a:t>
                      </a:r>
                      <a:endParaRPr lang="zh-CN" altLang="en-US" sz="2000" b="1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101600" marT="63500" marB="63500" anchor="ctr"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1986295"/>
                  </a:ext>
                </a:extLst>
              </a:tr>
            </a:tbl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95E78AF5-35DA-2DD5-A975-93E771C2D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3" name="图片 12" descr="集创赛1">
            <a:extLst>
              <a:ext uri="{FF2B5EF4-FFF2-40B4-BE49-F238E27FC236}">
                <a16:creationId xmlns:a16="http://schemas.microsoft.com/office/drawing/2014/main" id="{F84A718D-2252-34F7-D83A-519F524CE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34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Card">
            <a:extLst>
              <a:ext uri="{FF2B5EF4-FFF2-40B4-BE49-F238E27FC236}">
                <a16:creationId xmlns:a16="http://schemas.microsoft.com/office/drawing/2014/main" id="{DA03FCFD-5E77-4C01-CFB7-E7ED22ABC4F2}"/>
              </a:ext>
            </a:extLst>
          </p:cNvPr>
          <p:cNvSpPr>
            <a:spLocks noGrp="1"/>
          </p:cNvSpPr>
          <p:nvPr/>
        </p:nvSpPr>
        <p:spPr>
          <a:xfrm>
            <a:off x="7632867" y="730294"/>
            <a:ext cx="4090113" cy="5669864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4" name="Card">
            <a:extLst>
              <a:ext uri="{FF2B5EF4-FFF2-40B4-BE49-F238E27FC236}">
                <a16:creationId xmlns:a16="http://schemas.microsoft.com/office/drawing/2014/main" id="{06CD5034-8416-20FD-251E-95080965962C}"/>
              </a:ext>
            </a:extLst>
          </p:cNvPr>
          <p:cNvSpPr>
            <a:spLocks noGrp="1"/>
          </p:cNvSpPr>
          <p:nvPr/>
        </p:nvSpPr>
        <p:spPr>
          <a:xfrm>
            <a:off x="4249256" y="800666"/>
            <a:ext cx="3138754" cy="4004537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AC8E3C-BE80-C968-0B13-F6450B70963A}"/>
              </a:ext>
            </a:extLst>
          </p:cNvPr>
          <p:cNvSpPr txBox="1"/>
          <p:nvPr/>
        </p:nvSpPr>
        <p:spPr>
          <a:xfrm>
            <a:off x="690154" y="106897"/>
            <a:ext cx="42803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量化感知训练（QAT）</a:t>
            </a:r>
            <a:endParaRPr lang="zh-CN" altLang="en-US" sz="3200" b="1" dirty="0">
              <a:solidFill>
                <a:srgbClr val="0061E2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4DF59D-0A45-D3A4-4E0F-CAAEA2EFFCFE}"/>
                  </a:ext>
                </a:extLst>
              </p:cNvPr>
              <p:cNvSpPr txBox="1"/>
              <p:nvPr/>
            </p:nvSpPr>
            <p:spPr>
              <a:xfrm>
                <a:off x="4264721" y="1388339"/>
                <a:ext cx="3200402" cy="33071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900"/>
                  </a:spcAft>
                </a:pPr>
                <a:r>
                  <a:rPr lang="zh-CN" altLang="zh-CN" dirty="0"/>
                  <a:t>将量化尺度（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zh-CN" altLang="zh-CN" dirty="0"/>
                  <a:t>）与非对称零点（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𝑧𝑝</m:t>
                    </m:r>
                  </m:oMath>
                </a14:m>
                <a:r>
                  <a:rPr lang="zh-CN" altLang="zh-CN" dirty="0"/>
                  <a:t>）设为可学习参数，结合梯度信息自适应优化动态截断范围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>
                  <a:spcAft>
                    <a:spcPts val="900"/>
                  </a:spcAft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Inter"/>
                  </a:rPr>
                  <a:t>可学习步长量化前向</a:t>
                </a: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dq</m:t>
                          </m:r>
                        </m:sub>
                      </m:sSub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round</m:t>
                          </m:r>
                          <m:d>
                            <m:dPr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num>
                                <m:den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den>
                              </m:f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zp</m:t>
                              </m:r>
                            </m:e>
                          </m:d>
                        </m:e>
                      </m:d>
                      <m:r>
                        <a:rPr lang="en-US" altLang="zh-CN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·</m:t>
                      </m:r>
                      <m:r>
                        <a:rPr lang="zh-CN" altLang="en-US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𝑠</m:t>
                      </m:r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Inter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:r>
                  <a:rPr lang="zh-CN" altLang="zh-CN" sz="1800" b="1" i="0" dirty="0">
                    <a:solidFill>
                      <a:schemeClr val="tx1"/>
                    </a:solidFill>
                    <a:effectLst/>
                    <a:latin typeface="Inter"/>
                  </a:rPr>
                  <a:t>梯度尺度缩放 (G-Scale) </a:t>
                </a:r>
                <a:endParaRPr lang="en-US" altLang="zh-CN" i="1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marL="0" marR="0" indent="0" algn="l">
                  <a:spcAft>
                    <a:spcPts val="45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scale</m:t>
                          </m:r>
                        </m:sub>
                      </m:sSub>
                      <m:r>
                        <a:rPr lang="zh-CN" altLang="en-US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·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i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levels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zh-CN" altLang="zh-CN" b="0" i="0" dirty="0">
                  <a:solidFill>
                    <a:schemeClr val="tx1"/>
                  </a:solidFill>
                  <a:effectLst/>
                  <a:latin typeface="Inter"/>
                </a:endParaRP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94DF59D-0A45-D3A4-4E0F-CAAEA2EFFC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4721" y="1388339"/>
                <a:ext cx="3200402" cy="3307187"/>
              </a:xfrm>
              <a:prstGeom prst="rect">
                <a:avLst/>
              </a:prstGeom>
              <a:blipFill>
                <a:blip r:embed="rId2"/>
                <a:stretch>
                  <a:fillRect l="-1714" t="-1107" r="-1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A5D6720C-30B3-2F74-12EE-380816D7D975}"/>
              </a:ext>
            </a:extLst>
          </p:cNvPr>
          <p:cNvSpPr txBox="1"/>
          <p:nvPr/>
        </p:nvSpPr>
        <p:spPr>
          <a:xfrm>
            <a:off x="7877753" y="1326784"/>
            <a:ext cx="34448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拒绝纯仿真假设，将逆向工程拆解的真实物理噪声（光电混合通道）注入训练流，实现 “所训即所得”Gazelle 物理噪声注入前向链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zh-CN" b="1" dirty="0"/>
              <a:t>前向噪声链</a:t>
            </a:r>
            <a:endParaRPr lang="zh-CN" altLang="zh-CN" dirty="0"/>
          </a:p>
          <a:p>
            <a:endParaRPr lang="en-US" altLang="zh-CN" b="1" dirty="0"/>
          </a:p>
          <a:p>
            <a:endParaRPr lang="en-US" altLang="zh-CN" b="1" dirty="0"/>
          </a:p>
          <a:p>
            <a:endParaRPr lang="en-US" altLang="zh-CN" b="1" dirty="0"/>
          </a:p>
          <a:p>
            <a:r>
              <a:rPr lang="zh-CN" altLang="zh-CN" b="1" dirty="0"/>
              <a:t>标定校准</a:t>
            </a:r>
            <a:endParaRPr lang="en-US" altLang="zh-CN" b="1" dirty="0"/>
          </a:p>
          <a:p>
            <a:r>
              <a:rPr lang="zh-CN" altLang="zh-CN" dirty="0"/>
              <a:t>废弃经验主义“0.02×s”粗扰动，依据真机标准，换算为精确物理偏差 0.0016×s</a:t>
            </a:r>
          </a:p>
          <a:p>
            <a:r>
              <a:rPr lang="zh-CN" altLang="zh-CN" b="1" dirty="0"/>
              <a:t>部署差距</a:t>
            </a:r>
          </a:p>
          <a:p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D2620D5-7488-0464-7B4E-96E70CFA09C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E9ECF0"/>
              </a:clrFrom>
              <a:clrTo>
                <a:srgbClr val="E9ECF0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83946" y="3068752"/>
            <a:ext cx="3987953" cy="769517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9072527-1911-E4C4-DA13-A89551363DDB}"/>
              </a:ext>
            </a:extLst>
          </p:cNvPr>
          <p:cNvSpPr/>
          <p:nvPr/>
        </p:nvSpPr>
        <p:spPr>
          <a:xfrm>
            <a:off x="8035827" y="5349507"/>
            <a:ext cx="1509149" cy="948584"/>
          </a:xfrm>
          <a:prstGeom prst="roundRect">
            <a:avLst/>
          </a:prstGeom>
          <a:solidFill>
            <a:srgbClr val="112E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10BE84"/>
                </a:solidFill>
              </a:rPr>
              <a:t>~1.6%</a:t>
            </a:r>
          </a:p>
          <a:p>
            <a:pPr algn="ctr"/>
            <a:r>
              <a:rPr lang="zh-CN" altLang="zh-CN" sz="1600" dirty="0">
                <a:solidFill>
                  <a:srgbClr val="10BE84"/>
                </a:solidFill>
              </a:rPr>
              <a:t>真机部署精度 Gap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A82266B3-B205-F323-593A-9773BDB3A36D}"/>
              </a:ext>
            </a:extLst>
          </p:cNvPr>
          <p:cNvSpPr/>
          <p:nvPr/>
        </p:nvSpPr>
        <p:spPr>
          <a:xfrm>
            <a:off x="9841553" y="5349507"/>
            <a:ext cx="1579911" cy="948584"/>
          </a:xfrm>
          <a:prstGeom prst="roundRect">
            <a:avLst/>
          </a:prstGeom>
          <a:solidFill>
            <a:srgbClr val="2A273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zh-CN" sz="2800" b="1" dirty="0">
                <a:solidFill>
                  <a:srgbClr val="DA6579"/>
                </a:solidFill>
              </a:rPr>
              <a:t>5~10%</a:t>
            </a:r>
          </a:p>
          <a:p>
            <a:pPr algn="ctr"/>
            <a:r>
              <a:rPr lang="zh-CN" altLang="zh-CN" sz="1600" dirty="0">
                <a:solidFill>
                  <a:srgbClr val="DA6579"/>
                </a:solidFill>
              </a:rPr>
              <a:t>传统强扰动 Gap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E831BB-C769-05B6-1183-0CC39509F833}"/>
              </a:ext>
            </a:extLst>
          </p:cNvPr>
          <p:cNvSpPr txBox="1"/>
          <p:nvPr/>
        </p:nvSpPr>
        <p:spPr>
          <a:xfrm>
            <a:off x="4445374" y="871256"/>
            <a:ext cx="254749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LSQ+ 可学习步长</a:t>
            </a:r>
            <a:endParaRPr lang="zh-CN" altLang="en-US" sz="24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CFEAEB2-BF19-9B7E-AF6E-5C6724333845}"/>
              </a:ext>
            </a:extLst>
          </p:cNvPr>
          <p:cNvSpPr txBox="1"/>
          <p:nvPr/>
        </p:nvSpPr>
        <p:spPr>
          <a:xfrm>
            <a:off x="8233693" y="871256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硬件噪声匹配训练</a:t>
            </a:r>
            <a:endParaRPr lang="zh-CN" altLang="en-US" sz="2400" dirty="0"/>
          </a:p>
        </p:txBody>
      </p:sp>
      <p:sp>
        <p:nvSpPr>
          <p:cNvPr id="22" name="Card">
            <a:extLst>
              <a:ext uri="{FF2B5EF4-FFF2-40B4-BE49-F238E27FC236}">
                <a16:creationId xmlns:a16="http://schemas.microsoft.com/office/drawing/2014/main" id="{B182D860-AD14-ED40-269F-EBF7E32FE9E0}"/>
              </a:ext>
            </a:extLst>
          </p:cNvPr>
          <p:cNvSpPr>
            <a:spLocks noGrp="1"/>
          </p:cNvSpPr>
          <p:nvPr/>
        </p:nvSpPr>
        <p:spPr>
          <a:xfrm>
            <a:off x="249126" y="787293"/>
            <a:ext cx="3819937" cy="5589851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6BCC46E-EA2C-E632-5648-69B693C5EBEE}"/>
                  </a:ext>
                </a:extLst>
              </p:cNvPr>
              <p:cNvSpPr txBox="1"/>
              <p:nvPr/>
            </p:nvSpPr>
            <p:spPr>
              <a:xfrm>
                <a:off x="380778" y="1388339"/>
                <a:ext cx="3688286" cy="51618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zh-CN" dirty="0"/>
                  <a:t>前向流中的量化算子（如 round）不可导，导致反向梯度中断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r>
                  <a:rPr lang="zh-CN" altLang="zh-CN" dirty="0"/>
                  <a:t>前向嵌入伪量化，反向传播时使用直通估计器（STE），将量化节点近似为恒等映射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zh-CN" b="1" dirty="0"/>
                  <a:t>前向动态 Scale 计算</a:t>
                </a:r>
                <a:endParaRPr lang="en-US" altLang="zh-CN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altLang="zh-CN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abs</m:t>
                          </m:r>
                          <m:r>
                            <m:rPr>
                              <m:lit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m:rPr>
                              <m:sty m:val="p"/>
                            </m:rPr>
                            <a:rPr lang="en-US" altLang="zh-CN">
                              <a:latin typeface="Cambria Math" panose="02040503050406030204" pitchFamily="18" charset="0"/>
                            </a:rPr>
                            <m:t>max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num>
                        <m:den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max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zh-CN" dirty="0"/>
              </a:p>
              <a:p>
                <a:r>
                  <a:rPr lang="zh-CN" altLang="zh-CN" b="1" dirty="0"/>
                  <a:t>反向恒等直通 (STE) </a:t>
                </a:r>
                <a:endParaRPr lang="en-US" altLang="zh-CN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  <m:r>
                        <a:rPr lang="zh-CN" altLang="en-US">
                          <a:latin typeface="Cambria Math" panose="02040503050406030204" pitchFamily="18" charset="0"/>
                        </a:rPr>
                        <m:t>≈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num>
                        <m:den>
                          <m:r>
                            <a:rPr lang="zh-CN" altLang="en-US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>
                                  <a:latin typeface="Cambria Math" panose="02040503050406030204" pitchFamily="18" charset="0"/>
                                </a:rPr>
                                <m:t>dq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dirty="0"/>
              </a:p>
              <a:p>
                <a:endParaRPr lang="zh-CN" altLang="zh-CN" dirty="0"/>
              </a:p>
              <a:p>
                <a:r>
                  <a:rPr lang="zh-CN" altLang="zh-CN" b="1" dirty="0"/>
                  <a:t>PyTorch 梯度截断实现</a:t>
                </a:r>
              </a:p>
              <a:p>
                <a:r>
                  <a:rPr lang="zh-CN" altLang="zh-CN" dirty="0"/>
                  <a:t># 前向走量化，反向走连续梯度流 </a:t>
                </a:r>
                <a:endParaRPr lang="en-US" altLang="zh-CN" dirty="0"/>
              </a:p>
              <a:p>
                <a:r>
                  <a:rPr lang="zh-CN" altLang="zh-CN" dirty="0"/>
                  <a:t>x_dq = x + (x_dq - x).detach()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26BCC46E-EA2C-E632-5648-69B693C5EB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778" y="1388339"/>
                <a:ext cx="3688286" cy="5161862"/>
              </a:xfrm>
              <a:prstGeom prst="rect">
                <a:avLst/>
              </a:prstGeom>
              <a:blipFill>
                <a:blip r:embed="rId4"/>
                <a:stretch>
                  <a:fillRect l="-1322" t="-7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32BC95DB-7675-853D-6FCB-B78C073C70EB}"/>
              </a:ext>
            </a:extLst>
          </p:cNvPr>
          <p:cNvSpPr txBox="1"/>
          <p:nvPr/>
        </p:nvSpPr>
        <p:spPr>
          <a:xfrm>
            <a:off x="977309" y="865119"/>
            <a:ext cx="2281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400" dirty="0"/>
              <a:t>STE 直通估计器</a:t>
            </a:r>
            <a:endParaRPr lang="zh-CN" altLang="en-US" sz="2400" dirty="0"/>
          </a:p>
        </p:txBody>
      </p:sp>
      <p:sp>
        <p:nvSpPr>
          <p:cNvPr id="28" name="FooterR">
            <a:extLst>
              <a:ext uri="{FF2B5EF4-FFF2-40B4-BE49-F238E27FC236}">
                <a16:creationId xmlns:a16="http://schemas.microsoft.com/office/drawing/2014/main" id="{2EEE99D6-D36F-BB1D-AD9B-F177354EF769}"/>
              </a:ext>
            </a:extLst>
          </p:cNvPr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0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9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30" name="FooterL">
            <a:extLst>
              <a:ext uri="{FF2B5EF4-FFF2-40B4-BE49-F238E27FC236}">
                <a16:creationId xmlns:a16="http://schemas.microsoft.com/office/drawing/2014/main" id="{142C845E-B677-473D-5936-23DB4063C7AD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pic>
        <p:nvPicPr>
          <p:cNvPr id="34" name="图片 33" descr="集创赛1">
            <a:extLst>
              <a:ext uri="{FF2B5EF4-FFF2-40B4-BE49-F238E27FC236}">
                <a16:creationId xmlns:a16="http://schemas.microsoft.com/office/drawing/2014/main" id="{75EF4D13-6181-8A15-1D9C-1A4B98328F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6113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A2B0D8C-D177-81F2-D4FE-772E2B102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5745B99-03C1-1C4D-7BD7-BECDA7BD98BB}"/>
              </a:ext>
            </a:extLst>
          </p:cNvPr>
          <p:cNvSpPr txBox="1"/>
          <p:nvPr/>
        </p:nvSpPr>
        <p:spPr>
          <a:xfrm>
            <a:off x="679704" y="100804"/>
            <a:ext cx="675056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自动闭环工具链：全流程端到端打通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607F38-6263-372A-9ACA-3DAFC3CE5CE3}"/>
              </a:ext>
            </a:extLst>
          </p:cNvPr>
          <p:cNvSpPr txBox="1"/>
          <p:nvPr/>
        </p:nvSpPr>
        <p:spPr>
          <a:xfrm>
            <a:off x="3194637" y="5432113"/>
            <a:ext cx="746592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400" b="1" dirty="0"/>
              <a:t>工程代码量证明：</a:t>
            </a:r>
            <a:r>
              <a:rPr lang="zh-CN" altLang="zh-CN" sz="2400" dirty="0"/>
              <a:t> </a:t>
            </a:r>
            <a:r>
              <a:rPr lang="zh-CN" altLang="zh-CN" sz="2000" dirty="0"/>
              <a:t>系统化闭环。本项目自主设计了 47 个 python 文件（包括 core/qat/data/training/scripts 等分层结构），并稳定通过 11 个核心 QAT bug 的跟踪及修复，健壮性极高。</a:t>
            </a:r>
            <a:endParaRPr lang="zh-CN" altLang="en-US" sz="2000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73F4E9D-6C03-9BE3-71A8-33EF111B33A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485" y="613012"/>
            <a:ext cx="11091247" cy="4926824"/>
          </a:xfrm>
          <a:prstGeom prst="rect">
            <a:avLst/>
          </a:prstGeom>
        </p:spPr>
      </p:pic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10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61F087D-4621-D355-98DD-7EECC57432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6" name="图片 5" descr="集创赛1">
            <a:extLst>
              <a:ext uri="{FF2B5EF4-FFF2-40B4-BE49-F238E27FC236}">
                <a16:creationId xmlns:a16="http://schemas.microsoft.com/office/drawing/2014/main" id="{20CC10EB-08E8-7F58-C443-AC0E2D9E59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8599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96F7F7B-B375-814D-45CB-40FB26CE2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3123622-1D96-1EF6-E2E8-890E31ED11C2}"/>
              </a:ext>
            </a:extLst>
          </p:cNvPr>
          <p:cNvSpPr txBox="1"/>
          <p:nvPr/>
        </p:nvSpPr>
        <p:spPr>
          <a:xfrm>
            <a:off x="535973" y="212119"/>
            <a:ext cx="42402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光计算占比：突破 90%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8A7BB7-5F28-E4A4-65F9-AF1D454655E3}"/>
              </a:ext>
            </a:extLst>
          </p:cNvPr>
          <p:cNvSpPr txBox="1"/>
          <p:nvPr/>
        </p:nvSpPr>
        <p:spPr>
          <a:xfrm>
            <a:off x="6967459" y="5821176"/>
            <a:ext cx="66672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solidFill>
                  <a:srgbClr val="0F172A"/>
                </a:solidFill>
                <a:latin typeface="Plus Jakarta Sans"/>
              </a:rPr>
              <a:t>光子MOPs 占比</a:t>
            </a:r>
            <a:r>
              <a:rPr lang="zh-CN" altLang="zh-CN" sz="5400" b="1" dirty="0">
                <a:solidFill>
                  <a:srgbClr val="06B6D4"/>
                </a:solidFill>
                <a:latin typeface="Plus Jakarta Sans"/>
              </a:rPr>
              <a:t>90.65%</a:t>
            </a:r>
            <a:endParaRPr lang="zh-CN" altLang="zh-CN" sz="3600" dirty="0">
              <a:solidFill>
                <a:srgbClr val="0F172A"/>
              </a:solidFill>
              <a:latin typeface="Plus Jakarta Sans"/>
            </a:endParaRPr>
          </a:p>
          <a:p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FB2E46B-D7D9-8B98-0768-3F84352E91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471298"/>
              </p:ext>
            </p:extLst>
          </p:nvPr>
        </p:nvGraphicFramePr>
        <p:xfrm>
          <a:off x="7025997" y="436659"/>
          <a:ext cx="5066527" cy="5278687"/>
        </p:xfrm>
        <a:graphic>
          <a:graphicData uri="http://schemas.openxmlformats.org/drawingml/2006/table">
            <a:tbl>
              <a:tblPr/>
              <a:tblGrid>
                <a:gridCol w="646042">
                  <a:extLst>
                    <a:ext uri="{9D8B030D-6E8A-4147-A177-3AD203B41FA5}">
                      <a16:colId xmlns:a16="http://schemas.microsoft.com/office/drawing/2014/main" val="4227567372"/>
                    </a:ext>
                  </a:extLst>
                </a:gridCol>
                <a:gridCol w="1472533">
                  <a:extLst>
                    <a:ext uri="{9D8B030D-6E8A-4147-A177-3AD203B41FA5}">
                      <a16:colId xmlns:a16="http://schemas.microsoft.com/office/drawing/2014/main" val="3513566203"/>
                    </a:ext>
                  </a:extLst>
                </a:gridCol>
                <a:gridCol w="500099">
                  <a:extLst>
                    <a:ext uri="{9D8B030D-6E8A-4147-A177-3AD203B41FA5}">
                      <a16:colId xmlns:a16="http://schemas.microsoft.com/office/drawing/2014/main" val="1125444780"/>
                    </a:ext>
                  </a:extLst>
                </a:gridCol>
                <a:gridCol w="789613">
                  <a:extLst>
                    <a:ext uri="{9D8B030D-6E8A-4147-A177-3AD203B41FA5}">
                      <a16:colId xmlns:a16="http://schemas.microsoft.com/office/drawing/2014/main" val="2665179006"/>
                    </a:ext>
                  </a:extLst>
                </a:gridCol>
                <a:gridCol w="790348">
                  <a:extLst>
                    <a:ext uri="{9D8B030D-6E8A-4147-A177-3AD203B41FA5}">
                      <a16:colId xmlns:a16="http://schemas.microsoft.com/office/drawing/2014/main" val="701328831"/>
                    </a:ext>
                  </a:extLst>
                </a:gridCol>
                <a:gridCol w="867892">
                  <a:extLst>
                    <a:ext uri="{9D8B030D-6E8A-4147-A177-3AD203B41FA5}">
                      <a16:colId xmlns:a16="http://schemas.microsoft.com/office/drawing/2014/main" val="152731760"/>
                    </a:ext>
                  </a:extLst>
                </a:gridCol>
              </a:tblGrid>
              <a:tr h="809186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网络层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物理属性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展平长度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硬件对齐率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算力负荷 (MOPs)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1" i="0" dirty="0">
                          <a:solidFill>
                            <a:srgbClr val="FFFFFF"/>
                          </a:solidFill>
                          <a:effectLst/>
                          <a:latin typeface="var(--font-title)"/>
                        </a:rPr>
                        <a:t>运行器件空间</a:t>
                      </a:r>
                    </a:p>
                  </a:txBody>
                  <a:tcPr marL="66670" marR="66670" marT="44447" marB="44447" anchor="ctr">
                    <a:solidFill>
                      <a:srgbClr val="0061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5408731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stem</a:t>
                      </a:r>
                      <a:endParaRPr lang="zh-CN" sz="1200" b="0" i="0" dirty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3→8, 1×1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37.5%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0.098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电计算 (FP32)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054560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8→16, 2×2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0.524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1549595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16→32, 2×2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64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0.131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728080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stage3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Conv 32→16, 1×1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32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0.033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18637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fc1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1024→256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1024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0.262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09775"/>
                  </a:ext>
                </a:extLst>
              </a:tr>
              <a:tr h="5760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fc2</a:t>
                      </a:r>
                      <a:endParaRPr lang="zh-CN" sz="1200" b="0" i="0">
                        <a:solidFill>
                          <a:schemeClr val="tx1"/>
                        </a:solidFill>
                        <a:effectLst/>
                        <a:latin typeface="DM Sans" pitchFamily="2" charset="0"/>
                      </a:endParaRP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Linear 256→10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256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100.0%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0.003 MOPs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光子核心 (int8)</a:t>
                      </a:r>
                    </a:p>
                  </a:txBody>
                  <a:tcPr marL="66670" marR="66670" marT="44447" marB="44447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4F8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1716130"/>
                  </a:ext>
                </a:extLst>
              </a:tr>
              <a:tr h="101327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整机</a:t>
                      </a:r>
                      <a:endParaRPr lang="en-US" altLang="zh-CN" sz="1200" b="0" i="0" dirty="0">
                        <a:solidFill>
                          <a:srgbClr val="1815B0"/>
                        </a:solidFill>
                        <a:effectLst/>
                        <a:latin typeface="DM Sans" pitchFamily="2" charset="0"/>
                      </a:endParaRPr>
                    </a:p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rgbClr val="1815B0"/>
                          </a:solidFill>
                          <a:effectLst/>
                          <a:latin typeface="DM Sans" pitchFamily="2" charset="0"/>
                        </a:rPr>
                        <a:t>合并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-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99.6%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1.051 MOPs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zh-CN" sz="1200" b="0" i="0" dirty="0">
                          <a:solidFill>
                            <a:schemeClr val="tx1"/>
                          </a:solidFill>
                          <a:effectLst/>
                          <a:latin typeface="DM Sans" pitchFamily="2" charset="0"/>
                        </a:rPr>
                        <a:t>光: 0.953M  电: 0.098M</a:t>
                      </a:r>
                    </a:p>
                  </a:txBody>
                  <a:tcPr marL="66670" marR="66670" marT="44447" marB="4444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5625059"/>
                  </a:ext>
                </a:extLst>
              </a:tr>
            </a:tbl>
          </a:graphicData>
        </a:graphic>
      </p:graphicFrame>
      <p:sp>
        <p:nvSpPr>
          <p:cNvPr id="10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11 / 15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F37DC35-FB3D-5F11-BBD0-DFDE95B20E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76" y="996985"/>
            <a:ext cx="6667261" cy="3055827"/>
          </a:xfrm>
          <a:prstGeom prst="rect">
            <a:avLst/>
          </a:prstGeom>
        </p:spPr>
      </p:pic>
      <p:grpSp>
        <p:nvGrpSpPr>
          <p:cNvPr id="15" name="组合 14">
            <a:extLst>
              <a:ext uri="{FF2B5EF4-FFF2-40B4-BE49-F238E27FC236}">
                <a16:creationId xmlns:a16="http://schemas.microsoft.com/office/drawing/2014/main" id="{1B4A3AE7-56C7-FE3C-4E4C-A05E04847D70}"/>
              </a:ext>
            </a:extLst>
          </p:cNvPr>
          <p:cNvGrpSpPr/>
          <p:nvPr/>
        </p:nvGrpSpPr>
        <p:grpSpPr>
          <a:xfrm>
            <a:off x="99476" y="4158642"/>
            <a:ext cx="6698905" cy="2502353"/>
            <a:chOff x="99476" y="4158642"/>
            <a:chExt cx="6698905" cy="2502353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D5C37C1B-4CB8-081D-2CB0-74C585D6569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476" y="4158642"/>
              <a:ext cx="6698905" cy="2502353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BA7A5BD0-92D3-ED2F-E1EA-EDDEF8147F6E}"/>
                </a:ext>
              </a:extLst>
            </p:cNvPr>
            <p:cNvSpPr/>
            <p:nvPr/>
          </p:nvSpPr>
          <p:spPr>
            <a:xfrm>
              <a:off x="408588" y="5999356"/>
              <a:ext cx="914690" cy="193288"/>
            </a:xfrm>
            <a:prstGeom prst="rect">
              <a:avLst/>
            </a:prstGeom>
            <a:solidFill>
              <a:srgbClr val="EDF5F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16AD820D-0025-4B64-BBC3-44EEC4E6821F}"/>
              </a:ext>
            </a:extLst>
          </p:cNvPr>
          <p:cNvSpPr txBox="1"/>
          <p:nvPr/>
        </p:nvSpPr>
        <p:spPr>
          <a:xfrm>
            <a:off x="6382011" y="59617"/>
            <a:ext cx="5870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Model</a:t>
            </a:r>
            <a:r>
              <a:rPr lang="zh-CN" altLang="zh-CN" cap="all" dirty="0"/>
              <a:t> 2/3 (遥感特征图 64×64) 逐层物理相干计算量分布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877710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5E1E89-ED25-F87A-22F4-FEBD249386A7}"/>
              </a:ext>
            </a:extLst>
          </p:cNvPr>
          <p:cNvSpPr txBox="1"/>
          <p:nvPr/>
        </p:nvSpPr>
        <p:spPr>
          <a:xfrm>
            <a:off x="2230666" y="49579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验证闭环</a:t>
            </a:r>
            <a:endParaRPr lang="zh-CN" altLang="en-US" sz="3200" b="1" dirty="0">
              <a:solidFill>
                <a:srgbClr val="0061E2"/>
              </a:solidFill>
            </a:endParaRPr>
          </a:p>
        </p:txBody>
      </p:sp>
      <p:sp>
        <p:nvSpPr>
          <p:cNvPr id="300" name="Card"/>
          <p:cNvSpPr>
            <a:spLocks noGrp="1"/>
          </p:cNvSpPr>
          <p:nvPr/>
        </p:nvSpPr>
        <p:spPr>
          <a:xfrm>
            <a:off x="613519" y="1258396"/>
            <a:ext cx="5367536" cy="4505580"/>
          </a:xfrm>
          <a:prstGeom prst="roundRect">
            <a:avLst>
              <a:gd name="adj" fmla="val 4500"/>
            </a:avLst>
          </a:prstGeom>
          <a:solidFill>
            <a:srgbClr val="E7F1FD"/>
          </a:solidFill>
          <a:ln w="9525">
            <a:solidFill>
              <a:srgbClr val="C9DCF5"/>
            </a:solidFill>
          </a:ln>
          <a:effectLst>
            <a:outerShdw blurRad="38100" dist="19050" dir="5400000" rotWithShape="0">
              <a:srgbClr val="9FB3D4">
                <a:alpha val="3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1A0FD5A-C9AE-186B-DFD8-E33FFBD62C53}"/>
              </a:ext>
            </a:extLst>
          </p:cNvPr>
          <p:cNvSpPr txBox="1"/>
          <p:nvPr/>
        </p:nvSpPr>
        <p:spPr>
          <a:xfrm>
            <a:off x="702889" y="1539194"/>
            <a:ext cx="518879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200" b="1" dirty="0"/>
              <a:t>验证机制</a:t>
            </a:r>
            <a:r>
              <a:rPr lang="zh-CN" altLang="zh-CN" sz="2200" dirty="0"/>
              <a:t>（双级闭环）</a:t>
            </a:r>
            <a:br>
              <a:rPr lang="zh-CN" altLang="zh-CN" sz="2200" dirty="0"/>
            </a:br>
            <a:r>
              <a:rPr lang="zh-CN" altLang="zh-CN" sz="2200" dirty="0"/>
              <a:t>秒级QAT仿真 ⇄ 数小时真机</a:t>
            </a:r>
            <a:r>
              <a:rPr lang="zh-CN" altLang="en-US" sz="2200" dirty="0"/>
              <a:t>实测</a:t>
            </a:r>
            <a:endParaRPr lang="zh-CN" altLang="zh-CN" sz="2200" dirty="0"/>
          </a:p>
          <a:p>
            <a:r>
              <a:rPr lang="zh-CN" altLang="zh-CN" sz="2200" b="1" dirty="0"/>
              <a:t>抗噪精度</a:t>
            </a:r>
            <a:br>
              <a:rPr lang="zh-CN" altLang="zh-CN" sz="2200" dirty="0"/>
            </a:br>
            <a:r>
              <a:rPr lang="zh-CN" altLang="zh-CN" sz="2200" dirty="0"/>
              <a:t>预注入标定噪声，真机较QAT回撤极小（M2 ↓1.63%，M3 ↓1.55%）</a:t>
            </a:r>
            <a:br>
              <a:rPr lang="zh-CN" altLang="zh-CN" sz="2200" dirty="0"/>
            </a:br>
            <a:r>
              <a:rPr lang="zh-CN" altLang="zh-CN" sz="2200" b="1" dirty="0"/>
              <a:t>消融对比</a:t>
            </a:r>
            <a:br>
              <a:rPr lang="zh-CN" altLang="zh-CN" sz="2200" dirty="0"/>
            </a:br>
            <a:r>
              <a:rPr lang="zh-CN" altLang="zh-CN" sz="2200" dirty="0"/>
              <a:t>蒸馏M3（90.28%） vs 无蒸馏M2（90.43%）</a:t>
            </a:r>
            <a:br>
              <a:rPr lang="zh-CN" altLang="zh-CN" sz="2200" dirty="0"/>
            </a:br>
            <a:r>
              <a:rPr lang="zh-CN" altLang="zh-CN" sz="2200" dirty="0"/>
              <a:t>→ 无统计显著性差异</a:t>
            </a:r>
          </a:p>
          <a:p>
            <a:r>
              <a:rPr lang="zh-CN" altLang="zh-CN" sz="2200" b="1" dirty="0"/>
              <a:t>根本归因</a:t>
            </a:r>
            <a:br>
              <a:rPr lang="zh-CN" altLang="zh-CN" sz="2200" dirty="0"/>
            </a:br>
            <a:r>
              <a:rPr lang="zh-CN" altLang="zh-CN" sz="2200" dirty="0"/>
              <a:t>鲁棒性源于训练中适应物理噪声，而非高维教师网络拟合</a:t>
            </a:r>
          </a:p>
          <a:p>
            <a:endParaRPr lang="zh-CN" altLang="en-US" sz="2000" dirty="0"/>
          </a:p>
        </p:txBody>
      </p:sp>
      <p:sp>
        <p:nvSpPr>
          <p:cNvPr id="3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3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2 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/ 15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A223C87-52D3-A1F3-3DBB-5989CA32C5F2}"/>
              </a:ext>
            </a:extLst>
          </p:cNvPr>
          <p:cNvSpPr txBox="1"/>
          <p:nvPr/>
        </p:nvSpPr>
        <p:spPr>
          <a:xfrm>
            <a:off x="8135194" y="806828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b="1" dirty="0">
                <a:solidFill>
                  <a:srgbClr val="0061E2"/>
                </a:solidFill>
              </a:rPr>
              <a:t>可视化前端</a:t>
            </a:r>
            <a:endParaRPr lang="en-US" altLang="zh-CN" sz="3200" b="1" dirty="0">
              <a:solidFill>
                <a:srgbClr val="0061E2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5CEDA7-19C3-7C1D-52F8-EB587025E2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711" y="1617325"/>
            <a:ext cx="5659132" cy="337288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1FD57371-53C8-06CC-86C4-658793951C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0" name="图片 9" descr="集创赛1">
            <a:extLst>
              <a:ext uri="{FF2B5EF4-FFF2-40B4-BE49-F238E27FC236}">
                <a16:creationId xmlns:a16="http://schemas.microsoft.com/office/drawing/2014/main" id="{5DB17008-7F4E-A5CA-8716-88DD0803C4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038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7A5DF-B81C-C580-29A4-D6C63A3BE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622C37D-8919-710D-01D0-D7E5B16D334E}"/>
              </a:ext>
            </a:extLst>
          </p:cNvPr>
          <p:cNvSpPr txBox="1"/>
          <p:nvPr/>
        </p:nvSpPr>
        <p:spPr>
          <a:xfrm>
            <a:off x="386626" y="414549"/>
            <a:ext cx="45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9E29BA0-4E60-69F8-9512-E77E70E6DFEC}"/>
              </a:ext>
            </a:extLst>
          </p:cNvPr>
          <p:cNvSpPr txBox="1"/>
          <p:nvPr/>
        </p:nvSpPr>
        <p:spPr>
          <a:xfrm>
            <a:off x="659948" y="227275"/>
            <a:ext cx="55194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计算效率与在轨部署决策分析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7E27624-975D-ECFC-ED28-DB9A99A06FFE}"/>
              </a:ext>
            </a:extLst>
          </p:cNvPr>
          <p:cNvSpPr txBox="1"/>
          <p:nvPr/>
        </p:nvSpPr>
        <p:spPr>
          <a:xfrm>
            <a:off x="345424" y="1170351"/>
            <a:ext cx="45448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2000" b="1" dirty="0"/>
              <a:t>轻量化降维打击：破除</a:t>
            </a:r>
            <a:r>
              <a:rPr lang="zh-CN" altLang="en-US" sz="2000" b="1" dirty="0"/>
              <a:t>卫</a:t>
            </a:r>
            <a:r>
              <a:rPr lang="zh-CN" altLang="zh-CN" sz="2000" b="1" dirty="0"/>
              <a:t>星上电能瓶颈</a:t>
            </a:r>
          </a:p>
          <a:p>
            <a:endParaRPr lang="zh-CN" altLang="en-US" sz="16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B843420-4031-7288-DC62-CCBD36B74F26}"/>
              </a:ext>
            </a:extLst>
          </p:cNvPr>
          <p:cNvSpPr txBox="1"/>
          <p:nvPr/>
        </p:nvSpPr>
        <p:spPr>
          <a:xfrm>
            <a:off x="245091" y="1595710"/>
            <a:ext cx="4544833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cap="all" dirty="0"/>
              <a:t>Model 2/3 推理开销</a:t>
            </a:r>
            <a:endParaRPr lang="en-US" altLang="zh-CN" cap="all" dirty="0"/>
          </a:p>
          <a:p>
            <a:r>
              <a:rPr lang="zh-CN" altLang="zh-CN" sz="3200" b="1" dirty="0">
                <a:solidFill>
                  <a:schemeClr val="accent2">
                    <a:lumMod val="75000"/>
                  </a:schemeClr>
                </a:solidFill>
              </a:rPr>
              <a:t>1.05 MOPs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zh-CN" altLang="zh-CN" dirty="0"/>
              <a:t>参数</a:t>
            </a:r>
            <a:r>
              <a:rPr lang="zh-CN" altLang="en-US" dirty="0"/>
              <a:t>量</a:t>
            </a:r>
            <a:r>
              <a:rPr lang="zh-CN" altLang="zh-CN" dirty="0"/>
              <a:t>仅 </a:t>
            </a:r>
            <a:r>
              <a:rPr lang="zh-CN" altLang="zh-CN" b="1" dirty="0"/>
              <a:t>268K</a:t>
            </a:r>
            <a:r>
              <a:rPr lang="zh-CN" altLang="zh-CN" dirty="0"/>
              <a:t>，高</a:t>
            </a:r>
            <a:r>
              <a:rPr lang="zh-CN" altLang="en-US" dirty="0"/>
              <a:t>度</a:t>
            </a:r>
            <a:r>
              <a:rPr lang="zh-CN" altLang="zh-CN" dirty="0"/>
              <a:t>适应低负荷在轨载荷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按 </a:t>
            </a:r>
            <a:r>
              <a:rPr lang="en-US" altLang="zh-CN" dirty="0"/>
              <a:t>2.6 MOPs </a:t>
            </a:r>
            <a:r>
              <a:rPr lang="zh-CN" altLang="en-US" dirty="0"/>
              <a:t>计算的理论上板运行速度</a:t>
            </a:r>
          </a:p>
          <a:p>
            <a:r>
              <a:rPr lang="zh-CN" altLang="en-US" dirty="0"/>
              <a:t>理论上推理一张图片</a:t>
            </a:r>
            <a:r>
              <a:rPr lang="en-US" altLang="zh-CN" sz="3200" b="1" dirty="0">
                <a:solidFill>
                  <a:srgbClr val="7030A0"/>
                </a:solidFill>
              </a:rPr>
              <a:t>0.4s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0FCDB2-742C-717D-5039-1B2819557AB1}"/>
              </a:ext>
            </a:extLst>
          </p:cNvPr>
          <p:cNvSpPr txBox="1"/>
          <p:nvPr/>
        </p:nvSpPr>
        <p:spPr>
          <a:xfrm>
            <a:off x="162987" y="5467857"/>
            <a:ext cx="8794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sz="2000" dirty="0"/>
              <a:t> Model 1 (VGG Baseline) </a:t>
            </a:r>
            <a:r>
              <a:rPr lang="zh-CN" altLang="en-US" sz="2000" dirty="0"/>
              <a:t>无</a:t>
            </a:r>
            <a:r>
              <a:rPr lang="zh-CN" altLang="zh-CN" sz="2000" dirty="0"/>
              <a:t>在轨实际可行性：</a:t>
            </a:r>
          </a:p>
          <a:p>
            <a:r>
              <a:rPr lang="zh-CN" altLang="zh-CN" dirty="0"/>
              <a:t>单张图像耗算高达 156.6M MOPs (</a:t>
            </a:r>
            <a:r>
              <a:rPr lang="zh-CN" altLang="en-US" dirty="0"/>
              <a:t>约</a:t>
            </a:r>
            <a:r>
              <a:rPr lang="zh-CN" altLang="zh-CN" dirty="0"/>
              <a:t> Model 2 的 150 倍)。仿真推理单张高达 150 秒，跑完测试集累计需要 9 天！其功耗与时延远超在轨资源上限，根本无法搭载上天。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1</a:t>
            </a:r>
            <a:r>
              <a:rPr lang="en-US" alt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3</a:t>
            </a:r>
            <a:r>
              <a:rPr lang="zh-CN" sz="1000" dirty="0">
                <a:solidFill>
                  <a:srgbClr val="8A99AD"/>
                </a:solidFill>
                <a:latin typeface="微软雅黑"/>
                <a:ea typeface="微软雅黑"/>
              </a:rPr>
              <a:t> / 15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0121050-6ED1-1FE0-5C67-3DF645408DE7}"/>
              </a:ext>
            </a:extLst>
          </p:cNvPr>
          <p:cNvSpPr txBox="1"/>
          <p:nvPr/>
        </p:nvSpPr>
        <p:spPr>
          <a:xfrm>
            <a:off x="279414" y="3801505"/>
            <a:ext cx="350929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cap="all" dirty="0"/>
              <a:t>全量</a:t>
            </a:r>
            <a:r>
              <a:rPr lang="zh-CN" altLang="en-US" cap="all" dirty="0"/>
              <a:t>模拟</a:t>
            </a:r>
            <a:r>
              <a:rPr lang="zh-CN" altLang="zh-CN" cap="all" dirty="0"/>
              <a:t>耗时</a:t>
            </a:r>
            <a:endParaRPr lang="en-US" altLang="zh-CN" cap="all" dirty="0"/>
          </a:p>
          <a:p>
            <a:r>
              <a:rPr lang="en-US" altLang="zh-CN" sz="3200" b="1" dirty="0">
                <a:solidFill>
                  <a:schemeClr val="accent6">
                    <a:lumMod val="75000"/>
                  </a:schemeClr>
                </a:solidFill>
              </a:rPr>
              <a:t>~</a:t>
            </a:r>
            <a:r>
              <a:rPr lang="zh-CN" altLang="zh-CN" sz="3200" b="1" dirty="0">
                <a:solidFill>
                  <a:schemeClr val="accent6">
                    <a:lumMod val="75000"/>
                  </a:schemeClr>
                </a:solidFill>
              </a:rPr>
              <a:t>3.7 小时</a:t>
            </a:r>
            <a:endParaRPr lang="en-US" altLang="zh-CN" sz="32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zh-CN" altLang="zh-CN" dirty="0"/>
              <a:t>累积调用物理芯片引擎 27,000 次</a:t>
            </a:r>
            <a:endParaRPr lang="en-US" altLang="zh-CN" dirty="0"/>
          </a:p>
          <a:p>
            <a:r>
              <a:rPr lang="zh-CN" altLang="zh-CN" sz="1200" dirty="0"/>
              <a:t>（5 光计算层 × 5400 张）</a:t>
            </a:r>
            <a:endParaRPr lang="zh-CN" altLang="zh-CN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ABF6F36-F415-6C6D-12B2-89C204D61CAB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7394" y="538717"/>
            <a:ext cx="7219515" cy="4995812"/>
          </a:xfrm>
          <a:prstGeom prst="rect">
            <a:avLst/>
          </a:prstGeom>
        </p:spPr>
      </p:pic>
      <p:sp>
        <p:nvSpPr>
          <p:cNvPr id="18" name="FooterL">
            <a:extLst>
              <a:ext uri="{FF2B5EF4-FFF2-40B4-BE49-F238E27FC236}">
                <a16:creationId xmlns:a16="http://schemas.microsoft.com/office/drawing/2014/main" id="{62B33FB0-DCEC-3A54-61F6-61FB69BAC427}"/>
              </a:ext>
            </a:extLst>
          </p:cNvPr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8F5E370-2DDF-2517-6FC6-2ADD0488E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22" name="图片 21" descr="集创赛1">
            <a:extLst>
              <a:ext uri="{FF2B5EF4-FFF2-40B4-BE49-F238E27FC236}">
                <a16:creationId xmlns:a16="http://schemas.microsoft.com/office/drawing/2014/main" id="{8B65D2F1-84D8-FEC7-6160-9B668E550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4093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FA49412-1A0E-1576-A796-1EDF1D937B41}"/>
              </a:ext>
            </a:extLst>
          </p:cNvPr>
          <p:cNvSpPr txBox="1"/>
          <p:nvPr/>
        </p:nvSpPr>
        <p:spPr>
          <a:xfrm>
            <a:off x="764546" y="304205"/>
            <a:ext cx="5519460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sz="3200" b="1" dirty="0">
                <a:solidFill>
                  <a:srgbClr val="0061E2"/>
                </a:solidFill>
              </a:rPr>
              <a:t>系统成果总结与未来在轨展望</a:t>
            </a: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012D64D-57CD-CCA2-5F00-4C3FE4D368FD}"/>
              </a:ext>
            </a:extLst>
          </p:cNvPr>
          <p:cNvSpPr txBox="1"/>
          <p:nvPr/>
        </p:nvSpPr>
        <p:spPr>
          <a:xfrm>
            <a:off x="7931888" y="1365279"/>
            <a:ext cx="4123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       </a:t>
            </a:r>
            <a:r>
              <a:rPr lang="zh-CN" altLang="zh-CN" sz="2400" dirty="0"/>
              <a:t>未来在轨展望中，我们将以多阶段混合分割策略为核心，动态权衡光电计算配比</a:t>
            </a:r>
            <a:r>
              <a:rPr lang="zh-CN" altLang="en-US" sz="2400" dirty="0"/>
              <a:t>；</a:t>
            </a:r>
            <a:r>
              <a:rPr lang="zh-CN" altLang="zh-CN" sz="2400" dirty="0"/>
              <a:t>结合硬件在环闭环训练持续抑制物理偏差</a:t>
            </a:r>
            <a:r>
              <a:rPr lang="zh-CN" altLang="en-US" sz="2400" dirty="0"/>
              <a:t>；</a:t>
            </a:r>
            <a:r>
              <a:rPr lang="zh-CN" altLang="zh-CN" sz="2400" dirty="0"/>
              <a:t>最终实现星载光学遥感数据的端到端实时语义分割，打通从地面训练到太空推理的全链路闭环，为高时效、低功耗的星上智能感知提供可靠支撑。</a:t>
            </a:r>
            <a:endParaRPr lang="zh-CN" altLang="en-US" sz="2000" dirty="0"/>
          </a:p>
        </p:txBody>
      </p:sp>
      <p:sp>
        <p:nvSpPr>
          <p:cNvPr id="111" name="FooterL"/>
          <p:cNvSpPr>
            <a:spLocks noGrp="1"/>
          </p:cNvSpPr>
          <p:nvPr/>
        </p:nvSpPr>
        <p:spPr>
          <a:xfrm>
            <a:off x="411480" y="6492240"/>
            <a:ext cx="7772400" cy="274320"/>
          </a:xfrm>
          <a:prstGeom prst="rect">
            <a:avLst/>
          </a:prstGeom>
        </p:spPr>
        <p:txBody>
          <a:bodyPr wrap="none" rtlCol="0" anchor="ctr"/>
          <a:lstStyle/>
          <a:p>
            <a:pPr algn="l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Optic-SpaceNet · 光学 CNN 在轨加速系统</a:t>
            </a:r>
          </a:p>
        </p:txBody>
      </p:sp>
      <p:sp>
        <p:nvSpPr>
          <p:cNvPr id="113" name="FooterR"/>
          <p:cNvSpPr>
            <a:spLocks noGrp="1"/>
          </p:cNvSpPr>
          <p:nvPr/>
        </p:nvSpPr>
        <p:spPr>
          <a:xfrm>
            <a:off x="10058400" y="6492240"/>
            <a:ext cx="1737360" cy="274320"/>
          </a:xfrm>
          <a:prstGeom prst="rect">
            <a:avLst/>
          </a:prstGeom>
        </p:spPr>
        <p:txBody>
          <a:bodyPr wrap="none" rtlCol="0" anchor="ctr"/>
          <a:lstStyle/>
          <a:p>
            <a:pPr algn="r"/>
            <a:r>
              <a:rPr lang="zh-CN" sz="1000">
                <a:solidFill>
                  <a:srgbClr val="8A99AD"/>
                </a:solidFill>
                <a:latin typeface="微软雅黑"/>
                <a:ea typeface="微软雅黑"/>
              </a:rPr>
              <a:t>14 / 15</a:t>
            </a:r>
          </a:p>
        </p:txBody>
      </p:sp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610B4B4A-09E5-E1D4-AAE6-2B6C76C8AE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25275"/>
              </p:ext>
            </p:extLst>
          </p:nvPr>
        </p:nvGraphicFramePr>
        <p:xfrm>
          <a:off x="561943" y="1402729"/>
          <a:ext cx="6951730" cy="3871928"/>
        </p:xfrm>
        <a:graphic>
          <a:graphicData uri="http://schemas.openxmlformats.org/drawingml/2006/table">
            <a:tbl>
              <a:tblPr/>
              <a:tblGrid>
                <a:gridCol w="1487817">
                  <a:extLst>
                    <a:ext uri="{9D8B030D-6E8A-4147-A177-3AD203B41FA5}">
                      <a16:colId xmlns:a16="http://schemas.microsoft.com/office/drawing/2014/main" val="291461139"/>
                    </a:ext>
                  </a:extLst>
                </a:gridCol>
                <a:gridCol w="2080055">
                  <a:extLst>
                    <a:ext uri="{9D8B030D-6E8A-4147-A177-3AD203B41FA5}">
                      <a16:colId xmlns:a16="http://schemas.microsoft.com/office/drawing/2014/main" val="3861698943"/>
                    </a:ext>
                  </a:extLst>
                </a:gridCol>
                <a:gridCol w="1680625">
                  <a:extLst>
                    <a:ext uri="{9D8B030D-6E8A-4147-A177-3AD203B41FA5}">
                      <a16:colId xmlns:a16="http://schemas.microsoft.com/office/drawing/2014/main" val="2261644304"/>
                    </a:ext>
                  </a:extLst>
                </a:gridCol>
                <a:gridCol w="1703233">
                  <a:extLst>
                    <a:ext uri="{9D8B030D-6E8A-4147-A177-3AD203B41FA5}">
                      <a16:colId xmlns:a16="http://schemas.microsoft.com/office/drawing/2014/main" val="524099184"/>
                    </a:ext>
                  </a:extLst>
                </a:gridCol>
              </a:tblGrid>
              <a:tr h="474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指标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bg2"/>
                          </a:solidFill>
                        </a:rPr>
                        <a:t>Model 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8771915"/>
                  </a:ext>
                </a:extLst>
              </a:tr>
              <a:tr h="63725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光计算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占比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97.74%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73.64%</a:t>
                      </a:r>
                      <a:endParaRPr 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90.65%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7540498"/>
                  </a:ext>
                </a:extLst>
              </a:tr>
              <a:tr h="1384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真机精度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98.15%</a:t>
                      </a:r>
                      <a:endParaRPr lang="en-US" altLang="zh-CN" sz="2000" b="0" dirty="0">
                        <a:solidFill>
                          <a:schemeClr val="accent2">
                            <a:lumMod val="50000"/>
                          </a:schemeClr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sz="2000" b="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（q650）</a:t>
                      </a:r>
                      <a:endParaRPr lang="en-US" altLang="zh-CN" sz="2000" b="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97.54%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zh-CN" sz="2000" b="0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（q650）</a:t>
                      </a:r>
                      <a:endParaRPr lang="en-US" altLang="zh-CN" sz="2000" b="0" dirty="0">
                        <a:solidFill>
                          <a:schemeClr val="accent6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90.43%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90.28%</a:t>
                      </a:r>
                      <a:endParaRPr lang="en-US" altLang="zh-CN" sz="2000" b="0" dirty="0"/>
                    </a:p>
                    <a:p>
                      <a:pPr algn="ctr">
                        <a:buNone/>
                      </a:pPr>
                      <a:r>
                        <a:rPr lang="zh-CN" sz="2000" b="0" dirty="0"/>
                        <a:t>（全量5400）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187355"/>
                  </a:ext>
                </a:extLst>
              </a:tr>
              <a:tr h="4740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参数量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2.39M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268K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299467"/>
                  </a:ext>
                </a:extLst>
              </a:tr>
              <a:tr h="8387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总 MOPs/张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156.6M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/>
                        <a:t>1.05M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8414633"/>
                  </a:ext>
                </a:extLst>
              </a:tr>
            </a:tbl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E853BE14-E6C5-1712-394B-26461A8EF133}"/>
              </a:ext>
            </a:extLst>
          </p:cNvPr>
          <p:cNvSpPr txBox="1"/>
          <p:nvPr/>
        </p:nvSpPr>
        <p:spPr>
          <a:xfrm>
            <a:off x="378177" y="5455271"/>
            <a:ext cx="78390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褐色为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2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2">
                    <a:lumMod val="50000"/>
                  </a:schemeClr>
                </a:solidFill>
              </a:rPr>
              <a:t>A    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深绿色为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model1 </a:t>
            </a:r>
            <a:r>
              <a:rPr lang="zh-CN" altLang="en-US" dirty="0">
                <a:solidFill>
                  <a:schemeClr val="accent6">
                    <a:lumMod val="50000"/>
                  </a:schemeClr>
                </a:solidFill>
              </a:rPr>
              <a:t>变体</a:t>
            </a:r>
            <a:r>
              <a:rPr lang="en-US" altLang="zh-CN" dirty="0">
                <a:solidFill>
                  <a:schemeClr val="accent6">
                    <a:lumMod val="50000"/>
                  </a:schemeClr>
                </a:solidFill>
              </a:rPr>
              <a:t>B   </a:t>
            </a:r>
            <a:r>
              <a:rPr lang="en-US" altLang="zh-CN" dirty="0"/>
              <a:t>q650</a:t>
            </a:r>
            <a:r>
              <a:rPr lang="zh-CN" altLang="en-US" dirty="0"/>
              <a:t>表示测试集跑了</a:t>
            </a:r>
            <a:r>
              <a:rPr lang="en-US" altLang="zh-CN" dirty="0"/>
              <a:t>650</a:t>
            </a:r>
            <a:r>
              <a:rPr lang="zh-CN" altLang="en-US" dirty="0"/>
              <a:t>张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09F77CB1-02C2-7CC7-D453-EB8EB0A7C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810"/>
            <a:ext cx="558829" cy="1181161"/>
          </a:xfrm>
          <a:prstGeom prst="rect">
            <a:avLst/>
          </a:prstGeom>
        </p:spPr>
      </p:pic>
      <p:pic>
        <p:nvPicPr>
          <p:cNvPr id="11" name="图片 10" descr="集创赛1">
            <a:extLst>
              <a:ext uri="{FF2B5EF4-FFF2-40B4-BE49-F238E27FC236}">
                <a16:creationId xmlns:a16="http://schemas.microsoft.com/office/drawing/2014/main" id="{7637D4C8-1E30-2F98-D6A3-CB590F07A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82635" y="-235470"/>
            <a:ext cx="1486038" cy="92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8005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/>
        </p:nvGrpSpPr>
        <p:grpSpPr>
          <a:xfrm>
            <a:off x="3964446" y="1356258"/>
            <a:ext cx="5789541" cy="3170265"/>
            <a:chOff x="2855913" y="-477838"/>
            <a:chExt cx="5757862" cy="2501900"/>
          </a:xfrm>
          <a:solidFill>
            <a:schemeClr val="accent3"/>
          </a:solidFill>
        </p:grpSpPr>
        <p:sp>
          <p:nvSpPr>
            <p:cNvPr id="10" name="Freeform 5"/>
            <p:cNvSpPr>
              <a:spLocks/>
            </p:cNvSpPr>
            <p:nvPr userDrawn="1"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/>
            </p:cNvSpPr>
            <p:nvPr userDrawn="1"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 userDrawn="1"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24" name="椭圆 23">
            <a:extLst>
              <a:ext uri="{FF2B5EF4-FFF2-40B4-BE49-F238E27FC236}">
                <a16:creationId xmlns:a16="http://schemas.microsoft.com/office/drawing/2014/main" id="{21872023-1CA1-47EB-A31A-5D94089B2128}"/>
              </a:ext>
            </a:extLst>
          </p:cNvPr>
          <p:cNvSpPr/>
          <p:nvPr/>
        </p:nvSpPr>
        <p:spPr>
          <a:xfrm>
            <a:off x="10128669" y="1735494"/>
            <a:ext cx="1150294" cy="115029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altLang="zh-CN" sz="2800" dirty="0">
              <a:solidFill>
                <a:schemeClr val="bg1">
                  <a:lumMod val="65000"/>
                </a:schemeClr>
              </a:solidFill>
              <a:latin typeface="Impact" panose="020B0806030902050204" pitchFamily="34" charset="0"/>
            </a:endParaRPr>
          </a:p>
        </p:txBody>
      </p:sp>
      <p:pic>
        <p:nvPicPr>
          <p:cNvPr id="20" name="图片占位符 19" descr="图片包含 建筑物, 户外, 天空&#10;&#10;自动生成的说明">
            <a:extLst>
              <a:ext uri="{FF2B5EF4-FFF2-40B4-BE49-F238E27FC236}">
                <a16:creationId xmlns:a16="http://schemas.microsoft.com/office/drawing/2014/main" id="{C405AC16-DDA1-4E02-BAC5-9E5585B359B0}"/>
              </a:ext>
            </a:extLst>
          </p:cNvPr>
          <p:cNvPicPr>
            <a:picLocks noGrp="1" noChangeAspect="1"/>
          </p:cNvPicPr>
          <p:nvPr>
            <p:ph type="pic" sz="quarter" idx="19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3693" y="0"/>
            <a:ext cx="4927057" cy="6866909"/>
          </a:xfr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4297BEF2-0C27-71E9-5252-ACAC662C3E5D}"/>
              </a:ext>
            </a:extLst>
          </p:cNvPr>
          <p:cNvSpPr txBox="1"/>
          <p:nvPr/>
        </p:nvSpPr>
        <p:spPr>
          <a:xfrm>
            <a:off x="6832985" y="5247060"/>
            <a:ext cx="24481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b="1" dirty="0"/>
              <a:t>CICC 1003564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3869AB-68A8-65A5-DE78-1C03946E6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243" y="1948366"/>
            <a:ext cx="1281897" cy="72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430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1059</TotalTime>
  <Words>2165</Words>
  <Application>Microsoft Office PowerPoint</Application>
  <PresentationFormat>宽屏</PresentationFormat>
  <Paragraphs>316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1" baseType="lpstr">
      <vt:lpstr>Alimama ShuHeiTi Bold</vt:lpstr>
      <vt:lpstr>HarmonyOS Sans SC Black</vt:lpstr>
      <vt:lpstr>Inter</vt:lpstr>
      <vt:lpstr>Plus Jakarta Sans</vt:lpstr>
      <vt:lpstr>var(--font-title)</vt:lpstr>
      <vt:lpstr>等线</vt:lpstr>
      <vt:lpstr>等线 Light</vt:lpstr>
      <vt:lpstr>黑体</vt:lpstr>
      <vt:lpstr>微软雅黑</vt:lpstr>
      <vt:lpstr>幼圆</vt:lpstr>
      <vt:lpstr>Arial</vt:lpstr>
      <vt:lpstr>Cambria Math</vt:lpstr>
      <vt:lpstr>Courier New</vt:lpstr>
      <vt:lpstr>DM Sans</vt:lpstr>
      <vt:lpstr>Impact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lhhisdd@163.com</dc:creator>
  <cp:lastModifiedBy>lhhisdd@163.com</cp:lastModifiedBy>
  <cp:revision>85</cp:revision>
  <dcterms:created xsi:type="dcterms:W3CDTF">2026-07-17T10:10:21Z</dcterms:created>
  <dcterms:modified xsi:type="dcterms:W3CDTF">2026-07-19T09:07:46Z</dcterms:modified>
</cp:coreProperties>
</file>