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65" r:id="rId3"/>
    <p:sldId id="259" r:id="rId4"/>
    <p:sldId id="260" r:id="rId5"/>
    <p:sldId id="261" r:id="rId6"/>
    <p:sldId id="262" r:id="rId7"/>
    <p:sldId id="267" r:id="rId8"/>
    <p:sldId id="272" r:id="rId9"/>
    <p:sldId id="271" r:id="rId10"/>
    <p:sldId id="270" r:id="rId11"/>
    <p:sldId id="269" r:id="rId12"/>
    <p:sldId id="268" r:id="rId13"/>
    <p:sldId id="266" r:id="rId14"/>
    <p:sldId id="263" r:id="rId15"/>
    <p:sldId id="264"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60B81-9FB9-463D-887C-E815C92BB131}" type="datetimeFigureOut">
              <a:rPr lang="zh-CN" altLang="en-US" smtClean="0"/>
              <a:t>2026/7/18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FD74B1-9578-41F2-9F83-75E9C2DDC17D}" type="slidenum">
              <a:rPr lang="zh-CN" altLang="en-US" smtClean="0"/>
              <a:t>‹#›</a:t>
            </a:fld>
            <a:endParaRPr lang="zh-CN" altLang="en-US"/>
          </a:p>
        </p:txBody>
      </p:sp>
    </p:spTree>
    <p:extLst>
      <p:ext uri="{BB962C8B-B14F-4D97-AF65-F5344CB8AC3E}">
        <p14:creationId xmlns:p14="http://schemas.microsoft.com/office/powerpoint/2010/main" val="3990590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图片更新</a:t>
            </a:r>
          </a:p>
        </p:txBody>
      </p:sp>
      <p:sp>
        <p:nvSpPr>
          <p:cNvPr id="4" name="灯片编号占位符 3"/>
          <p:cNvSpPr>
            <a:spLocks noGrp="1"/>
          </p:cNvSpPr>
          <p:nvPr>
            <p:ph type="sldNum" sz="quarter" idx="5"/>
          </p:nvPr>
        </p:nvSpPr>
        <p:spPr/>
        <p:txBody>
          <a:bodyPr/>
          <a:lstStyle/>
          <a:p>
            <a:fld id="{3EFD74B1-9578-41F2-9F83-75E9C2DDC17D}" type="slidenum">
              <a:rPr lang="zh-CN" altLang="en-US" smtClean="0"/>
              <a:t>9</a:t>
            </a:fld>
            <a:endParaRPr lang="zh-CN" altLang="en-US"/>
          </a:p>
        </p:txBody>
      </p:sp>
    </p:spTree>
    <p:extLst>
      <p:ext uri="{BB962C8B-B14F-4D97-AF65-F5344CB8AC3E}">
        <p14:creationId xmlns:p14="http://schemas.microsoft.com/office/powerpoint/2010/main" val="3125724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97CF9-94F7-CCDC-1DFB-68F3DB376CA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6F059C6-BF85-FF3B-8E90-5E49E25C8F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F7717FF-5DBC-2510-2972-1158D80A0DE6}"/>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2C0CAAB5-CAFE-084E-6EF7-F09D4BABF4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0A32B6-A887-0FD8-2B0D-5C5701FD642C}"/>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2424806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F2616-9844-7882-2E59-1AF3A81C380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8C581CA-DBA3-25A4-55F3-3E2955B008F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6DC20A-3668-5759-C03A-79C402A395BF}"/>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401CFB68-AA36-816E-1184-5AD7BAE5B2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6680CA-8176-CE9E-8B7D-5D293ED6D89D}"/>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1916833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765ED-803C-26FC-D778-135B800B162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F602C37-F7D9-468C-9C57-EAA64F748E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4E8DEAA-495D-E1B8-E8FE-F0BF79AD394B}"/>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BCE6E180-F565-411F-E757-09D4636F3F1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AAEE75-8509-C592-3737-12E20C266002}"/>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823619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861356-3619-97C4-2BF9-6694A755D7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11C25EE-38A0-E32F-477A-3F945A66F30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910F4E3-1112-6C86-10E7-8FD57817B18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2F2A2E2-34F7-B1E2-8C42-F758F36A69FE}"/>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AE6D164D-294F-D0D0-D6BF-A8604A3958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07A6599-AFFE-D9CD-8EAD-E4A5A093122D}"/>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145872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BD158-153D-40D7-AE05-D437B15B41C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3C13AA8-3EC6-F95A-4DB2-D936678A4F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060DCC2-5864-4829-C155-98E8D468C86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FF99EEE-2440-4952-8B10-CD5A84F582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E81C8F4-2CF6-75E3-BDD0-364E7BD2C30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CBBCBF6-8A4E-7869-A021-AB87EB07EEFB}"/>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8" name="页脚占位符 7">
            <a:extLst>
              <a:ext uri="{FF2B5EF4-FFF2-40B4-BE49-F238E27FC236}">
                <a16:creationId xmlns:a16="http://schemas.microsoft.com/office/drawing/2014/main" id="{C6CB7142-B20F-4BCB-B61B-629292ECABE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2CA931-A92B-1D4C-4F13-F8989A4BE5E6}"/>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3341463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ED5DFD-7AE4-3D0B-BFA4-ED40123C30A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C1B5B59-89DA-B64B-612C-3F0149BECA11}"/>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4" name="页脚占位符 3">
            <a:extLst>
              <a:ext uri="{FF2B5EF4-FFF2-40B4-BE49-F238E27FC236}">
                <a16:creationId xmlns:a16="http://schemas.microsoft.com/office/drawing/2014/main" id="{7B40C110-7BFD-E1F6-0FAF-554FCC043F9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395FF14-B0A4-14B1-74C3-7F029E6E2C15}"/>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3994177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4382749-9D27-CE20-FBC8-73C2BC8E1FD9}"/>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3" name="页脚占位符 2">
            <a:extLst>
              <a:ext uri="{FF2B5EF4-FFF2-40B4-BE49-F238E27FC236}">
                <a16:creationId xmlns:a16="http://schemas.microsoft.com/office/drawing/2014/main" id="{2F23D7B1-3850-EFC6-7373-DA5C8C72EA8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068206-B1B2-011E-ECF9-A0550402CC1F}"/>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2240837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16DC53-0811-18A6-AC2B-1D2AFB2D47A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6988B50-37E7-2E09-6BE9-212949BAA9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F251064-6709-132B-D4A5-AFDAA97C1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1025C6-7D01-8D0F-4614-4124619B605E}"/>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98F54878-2BF1-FDC7-4C8E-7CD4645367C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AF444ED-DADE-93F2-213E-81349DCC5ED3}"/>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292941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80096-B554-0F1D-A7EC-3F449778AC5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FE1AA8F-6A20-D794-8E66-7F746E4C9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B3702C6-18A7-E6EF-1F07-C5B81B05A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0BA99A-2272-9890-E064-FD2E3C41814F}"/>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47EAF181-E18A-57BB-F5AC-9AA49DC4F2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919E17-9C01-7BE6-F1EF-DCFCCE51F28B}"/>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67803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8CFFC-44CF-99E8-C00E-482D79E0079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ABE8778-B118-71AE-3931-670F8235372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E24C3D-539B-0223-05AE-F845DA435A0C}"/>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D7AF4286-EDB2-D298-9C18-21D5E473DE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D4DE37-03F9-F873-E5A1-DB29648F7DD7}"/>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168230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E5FE17-32C4-1B30-2212-AB9E0F43FFE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02C4B79-2858-D5A1-0BED-BAD2E562667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B15A99-630B-C847-CA4F-8CD9FABD6C95}"/>
              </a:ext>
            </a:extLst>
          </p:cNvPr>
          <p:cNvSpPr>
            <a:spLocks noGrp="1"/>
          </p:cNvSpPr>
          <p:nvPr>
            <p:ph type="dt" sz="half" idx="10"/>
          </p:nvPr>
        </p:nvSpPr>
        <p:spPr/>
        <p:txBody>
          <a:body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875239B2-3053-8A90-292A-37A8B07BB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94D3B6-899D-CE74-757A-3B14390E1BF9}"/>
              </a:ext>
            </a:extLst>
          </p:cNvPr>
          <p:cNvSpPr>
            <a:spLocks noGrp="1"/>
          </p:cNvSpPr>
          <p:nvPr>
            <p:ph type="sldNum" sz="quarter" idx="12"/>
          </p:nvPr>
        </p:nvSpPr>
        <p:spPr/>
        <p:txBody>
          <a:body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2538493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
        <p:nvSpPr>
          <p:cNvPr id="69" name="图片占位符 68">
            <a:extLst>
              <a:ext uri="{FF2B5EF4-FFF2-40B4-BE49-F238E27FC236}">
                <a16:creationId xmlns:a16="http://schemas.microsoft.com/office/drawing/2014/main" id="{17DCCBA1-CDE1-4A2D-861B-782D47E49E72}"/>
              </a:ext>
            </a:extLst>
          </p:cNvPr>
          <p:cNvSpPr>
            <a:spLocks noGrp="1"/>
          </p:cNvSpPr>
          <p:nvPr>
            <p:ph type="pic" sz="quarter" idx="19"/>
          </p:nvPr>
        </p:nvSpPr>
        <p:spPr>
          <a:xfrm>
            <a:off x="0" y="0"/>
            <a:ext cx="4927057" cy="6866909"/>
          </a:xfrm>
          <a:custGeom>
            <a:avLst/>
            <a:gdLst>
              <a:gd name="connsiteX0" fmla="*/ 0 w 4927057"/>
              <a:gd name="connsiteY0" fmla="*/ 0 h 6866909"/>
              <a:gd name="connsiteX1" fmla="*/ 4547560 w 4927057"/>
              <a:gd name="connsiteY1" fmla="*/ 0 h 6866909"/>
              <a:gd name="connsiteX2" fmla="*/ 4816571 w 4927057"/>
              <a:gd name="connsiteY2" fmla="*/ 103308 h 6866909"/>
              <a:gd name="connsiteX3" fmla="*/ 4816571 w 4927057"/>
              <a:gd name="connsiteY3" fmla="*/ 613768 h 6866909"/>
              <a:gd name="connsiteX4" fmla="*/ 2331425 w 4927057"/>
              <a:gd name="connsiteY4" fmla="*/ 2971609 h 6866909"/>
              <a:gd name="connsiteX5" fmla="*/ 2331425 w 4927057"/>
              <a:gd name="connsiteY5" fmla="*/ 3475993 h 6866909"/>
              <a:gd name="connsiteX6" fmla="*/ 3843009 w 4927057"/>
              <a:gd name="connsiteY6" fmla="*/ 4916221 h 6866909"/>
              <a:gd name="connsiteX7" fmla="*/ 3843009 w 4927057"/>
              <a:gd name="connsiteY7" fmla="*/ 5420605 h 6866909"/>
              <a:gd name="connsiteX8" fmla="*/ 2433906 w 4927057"/>
              <a:gd name="connsiteY8" fmla="*/ 6763602 h 6866909"/>
              <a:gd name="connsiteX9" fmla="*/ 2164895 w 4927057"/>
              <a:gd name="connsiteY9" fmla="*/ 6866909 h 6866909"/>
              <a:gd name="connsiteX10" fmla="*/ 0 w 4927057"/>
              <a:gd name="connsiteY10" fmla="*/ 6866909 h 6866909"/>
              <a:gd name="connsiteX11" fmla="*/ 0 w 4927057"/>
              <a:gd name="connsiteY11" fmla="*/ 0 h 686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27057" h="6866909">
                <a:moveTo>
                  <a:pt x="0" y="0"/>
                </a:moveTo>
                <a:lnTo>
                  <a:pt x="4547560" y="0"/>
                </a:lnTo>
                <a:cubicBezTo>
                  <a:pt x="4650041" y="0"/>
                  <a:pt x="4746116" y="36462"/>
                  <a:pt x="4816571" y="103308"/>
                </a:cubicBezTo>
                <a:cubicBezTo>
                  <a:pt x="4963886" y="243077"/>
                  <a:pt x="4963886" y="473999"/>
                  <a:pt x="4816571" y="613768"/>
                </a:cubicBezTo>
                <a:cubicBezTo>
                  <a:pt x="4816571" y="613768"/>
                  <a:pt x="4816571" y="613768"/>
                  <a:pt x="2331425" y="2971609"/>
                </a:cubicBezTo>
                <a:cubicBezTo>
                  <a:pt x="2184110" y="3111379"/>
                  <a:pt x="2184110" y="3336224"/>
                  <a:pt x="2331425" y="3475993"/>
                </a:cubicBezTo>
                <a:cubicBezTo>
                  <a:pt x="2331425" y="3475993"/>
                  <a:pt x="2331425" y="3475993"/>
                  <a:pt x="3843009" y="4916221"/>
                </a:cubicBezTo>
                <a:cubicBezTo>
                  <a:pt x="3990324" y="5055990"/>
                  <a:pt x="3990324" y="5280836"/>
                  <a:pt x="3843009" y="5420605"/>
                </a:cubicBezTo>
                <a:cubicBezTo>
                  <a:pt x="3843009" y="5420605"/>
                  <a:pt x="3843009" y="5420605"/>
                  <a:pt x="2433906" y="6763602"/>
                </a:cubicBezTo>
                <a:cubicBezTo>
                  <a:pt x="2363450" y="6830448"/>
                  <a:pt x="2267375" y="6866909"/>
                  <a:pt x="2164895" y="6866909"/>
                </a:cubicBezTo>
                <a:cubicBezTo>
                  <a:pt x="2164895" y="6866909"/>
                  <a:pt x="2164895" y="6866909"/>
                  <a:pt x="0" y="6866909"/>
                </a:cubicBezTo>
                <a:cubicBezTo>
                  <a:pt x="0" y="6866909"/>
                  <a:pt x="0" y="6866909"/>
                  <a:pt x="0" y="0"/>
                </a:cubicBezTo>
                <a:close/>
              </a:path>
            </a:pathLst>
          </a:custGeom>
        </p:spPr>
        <p:txBody>
          <a:bodyPr wrap="square">
            <a:noAutofit/>
          </a:bodyPr>
          <a:lstStyle/>
          <a:p>
            <a:endParaRPr lang="zh-CN" altLang="en-US"/>
          </a:p>
        </p:txBody>
      </p:sp>
      <p:sp>
        <p:nvSpPr>
          <p:cNvPr id="66" name="任意多边形: 形状 65">
            <a:extLst>
              <a:ext uri="{FF2B5EF4-FFF2-40B4-BE49-F238E27FC236}">
                <a16:creationId xmlns:a16="http://schemas.microsoft.com/office/drawing/2014/main" id="{9E1C5DA2-4F8B-48E1-A5AD-97BD81CAFB01}"/>
              </a:ext>
            </a:extLst>
          </p:cNvPr>
          <p:cNvSpPr>
            <a:spLocks/>
          </p:cNvSpPr>
          <p:nvPr userDrawn="1"/>
        </p:nvSpPr>
        <p:spPr bwMode="auto">
          <a:xfrm>
            <a:off x="0" y="-8909"/>
            <a:ext cx="146229" cy="6866909"/>
          </a:xfrm>
          <a:custGeom>
            <a:avLst/>
            <a:gdLst>
              <a:gd name="connsiteX0" fmla="*/ 0 w 146229"/>
              <a:gd name="connsiteY0" fmla="*/ 0 h 6866909"/>
              <a:gd name="connsiteX1" fmla="*/ 146229 w 146229"/>
              <a:gd name="connsiteY1" fmla="*/ 0 h 6866909"/>
              <a:gd name="connsiteX2" fmla="*/ 146229 w 146229"/>
              <a:gd name="connsiteY2" fmla="*/ 6866909 h 6866909"/>
              <a:gd name="connsiteX3" fmla="*/ 0 w 146229"/>
              <a:gd name="connsiteY3" fmla="*/ 6866909 h 6866909"/>
              <a:gd name="connsiteX4" fmla="*/ 0 w 146229"/>
              <a:gd name="connsiteY4" fmla="*/ 0 h 686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229" h="6866909">
                <a:moveTo>
                  <a:pt x="0" y="0"/>
                </a:moveTo>
                <a:lnTo>
                  <a:pt x="146229" y="0"/>
                </a:lnTo>
                <a:cubicBezTo>
                  <a:pt x="146229" y="6866909"/>
                  <a:pt x="146229" y="6866909"/>
                  <a:pt x="146229" y="6866909"/>
                </a:cubicBezTo>
                <a:lnTo>
                  <a:pt x="0" y="6866909"/>
                </a:lnTo>
                <a:cubicBezTo>
                  <a:pt x="0" y="6866909"/>
                  <a:pt x="0" y="6866909"/>
                  <a:pt x="0" y="0"/>
                </a:cubicBezTo>
                <a:close/>
              </a:path>
            </a:pathLst>
          </a:custGeom>
          <a:solidFill>
            <a:srgbClr val="00AD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65" name="任意多边形: 形状 64">
            <a:extLst>
              <a:ext uri="{FF2B5EF4-FFF2-40B4-BE49-F238E27FC236}">
                <a16:creationId xmlns:a16="http://schemas.microsoft.com/office/drawing/2014/main" id="{38B3C36C-0FBE-4F43-B2A7-D03D74F471D6}"/>
              </a:ext>
            </a:extLst>
          </p:cNvPr>
          <p:cNvSpPr>
            <a:spLocks/>
          </p:cNvSpPr>
          <p:nvPr userDrawn="1"/>
        </p:nvSpPr>
        <p:spPr bwMode="auto">
          <a:xfrm>
            <a:off x="2490525" y="0"/>
            <a:ext cx="2946441" cy="6866909"/>
          </a:xfrm>
          <a:custGeom>
            <a:avLst/>
            <a:gdLst>
              <a:gd name="connsiteX0" fmla="*/ 2253196 w 2946441"/>
              <a:gd name="connsiteY0" fmla="*/ 0 h 6866909"/>
              <a:gd name="connsiteX1" fmla="*/ 2592682 w 2946441"/>
              <a:gd name="connsiteY1" fmla="*/ 0 h 6866909"/>
              <a:gd name="connsiteX2" fmla="*/ 2841680 w 2946441"/>
              <a:gd name="connsiteY2" fmla="*/ 103307 h 6866909"/>
              <a:gd name="connsiteX3" fmla="*/ 2841680 w 2946441"/>
              <a:gd name="connsiteY3" fmla="*/ 613768 h 6866909"/>
              <a:gd name="connsiteX4" fmla="*/ 485308 w 2946441"/>
              <a:gd name="connsiteY4" fmla="*/ 2971609 h 6866909"/>
              <a:gd name="connsiteX5" fmla="*/ 485308 w 2946441"/>
              <a:gd name="connsiteY5" fmla="*/ 3475993 h 6866909"/>
              <a:gd name="connsiteX6" fmla="*/ 1924638 w 2946441"/>
              <a:gd name="connsiteY6" fmla="*/ 4916221 h 6866909"/>
              <a:gd name="connsiteX7" fmla="*/ 1924638 w 2946441"/>
              <a:gd name="connsiteY7" fmla="*/ 5420605 h 6866909"/>
              <a:gd name="connsiteX8" fmla="*/ 588551 w 2946441"/>
              <a:gd name="connsiteY8" fmla="*/ 6763602 h 6866909"/>
              <a:gd name="connsiteX9" fmla="*/ 333479 w 2946441"/>
              <a:gd name="connsiteY9" fmla="*/ 6866909 h 6866909"/>
              <a:gd name="connsiteX10" fmla="*/ 42616 w 2946441"/>
              <a:gd name="connsiteY10" fmla="*/ 6866909 h 6866909"/>
              <a:gd name="connsiteX11" fmla="*/ 0 w 2946441"/>
              <a:gd name="connsiteY11" fmla="*/ 6866909 h 6866909"/>
              <a:gd name="connsiteX12" fmla="*/ 255079 w 2946441"/>
              <a:gd name="connsiteY12" fmla="*/ 6763602 h 6866909"/>
              <a:gd name="connsiteX13" fmla="*/ 1591205 w 2946441"/>
              <a:gd name="connsiteY13" fmla="*/ 5420605 h 6866909"/>
              <a:gd name="connsiteX14" fmla="*/ 1591205 w 2946441"/>
              <a:gd name="connsiteY14" fmla="*/ 4916221 h 6866909"/>
              <a:gd name="connsiteX15" fmla="*/ 151833 w 2946441"/>
              <a:gd name="connsiteY15" fmla="*/ 3475993 h 6866909"/>
              <a:gd name="connsiteX16" fmla="*/ 151833 w 2946441"/>
              <a:gd name="connsiteY16" fmla="*/ 2971609 h 6866909"/>
              <a:gd name="connsiteX17" fmla="*/ 2508274 w 2946441"/>
              <a:gd name="connsiteY17" fmla="*/ 613768 h 6866909"/>
              <a:gd name="connsiteX18" fmla="*/ 2508274 w 2946441"/>
              <a:gd name="connsiteY18" fmla="*/ 103307 h 6866909"/>
              <a:gd name="connsiteX19" fmla="*/ 2253196 w 2946441"/>
              <a:gd name="connsiteY19" fmla="*/ 0 h 686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46441" h="6866909">
                <a:moveTo>
                  <a:pt x="2253196" y="0"/>
                </a:moveTo>
                <a:lnTo>
                  <a:pt x="2592682" y="0"/>
                </a:lnTo>
                <a:cubicBezTo>
                  <a:pt x="2683779" y="0"/>
                  <a:pt x="2774876" y="36461"/>
                  <a:pt x="2841680" y="103307"/>
                </a:cubicBezTo>
                <a:cubicBezTo>
                  <a:pt x="2981362" y="243076"/>
                  <a:pt x="2981362" y="473999"/>
                  <a:pt x="2841680" y="613768"/>
                </a:cubicBezTo>
                <a:cubicBezTo>
                  <a:pt x="2841680" y="613768"/>
                  <a:pt x="2841680" y="613768"/>
                  <a:pt x="485308" y="2971609"/>
                </a:cubicBezTo>
                <a:cubicBezTo>
                  <a:pt x="345626" y="3111378"/>
                  <a:pt x="345626" y="3336224"/>
                  <a:pt x="485308" y="3475993"/>
                </a:cubicBezTo>
                <a:cubicBezTo>
                  <a:pt x="485308" y="3475993"/>
                  <a:pt x="485308" y="3475993"/>
                  <a:pt x="1924638" y="4916221"/>
                </a:cubicBezTo>
                <a:cubicBezTo>
                  <a:pt x="2064320" y="5055990"/>
                  <a:pt x="2064320" y="5280836"/>
                  <a:pt x="1924638" y="5420605"/>
                </a:cubicBezTo>
                <a:cubicBezTo>
                  <a:pt x="1924638" y="5420605"/>
                  <a:pt x="1924638" y="5420605"/>
                  <a:pt x="588551" y="6763602"/>
                </a:cubicBezTo>
                <a:cubicBezTo>
                  <a:pt x="521746" y="6830448"/>
                  <a:pt x="430649" y="6866909"/>
                  <a:pt x="333479" y="6866909"/>
                </a:cubicBezTo>
                <a:cubicBezTo>
                  <a:pt x="333479" y="6866909"/>
                  <a:pt x="333479" y="6866909"/>
                  <a:pt x="42616" y="6866909"/>
                </a:cubicBezTo>
                <a:lnTo>
                  <a:pt x="0" y="6866909"/>
                </a:lnTo>
                <a:cubicBezTo>
                  <a:pt x="97173" y="6866909"/>
                  <a:pt x="188272" y="6830448"/>
                  <a:pt x="255079" y="6763602"/>
                </a:cubicBezTo>
                <a:cubicBezTo>
                  <a:pt x="1591205" y="5420605"/>
                  <a:pt x="1591205" y="5420605"/>
                  <a:pt x="1591205" y="5420605"/>
                </a:cubicBezTo>
                <a:cubicBezTo>
                  <a:pt x="1730891" y="5280836"/>
                  <a:pt x="1730891" y="5055990"/>
                  <a:pt x="1591205" y="4916221"/>
                </a:cubicBezTo>
                <a:cubicBezTo>
                  <a:pt x="151833" y="3475993"/>
                  <a:pt x="151833" y="3475993"/>
                  <a:pt x="151833" y="3475993"/>
                </a:cubicBezTo>
                <a:cubicBezTo>
                  <a:pt x="12147" y="3336224"/>
                  <a:pt x="12147" y="3111378"/>
                  <a:pt x="151833" y="2971609"/>
                </a:cubicBezTo>
                <a:cubicBezTo>
                  <a:pt x="2508274" y="613768"/>
                  <a:pt x="2508274" y="613768"/>
                  <a:pt x="2508274" y="613768"/>
                </a:cubicBezTo>
                <a:cubicBezTo>
                  <a:pt x="2647960" y="473999"/>
                  <a:pt x="2647960" y="243076"/>
                  <a:pt x="2508274" y="103307"/>
                </a:cubicBezTo>
                <a:cubicBezTo>
                  <a:pt x="2441468" y="36461"/>
                  <a:pt x="2350368" y="0"/>
                  <a:pt x="2253196" y="0"/>
                </a:cubicBezTo>
                <a:close/>
              </a:path>
            </a:pathLst>
          </a:custGeom>
          <a:solidFill>
            <a:srgbClr val="00AD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9" name="Freeform 52">
            <a:extLst>
              <a:ext uri="{FF2B5EF4-FFF2-40B4-BE49-F238E27FC236}">
                <a16:creationId xmlns:a16="http://schemas.microsoft.com/office/drawing/2014/main" id="{140CA74E-FF57-4DED-95E1-15757996C113}"/>
              </a:ext>
            </a:extLst>
          </p:cNvPr>
          <p:cNvSpPr>
            <a:spLocks/>
          </p:cNvSpPr>
          <p:nvPr userDrawn="1"/>
        </p:nvSpPr>
        <p:spPr bwMode="auto">
          <a:xfrm>
            <a:off x="3497795" y="6004160"/>
            <a:ext cx="1836635" cy="862751"/>
          </a:xfrm>
          <a:custGeom>
            <a:avLst/>
            <a:gdLst>
              <a:gd name="T0" fmla="*/ 302 w 302"/>
              <a:gd name="T1" fmla="*/ 142 h 142"/>
              <a:gd name="T2" fmla="*/ 173 w 302"/>
              <a:gd name="T3" fmla="*/ 12 h 142"/>
              <a:gd name="T4" fmla="*/ 129 w 302"/>
              <a:gd name="T5" fmla="*/ 12 h 142"/>
              <a:gd name="T6" fmla="*/ 0 w 302"/>
              <a:gd name="T7" fmla="*/ 142 h 142"/>
              <a:gd name="T8" fmla="*/ 302 w 302"/>
              <a:gd name="T9" fmla="*/ 142 h 142"/>
            </a:gdLst>
            <a:ahLst/>
            <a:cxnLst>
              <a:cxn ang="0">
                <a:pos x="T0" y="T1"/>
              </a:cxn>
              <a:cxn ang="0">
                <a:pos x="T2" y="T3"/>
              </a:cxn>
              <a:cxn ang="0">
                <a:pos x="T4" y="T5"/>
              </a:cxn>
              <a:cxn ang="0">
                <a:pos x="T6" y="T7"/>
              </a:cxn>
              <a:cxn ang="0">
                <a:pos x="T8" y="T9"/>
              </a:cxn>
            </a:cxnLst>
            <a:rect l="0" t="0" r="r" b="b"/>
            <a:pathLst>
              <a:path w="302" h="142">
                <a:moveTo>
                  <a:pt x="302" y="142"/>
                </a:moveTo>
                <a:cubicBezTo>
                  <a:pt x="173" y="12"/>
                  <a:pt x="173" y="12"/>
                  <a:pt x="173" y="12"/>
                </a:cubicBezTo>
                <a:cubicBezTo>
                  <a:pt x="161" y="0"/>
                  <a:pt x="142" y="0"/>
                  <a:pt x="129" y="12"/>
                </a:cubicBezTo>
                <a:cubicBezTo>
                  <a:pt x="0" y="142"/>
                  <a:pt x="0" y="142"/>
                  <a:pt x="0" y="142"/>
                </a:cubicBezTo>
                <a:lnTo>
                  <a:pt x="302" y="142"/>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51">
            <a:extLst>
              <a:ext uri="{FF2B5EF4-FFF2-40B4-BE49-F238E27FC236}">
                <a16:creationId xmlns:a16="http://schemas.microsoft.com/office/drawing/2014/main" id="{8E35EC59-7131-4881-8A77-09EF54507C3F}"/>
              </a:ext>
            </a:extLst>
          </p:cNvPr>
          <p:cNvSpPr>
            <a:spLocks/>
          </p:cNvSpPr>
          <p:nvPr userDrawn="1"/>
        </p:nvSpPr>
        <p:spPr bwMode="auto">
          <a:xfrm>
            <a:off x="8940801" y="-1"/>
            <a:ext cx="1121717" cy="521688"/>
          </a:xfrm>
          <a:custGeom>
            <a:avLst/>
            <a:gdLst>
              <a:gd name="T0" fmla="*/ 0 w 303"/>
              <a:gd name="T1" fmla="*/ 0 h 141"/>
              <a:gd name="T2" fmla="*/ 130 w 303"/>
              <a:gd name="T3" fmla="*/ 129 h 141"/>
              <a:gd name="T4" fmla="*/ 173 w 303"/>
              <a:gd name="T5" fmla="*/ 129 h 141"/>
              <a:gd name="T6" fmla="*/ 303 w 303"/>
              <a:gd name="T7" fmla="*/ 0 h 141"/>
              <a:gd name="T8" fmla="*/ 0 w 303"/>
              <a:gd name="T9" fmla="*/ 0 h 141"/>
            </a:gdLst>
            <a:ahLst/>
            <a:cxnLst>
              <a:cxn ang="0">
                <a:pos x="T0" y="T1"/>
              </a:cxn>
              <a:cxn ang="0">
                <a:pos x="T2" y="T3"/>
              </a:cxn>
              <a:cxn ang="0">
                <a:pos x="T4" y="T5"/>
              </a:cxn>
              <a:cxn ang="0">
                <a:pos x="T6" y="T7"/>
              </a:cxn>
              <a:cxn ang="0">
                <a:pos x="T8" y="T9"/>
              </a:cxn>
            </a:cxnLst>
            <a:rect l="0" t="0" r="r" b="b"/>
            <a:pathLst>
              <a:path w="303" h="141">
                <a:moveTo>
                  <a:pt x="0" y="0"/>
                </a:moveTo>
                <a:cubicBezTo>
                  <a:pt x="130" y="129"/>
                  <a:pt x="130" y="129"/>
                  <a:pt x="130" y="129"/>
                </a:cubicBezTo>
                <a:cubicBezTo>
                  <a:pt x="142" y="141"/>
                  <a:pt x="161" y="141"/>
                  <a:pt x="173" y="129"/>
                </a:cubicBezTo>
                <a:cubicBezTo>
                  <a:pt x="303" y="0"/>
                  <a:pt x="303" y="0"/>
                  <a:pt x="303" y="0"/>
                </a:cubicBezTo>
                <a:lnTo>
                  <a:pt x="0"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53">
            <a:extLst>
              <a:ext uri="{FF2B5EF4-FFF2-40B4-BE49-F238E27FC236}">
                <a16:creationId xmlns:a16="http://schemas.microsoft.com/office/drawing/2014/main" id="{2868BB98-B4DA-4E11-918C-DB7C8B50DAB3}"/>
              </a:ext>
            </a:extLst>
          </p:cNvPr>
          <p:cNvSpPr>
            <a:spLocks/>
          </p:cNvSpPr>
          <p:nvPr userDrawn="1"/>
        </p:nvSpPr>
        <p:spPr bwMode="auto">
          <a:xfrm>
            <a:off x="9417976" y="-1"/>
            <a:ext cx="2774025" cy="3876157"/>
          </a:xfrm>
          <a:custGeom>
            <a:avLst/>
            <a:gdLst>
              <a:gd name="T0" fmla="*/ 23 w 750"/>
              <a:gd name="T1" fmla="*/ 237 h 1048"/>
              <a:gd name="T2" fmla="*/ 243 w 750"/>
              <a:gd name="T3" fmla="*/ 17 h 1048"/>
              <a:gd name="T4" fmla="*/ 285 w 750"/>
              <a:gd name="T5" fmla="*/ 0 h 1048"/>
              <a:gd name="T6" fmla="*/ 750 w 750"/>
              <a:gd name="T7" fmla="*/ 0 h 1048"/>
              <a:gd name="T8" fmla="*/ 750 w 750"/>
              <a:gd name="T9" fmla="*/ 1048 h 1048"/>
              <a:gd name="T10" fmla="*/ 23 w 750"/>
              <a:gd name="T11" fmla="*/ 321 h 1048"/>
              <a:gd name="T12" fmla="*/ 23 w 750"/>
              <a:gd name="T13" fmla="*/ 237 h 1048"/>
            </a:gdLst>
            <a:ahLst/>
            <a:cxnLst>
              <a:cxn ang="0">
                <a:pos x="T0" y="T1"/>
              </a:cxn>
              <a:cxn ang="0">
                <a:pos x="T2" y="T3"/>
              </a:cxn>
              <a:cxn ang="0">
                <a:pos x="T4" y="T5"/>
              </a:cxn>
              <a:cxn ang="0">
                <a:pos x="T6" y="T7"/>
              </a:cxn>
              <a:cxn ang="0">
                <a:pos x="T8" y="T9"/>
              </a:cxn>
              <a:cxn ang="0">
                <a:pos x="T10" y="T11"/>
              </a:cxn>
              <a:cxn ang="0">
                <a:pos x="T12" y="T13"/>
              </a:cxn>
            </a:cxnLst>
            <a:rect l="0" t="0" r="r" b="b"/>
            <a:pathLst>
              <a:path w="750" h="1048">
                <a:moveTo>
                  <a:pt x="23" y="237"/>
                </a:moveTo>
                <a:cubicBezTo>
                  <a:pt x="243" y="17"/>
                  <a:pt x="243" y="17"/>
                  <a:pt x="243" y="17"/>
                </a:cubicBezTo>
                <a:cubicBezTo>
                  <a:pt x="254" y="6"/>
                  <a:pt x="269" y="0"/>
                  <a:pt x="285" y="0"/>
                </a:cubicBezTo>
                <a:cubicBezTo>
                  <a:pt x="750" y="0"/>
                  <a:pt x="750" y="0"/>
                  <a:pt x="750" y="0"/>
                </a:cubicBezTo>
                <a:cubicBezTo>
                  <a:pt x="750" y="1048"/>
                  <a:pt x="750" y="1048"/>
                  <a:pt x="750" y="1048"/>
                </a:cubicBezTo>
                <a:cubicBezTo>
                  <a:pt x="23" y="321"/>
                  <a:pt x="23" y="321"/>
                  <a:pt x="23" y="321"/>
                </a:cubicBezTo>
                <a:cubicBezTo>
                  <a:pt x="0" y="298"/>
                  <a:pt x="0" y="260"/>
                  <a:pt x="23" y="237"/>
                </a:cubicBezTo>
                <a:close/>
              </a:path>
            </a:pathLst>
          </a:custGeom>
          <a:solidFill>
            <a:srgbClr val="FFB53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椭圆 63">
            <a:extLst>
              <a:ext uri="{FF2B5EF4-FFF2-40B4-BE49-F238E27FC236}">
                <a16:creationId xmlns:a16="http://schemas.microsoft.com/office/drawing/2014/main" id="{9751308C-2CB1-459B-89DB-3A4531608854}"/>
              </a:ext>
            </a:extLst>
          </p:cNvPr>
          <p:cNvSpPr/>
          <p:nvPr userDrawn="1"/>
        </p:nvSpPr>
        <p:spPr>
          <a:xfrm>
            <a:off x="10062518" y="1675446"/>
            <a:ext cx="1279178" cy="12791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a:extLst>
              <a:ext uri="{FF2B5EF4-FFF2-40B4-BE49-F238E27FC236}">
                <a16:creationId xmlns:a16="http://schemas.microsoft.com/office/drawing/2014/main" id="{BFAEB5CF-34AC-49E0-88C9-BC61C99E740B}"/>
              </a:ext>
            </a:extLst>
          </p:cNvPr>
          <p:cNvSpPr>
            <a:spLocks noGrp="1"/>
          </p:cNvSpPr>
          <p:nvPr>
            <p:ph type="ctrTitle" hasCustomPrompt="1"/>
          </p:nvPr>
        </p:nvSpPr>
        <p:spPr>
          <a:xfrm>
            <a:off x="4475845" y="2368777"/>
            <a:ext cx="5426076" cy="1621509"/>
          </a:xfrm>
          <a:prstGeom prst="rect">
            <a:avLst/>
          </a:prstGeom>
        </p:spPr>
        <p:txBody>
          <a:bodyPr anchor="b">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3" name="文本占位符 62">
            <a:extLst>
              <a:ext uri="{FF2B5EF4-FFF2-40B4-BE49-F238E27FC236}">
                <a16:creationId xmlns:a16="http://schemas.microsoft.com/office/drawing/2014/main" id="{E54A68FA-5892-4AED-9D99-BF7746D1E64F}"/>
              </a:ext>
            </a:extLst>
          </p:cNvPr>
          <p:cNvSpPr>
            <a:spLocks noGrp="1"/>
          </p:cNvSpPr>
          <p:nvPr>
            <p:ph type="body" sz="quarter" idx="18" hasCustomPrompt="1"/>
          </p:nvPr>
        </p:nvSpPr>
        <p:spPr>
          <a:xfrm>
            <a:off x="4475845" y="4675013"/>
            <a:ext cx="5426076" cy="310871"/>
          </a:xfrm>
          <a:prstGeom prst="rect">
            <a:avLst/>
          </a:prstGeom>
        </p:spPr>
        <p:txBody>
          <a:bodyPr vert="horz" lIns="91440" tIns="45720" rIns="91440" bIns="45720" rtlCol="0">
            <a:normAutofit/>
          </a:bodyPr>
          <a:lstStyle>
            <a:lvl1pPr marL="0" indent="0" algn="l">
              <a:buNone/>
              <a:defRPr lang="zh-CN" altLang="en-US" sz="15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14" name="文本占位符 13">
            <a:extLst>
              <a:ext uri="{FF2B5EF4-FFF2-40B4-BE49-F238E27FC236}">
                <a16:creationId xmlns:a16="http://schemas.microsoft.com/office/drawing/2014/main" id="{897B519E-C472-4AAF-98C8-9ED2D16BEA05}"/>
              </a:ext>
            </a:extLst>
          </p:cNvPr>
          <p:cNvSpPr>
            <a:spLocks noGrp="1"/>
          </p:cNvSpPr>
          <p:nvPr>
            <p:ph type="body" sz="quarter" idx="10" hasCustomPrompt="1"/>
          </p:nvPr>
        </p:nvSpPr>
        <p:spPr>
          <a:xfrm>
            <a:off x="4475846" y="4378742"/>
            <a:ext cx="5426076" cy="296271"/>
          </a:xfrm>
          <a:prstGeom prst="rect">
            <a:avLst/>
          </a:prstGeom>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Tree>
    <p:extLst>
      <p:ext uri="{BB962C8B-B14F-4D97-AF65-F5344CB8AC3E}">
        <p14:creationId xmlns:p14="http://schemas.microsoft.com/office/powerpoint/2010/main" val="90794364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78DAF8A-A3AE-61C3-57F4-C478F1546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C2B45A-0B22-A05C-0A47-9DFA22620B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AAF346-CF1B-C6D8-8688-CAFDF0A11A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BC73B0-5CBF-4C2B-913F-C8FC7EDBB2EF}"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C1280DC5-95FB-8CD7-F1DF-AD1B725D70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89D0049-F685-227A-64CF-1FC29C68BC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78E4ED-5289-4BB6-9CD9-1197EE4CA2B9}" type="slidenum">
              <a:rPr lang="zh-CN" altLang="en-US" smtClean="0"/>
              <a:t>‹#›</a:t>
            </a:fld>
            <a:endParaRPr lang="zh-CN" altLang="en-US"/>
          </a:p>
        </p:txBody>
      </p:sp>
    </p:spTree>
    <p:extLst>
      <p:ext uri="{BB962C8B-B14F-4D97-AF65-F5344CB8AC3E}">
        <p14:creationId xmlns:p14="http://schemas.microsoft.com/office/powerpoint/2010/main" val="124328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https://www.modelscope.cn/datasets/lhh010/EuroSAT_RGB"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首页"/>
          <p:cNvPicPr>
            <a:picLocks noChangeAspect="1"/>
          </p:cNvPicPr>
          <p:nvPr/>
        </p:nvPicPr>
        <p:blipFill>
          <a:blip r:embed="rId3"/>
          <a:stretch>
            <a:fillRect/>
          </a:stretch>
        </p:blipFill>
        <p:spPr>
          <a:xfrm>
            <a:off x="0" y="0"/>
            <a:ext cx="12192000" cy="6858000"/>
          </a:xfrm>
          <a:prstGeom prst="rect">
            <a:avLst/>
          </a:prstGeom>
        </p:spPr>
      </p:pic>
      <p:sp>
        <p:nvSpPr>
          <p:cNvPr id="8" name="文本框 7"/>
          <p:cNvSpPr txBox="1"/>
          <p:nvPr/>
        </p:nvSpPr>
        <p:spPr>
          <a:xfrm>
            <a:off x="876300" y="1486417"/>
            <a:ext cx="10439400" cy="4278094"/>
          </a:xfrm>
          <a:prstGeom prst="rect">
            <a:avLst/>
          </a:prstGeom>
          <a:noFill/>
        </p:spPr>
        <p:txBody>
          <a:bodyPr wrap="square" rtlCol="0">
            <a:spAutoFit/>
          </a:bodyPr>
          <a:lstStyle/>
          <a:p>
            <a:pPr algn="ctr"/>
            <a:r>
              <a:rPr lang="zh-CN" altLang="zh-CN" sz="5400" dirty="0">
                <a:solidFill>
                  <a:srgbClr val="142DA8"/>
                </a:solidFill>
                <a:latin typeface="Alimama ShuHeiTi Bold" charset="-122"/>
                <a:ea typeface="Alimama ShuHeiTi Bold" charset="-122"/>
              </a:rPr>
              <a:t>面向航空航天在轨计算</a:t>
            </a:r>
            <a:endParaRPr lang="en-US" altLang="zh-CN" sz="5400" dirty="0">
              <a:solidFill>
                <a:srgbClr val="142DA8"/>
              </a:solidFill>
              <a:latin typeface="Alimama ShuHeiTi Bold" charset="-122"/>
              <a:ea typeface="Alimama ShuHeiTi Bold" charset="-122"/>
            </a:endParaRPr>
          </a:p>
          <a:p>
            <a:pPr algn="ctr"/>
            <a:r>
              <a:rPr lang="zh-CN" altLang="zh-CN" sz="5400" dirty="0">
                <a:solidFill>
                  <a:srgbClr val="142DA8"/>
                </a:solidFill>
                <a:latin typeface="Alimama ShuHeiTi Bold" charset="-122"/>
                <a:ea typeface="Alimama ShuHeiTi Bold" charset="-122"/>
              </a:rPr>
              <a:t>的光学 CNN 加速系统 </a:t>
            </a:r>
            <a:endParaRPr lang="en-US" altLang="zh-CN" sz="5400" dirty="0">
              <a:solidFill>
                <a:srgbClr val="142DA8"/>
              </a:solidFill>
              <a:latin typeface="Alimama ShuHeiTi Bold" charset="-122"/>
              <a:ea typeface="Alimama ShuHeiTi Bold" charset="-122"/>
            </a:endParaRPr>
          </a:p>
          <a:p>
            <a:pPr algn="ctr"/>
            <a:r>
              <a:rPr lang="zh-CN" altLang="zh-CN" sz="4400" dirty="0">
                <a:solidFill>
                  <a:srgbClr val="142DA8"/>
                </a:solidFill>
                <a:latin typeface="Alimama ShuHeiTi Bold" charset="-122"/>
                <a:ea typeface="Alimama ShuHeiTi Bold" charset="-122"/>
              </a:rPr>
              <a:t>—— Optic-SpaceNet</a:t>
            </a:r>
            <a:endParaRPr lang="en-US" altLang="zh-CN" sz="4400" dirty="0">
              <a:solidFill>
                <a:srgbClr val="142DA8"/>
              </a:solidFill>
              <a:latin typeface="Alimama ShuHeiTi Bold" charset="-122"/>
              <a:ea typeface="Alimama ShuHeiTi Bold" charset="-122"/>
            </a:endParaRPr>
          </a:p>
          <a:p>
            <a:pPr algn="ctr"/>
            <a:endParaRPr lang="en-US" altLang="zh-CN" dirty="0">
              <a:solidFill>
                <a:srgbClr val="142DA8"/>
              </a:solidFill>
              <a:latin typeface="Alimama ShuHeiTi Bold" charset="-122"/>
              <a:ea typeface="Alimama ShuHeiTi Bold" charset="-122"/>
            </a:endParaRPr>
          </a:p>
          <a:p>
            <a:pPr algn="ctr"/>
            <a:r>
              <a:rPr lang="zh-CN" altLang="en-US" dirty="0">
                <a:solidFill>
                  <a:srgbClr val="142DA8"/>
                </a:solidFill>
                <a:latin typeface="Alimama ShuHeiTi Bold" charset="-122"/>
                <a:ea typeface="Alimama ShuHeiTi Bold" charset="-122"/>
              </a:rPr>
              <a:t>多</a:t>
            </a:r>
            <a:r>
              <a:rPr lang="zh-CN" altLang="zh-CN" dirty="0">
                <a:solidFill>
                  <a:srgbClr val="142DA8"/>
                </a:solidFill>
                <a:latin typeface="Alimama ShuHeiTi Bold" charset="-122"/>
                <a:ea typeface="Alimama ShuHeiTi Bold" charset="-122"/>
              </a:rPr>
              <a:t>模型</a:t>
            </a:r>
            <a:r>
              <a:rPr lang="zh-CN" altLang="en-US" dirty="0">
                <a:solidFill>
                  <a:srgbClr val="142DA8"/>
                </a:solidFill>
                <a:latin typeface="Alimama ShuHeiTi Bold" charset="-122"/>
                <a:ea typeface="Alimama ShuHeiTi Bold" charset="-122"/>
              </a:rPr>
              <a:t>架构</a:t>
            </a:r>
            <a:r>
              <a:rPr lang="zh-CN" altLang="zh-CN" dirty="0">
                <a:solidFill>
                  <a:srgbClr val="142DA8"/>
                </a:solidFill>
                <a:latin typeface="Alimama ShuHeiTi Bold" charset="-122"/>
                <a:ea typeface="Alimama ShuHeiTi Bold" charset="-122"/>
              </a:rPr>
              <a:t>量化迁移 × 曦智 Gazelle 光计算平台</a:t>
            </a:r>
          </a:p>
          <a:p>
            <a:pPr algn="ctr"/>
            <a:endParaRPr lang="zh-CN" altLang="zh-CN" sz="4400" dirty="0">
              <a:solidFill>
                <a:srgbClr val="142DA8"/>
              </a:solidFill>
              <a:latin typeface="Alimama ShuHeiTi Bold" charset="-122"/>
              <a:ea typeface="Alimama ShuHeiTi Bold" charset="-122"/>
            </a:endParaRPr>
          </a:p>
          <a:p>
            <a:pPr algn="ctr"/>
            <a:endParaRPr lang="zh-CN" altLang="en-US" sz="4000" dirty="0">
              <a:solidFill>
                <a:srgbClr val="142DA8"/>
              </a:solidFill>
              <a:latin typeface="Alimama ShuHeiTi Bold" charset="-122"/>
              <a:ea typeface="Alimama ShuHeiTi Bold" charset="-122"/>
            </a:endParaRPr>
          </a:p>
        </p:txBody>
      </p:sp>
      <p:pic>
        <p:nvPicPr>
          <p:cNvPr id="9" name="图片 8" descr="集创赛黑字"/>
          <p:cNvPicPr>
            <a:picLocks noChangeAspect="1"/>
          </p:cNvPicPr>
          <p:nvPr/>
        </p:nvPicPr>
        <p:blipFill>
          <a:blip r:embed="rId4"/>
          <a:stretch>
            <a:fillRect/>
          </a:stretch>
        </p:blipFill>
        <p:spPr>
          <a:xfrm>
            <a:off x="5372116" y="190417"/>
            <a:ext cx="1296000" cy="1296000"/>
          </a:xfrm>
          <a:prstGeom prst="rect">
            <a:avLst/>
          </a:prstGeom>
        </p:spPr>
      </p:pic>
      <p:sp>
        <p:nvSpPr>
          <p:cNvPr id="14" name="圆角矩形 13"/>
          <p:cNvSpPr/>
          <p:nvPr/>
        </p:nvSpPr>
        <p:spPr>
          <a:xfrm>
            <a:off x="4317999" y="5373950"/>
            <a:ext cx="3404235" cy="539054"/>
          </a:xfrm>
          <a:prstGeom prst="roundRect">
            <a:avLst>
              <a:gd name="adj" fmla="val 50000"/>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b="1" dirty="0"/>
              <a:t>CICC 1003564</a:t>
            </a:r>
          </a:p>
        </p:txBody>
      </p:sp>
      <p:grpSp>
        <p:nvGrpSpPr>
          <p:cNvPr id="15" name="组合 14">
            <a:extLst>
              <a:ext uri="{FF2B5EF4-FFF2-40B4-BE49-F238E27FC236}">
                <a16:creationId xmlns:a16="http://schemas.microsoft.com/office/drawing/2014/main" id="{22C56590-6174-E86D-568E-22B3A55FDD8E}"/>
              </a:ext>
            </a:extLst>
          </p:cNvPr>
          <p:cNvGrpSpPr/>
          <p:nvPr/>
        </p:nvGrpSpPr>
        <p:grpSpPr>
          <a:xfrm>
            <a:off x="4296000" y="4567603"/>
            <a:ext cx="3600000" cy="553195"/>
            <a:chOff x="4296000" y="3420000"/>
            <a:chExt cx="3600000" cy="553195"/>
          </a:xfrm>
        </p:grpSpPr>
        <p:sp>
          <p:nvSpPr>
            <p:cNvPr id="6" name="圆角矩形 10">
              <a:extLst>
                <a:ext uri="{FF2B5EF4-FFF2-40B4-BE49-F238E27FC236}">
                  <a16:creationId xmlns:a16="http://schemas.microsoft.com/office/drawing/2014/main" id="{3B446EB0-0C64-3743-94B2-A59059FBCF96}"/>
                </a:ext>
              </a:extLst>
            </p:cNvPr>
            <p:cNvSpPr/>
            <p:nvPr/>
          </p:nvSpPr>
          <p:spPr>
            <a:xfrm>
              <a:off x="4296000" y="3420000"/>
              <a:ext cx="3600000" cy="540000"/>
            </a:xfrm>
            <a:prstGeom prst="roundRect">
              <a:avLst>
                <a:gd name="adj" fmla="val 15518"/>
              </a:avLst>
            </a:prstGeom>
            <a:solidFill>
              <a:schemeClr val="bg1"/>
            </a:solidFill>
            <a:ln w="25400">
              <a:solidFill>
                <a:srgbClr val="142DA8"/>
              </a:solidFill>
            </a:ln>
          </p:spPr>
          <p:style>
            <a:lnRef idx="2">
              <a:schemeClr val="accent1">
                <a:lumMod val="75000"/>
              </a:schemeClr>
            </a:lnRef>
            <a:fillRef idx="1">
              <a:schemeClr val="accent1"/>
            </a:fillRef>
            <a:effectRef idx="0">
              <a:srgbClr val="FFFFFF"/>
            </a:effectRef>
            <a:fontRef idx="minor">
              <a:schemeClr val="lt1"/>
            </a:fontRef>
          </p:style>
          <p:txBody>
            <a:bodyPr tIns="144145" rtlCol="0" anchor="ctr"/>
            <a:lstStyle/>
            <a:p>
              <a:pPr algn="ctr"/>
              <a:endParaRPr lang="zh-CN" altLang="en-US"/>
            </a:p>
          </p:txBody>
        </p:sp>
        <p:sp>
          <p:nvSpPr>
            <p:cNvPr id="13" name="文本框 12">
              <a:extLst>
                <a:ext uri="{FF2B5EF4-FFF2-40B4-BE49-F238E27FC236}">
                  <a16:creationId xmlns:a16="http://schemas.microsoft.com/office/drawing/2014/main" id="{6B7EDD38-785A-A159-1052-B1CA8B151D24}"/>
                </a:ext>
              </a:extLst>
            </p:cNvPr>
            <p:cNvSpPr txBox="1"/>
            <p:nvPr/>
          </p:nvSpPr>
          <p:spPr>
            <a:xfrm>
              <a:off x="4418965" y="3420110"/>
              <a:ext cx="3354070" cy="553085"/>
            </a:xfrm>
            <a:prstGeom prst="rect">
              <a:avLst/>
            </a:prstGeom>
            <a:noFill/>
          </p:spPr>
          <p:txBody>
            <a:bodyPr wrap="square" rtlCol="0">
              <a:spAutoFit/>
            </a:bodyPr>
            <a:lstStyle/>
            <a:p>
              <a:pPr algn="ctr"/>
              <a:r>
                <a:rPr lang="zh-CN" altLang="en-US" sz="3000" dirty="0">
                  <a:solidFill>
                    <a:srgbClr val="142DA8"/>
                  </a:solidFill>
                  <a:latin typeface="HarmonyOS Sans SC Black" panose="00000A00000000000000" charset="-122"/>
                  <a:ea typeface="HarmonyOS Sans SC Black" panose="00000A00000000000000" charset="-122"/>
                </a:rPr>
                <a:t>曦智科技 命题</a:t>
              </a:r>
            </a:p>
          </p:txBody>
        </p:sp>
      </p:gr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6E5F4B0-27F0-D317-A43A-A31AF3633722}"/>
              </a:ext>
            </a:extLst>
          </p:cNvPr>
          <p:cNvSpPr txBox="1"/>
          <p:nvPr/>
        </p:nvSpPr>
        <p:spPr>
          <a:xfrm>
            <a:off x="480582" y="314305"/>
            <a:ext cx="5109091" cy="584775"/>
          </a:xfrm>
          <a:prstGeom prst="rect">
            <a:avLst/>
          </a:prstGeom>
          <a:noFill/>
        </p:spPr>
        <p:txBody>
          <a:bodyPr wrap="none" rtlCol="0">
            <a:spAutoFit/>
          </a:bodyPr>
          <a:lstStyle/>
          <a:p>
            <a:r>
              <a:rPr lang="zh-CN" altLang="zh-CN" sz="3200" b="1" dirty="0"/>
              <a:t>在轨遥感计算的结构性困境</a:t>
            </a:r>
          </a:p>
        </p:txBody>
      </p:sp>
      <p:sp>
        <p:nvSpPr>
          <p:cNvPr id="6" name="文本框 5">
            <a:extLst>
              <a:ext uri="{FF2B5EF4-FFF2-40B4-BE49-F238E27FC236}">
                <a16:creationId xmlns:a16="http://schemas.microsoft.com/office/drawing/2014/main" id="{58895BCB-58BC-72F4-6B6E-AEDFDEA8867C}"/>
              </a:ext>
            </a:extLst>
          </p:cNvPr>
          <p:cNvSpPr txBox="1"/>
          <p:nvPr/>
        </p:nvSpPr>
        <p:spPr>
          <a:xfrm>
            <a:off x="5190107" y="5697030"/>
            <a:ext cx="6043934" cy="646331"/>
          </a:xfrm>
          <a:prstGeom prst="rect">
            <a:avLst/>
          </a:prstGeom>
          <a:noFill/>
        </p:spPr>
        <p:txBody>
          <a:bodyPr wrap="square" rtlCol="0">
            <a:spAutoFit/>
          </a:bodyPr>
          <a:lstStyle/>
          <a:p>
            <a:r>
              <a:rPr lang="zh-CN" altLang="zh-CN" dirty="0"/>
              <a:t>光计算核心芯片抗 SEU 辐射能力强，但外围的 DAC/ADC、FPGA 等电气模块仍需辅以常规宇航加固措施。</a:t>
            </a:r>
            <a:endParaRPr lang="zh-CN" altLang="en-US" dirty="0"/>
          </a:p>
        </p:txBody>
      </p:sp>
      <p:graphicFrame>
        <p:nvGraphicFramePr>
          <p:cNvPr id="8" name="表格 7">
            <a:extLst>
              <a:ext uri="{FF2B5EF4-FFF2-40B4-BE49-F238E27FC236}">
                <a16:creationId xmlns:a16="http://schemas.microsoft.com/office/drawing/2014/main" id="{45D81356-3D7A-5F18-8737-3783823CC457}"/>
              </a:ext>
            </a:extLst>
          </p:cNvPr>
          <p:cNvGraphicFramePr>
            <a:graphicFrameLocks noGrp="1"/>
          </p:cNvGraphicFramePr>
          <p:nvPr>
            <p:extLst>
              <p:ext uri="{D42A27DB-BD31-4B8C-83A1-F6EECF244321}">
                <p14:modId xmlns:p14="http://schemas.microsoft.com/office/powerpoint/2010/main" val="1379670095"/>
              </p:ext>
            </p:extLst>
          </p:nvPr>
        </p:nvGraphicFramePr>
        <p:xfrm>
          <a:off x="4755237" y="1019286"/>
          <a:ext cx="7375394" cy="4502520"/>
        </p:xfrm>
        <a:graphic>
          <a:graphicData uri="http://schemas.openxmlformats.org/drawingml/2006/table">
            <a:tbl>
              <a:tblPr firstRow="1" bandRow="1">
                <a:tableStyleId>{5C22544A-7EE6-4342-B048-85BDC9FD1C3A}</a:tableStyleId>
              </a:tblPr>
              <a:tblGrid>
                <a:gridCol w="1985683">
                  <a:extLst>
                    <a:ext uri="{9D8B030D-6E8A-4147-A177-3AD203B41FA5}">
                      <a16:colId xmlns:a16="http://schemas.microsoft.com/office/drawing/2014/main" val="2520349776"/>
                    </a:ext>
                  </a:extLst>
                </a:gridCol>
                <a:gridCol w="2750355">
                  <a:extLst>
                    <a:ext uri="{9D8B030D-6E8A-4147-A177-3AD203B41FA5}">
                      <a16:colId xmlns:a16="http://schemas.microsoft.com/office/drawing/2014/main" val="2945032955"/>
                    </a:ext>
                  </a:extLst>
                </a:gridCol>
                <a:gridCol w="2639356">
                  <a:extLst>
                    <a:ext uri="{9D8B030D-6E8A-4147-A177-3AD203B41FA5}">
                      <a16:colId xmlns:a16="http://schemas.microsoft.com/office/drawing/2014/main" val="1400314923"/>
                    </a:ext>
                  </a:extLst>
                </a:gridCol>
              </a:tblGrid>
              <a:tr h="900504">
                <a:tc>
                  <a:txBody>
                    <a:bodyPr/>
                    <a:lstStyle/>
                    <a:p>
                      <a:r>
                        <a:rPr lang="zh-CN" altLang="zh-CN" sz="2000" b="0" i="0" kern="1200" dirty="0">
                          <a:solidFill>
                            <a:schemeClr val="lt1"/>
                          </a:solidFill>
                          <a:effectLst/>
                          <a:latin typeface="+mn-lt"/>
                          <a:ea typeface="+mn-ea"/>
                          <a:cs typeface="+mn-cs"/>
                        </a:rPr>
                        <a:t>评价指标</a:t>
                      </a:r>
                      <a:endParaRPr lang="zh-CN" altLang="en-US" sz="2000" b="0" dirty="0"/>
                    </a:p>
                  </a:txBody>
                  <a:tcPr/>
                </a:tc>
                <a:tc>
                  <a:txBody>
                    <a:bodyPr/>
                    <a:lstStyle/>
                    <a:p>
                      <a:r>
                        <a:rPr lang="zh-CN" altLang="zh-CN" sz="2000" b="0" i="0" kern="1200" dirty="0">
                          <a:solidFill>
                            <a:schemeClr val="lt1"/>
                          </a:solidFill>
                          <a:effectLst/>
                          <a:latin typeface="+mn-lt"/>
                          <a:ea typeface="+mn-ea"/>
                          <a:cs typeface="+mn-cs"/>
                        </a:rPr>
                        <a:t>电子计算 (GPU/ASIC)</a:t>
                      </a:r>
                      <a:endParaRPr lang="zh-CN" altLang="en-US" sz="2000" b="0" dirty="0"/>
                    </a:p>
                  </a:txBody>
                  <a:tcPr/>
                </a:tc>
                <a:tc>
                  <a:txBody>
                    <a:bodyPr/>
                    <a:lstStyle/>
                    <a:p>
                      <a:r>
                        <a:rPr lang="zh-CN" altLang="zh-CN" sz="2000" b="0" i="0" kern="1200" dirty="0">
                          <a:solidFill>
                            <a:schemeClr val="lt1"/>
                          </a:solidFill>
                          <a:effectLst/>
                          <a:latin typeface="+mn-lt"/>
                          <a:ea typeface="+mn-ea"/>
                          <a:cs typeface="+mn-cs"/>
                        </a:rPr>
                        <a:t>光学计算核 (Gazelle)</a:t>
                      </a:r>
                      <a:endParaRPr lang="zh-CN" altLang="en-US" sz="2000" b="0" dirty="0"/>
                    </a:p>
                  </a:txBody>
                  <a:tcPr/>
                </a:tc>
                <a:extLst>
                  <a:ext uri="{0D108BD9-81ED-4DB2-BD59-A6C34878D82A}">
                    <a16:rowId xmlns:a16="http://schemas.microsoft.com/office/drawing/2014/main" val="3715285541"/>
                  </a:ext>
                </a:extLst>
              </a:tr>
              <a:tr h="900504">
                <a:tc>
                  <a:txBody>
                    <a:bodyPr/>
                    <a:lstStyle/>
                    <a:p>
                      <a:r>
                        <a:rPr lang="zh-CN" altLang="zh-CN" sz="2000" b="0" i="0" kern="1200" dirty="0">
                          <a:solidFill>
                            <a:schemeClr val="dk1"/>
                          </a:solidFill>
                          <a:effectLst/>
                          <a:latin typeface="+mn-lt"/>
                          <a:ea typeface="+mn-ea"/>
                          <a:cs typeface="+mn-cs"/>
                        </a:rPr>
                        <a:t>功耗与散热</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极高 (散热设计庞大)</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极低 (超高能量效率)</a:t>
                      </a:r>
                      <a:endParaRPr lang="zh-CN" altLang="en-US" sz="2000" b="0" dirty="0"/>
                    </a:p>
                  </a:txBody>
                  <a:tcPr/>
                </a:tc>
                <a:extLst>
                  <a:ext uri="{0D108BD9-81ED-4DB2-BD59-A6C34878D82A}">
                    <a16:rowId xmlns:a16="http://schemas.microsoft.com/office/drawing/2014/main" val="741606481"/>
                  </a:ext>
                </a:extLst>
              </a:tr>
              <a:tr h="900504">
                <a:tc>
                  <a:txBody>
                    <a:bodyPr/>
                    <a:lstStyle/>
                    <a:p>
                      <a:r>
                        <a:rPr lang="zh-CN" altLang="zh-CN" sz="2000" b="0" i="0" kern="1200" dirty="0">
                          <a:solidFill>
                            <a:schemeClr val="dk1"/>
                          </a:solidFill>
                          <a:effectLst/>
                          <a:latin typeface="+mn-lt"/>
                          <a:ea typeface="+mn-ea"/>
                          <a:cs typeface="+mn-cs"/>
                        </a:rPr>
                        <a:t>单粒子翻转 (SEU)</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高发 (需复杂冗余纠错)</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天然免疫 (模拟物理过程)</a:t>
                      </a:r>
                      <a:endParaRPr lang="zh-CN" altLang="en-US" sz="2000" b="0" dirty="0"/>
                    </a:p>
                  </a:txBody>
                  <a:tcPr/>
                </a:tc>
                <a:extLst>
                  <a:ext uri="{0D108BD9-81ED-4DB2-BD59-A6C34878D82A}">
                    <a16:rowId xmlns:a16="http://schemas.microsoft.com/office/drawing/2014/main" val="282045705"/>
                  </a:ext>
                </a:extLst>
              </a:tr>
              <a:tr h="900504">
                <a:tc>
                  <a:txBody>
                    <a:bodyPr/>
                    <a:lstStyle/>
                    <a:p>
                      <a:r>
                        <a:rPr lang="zh-CN" altLang="zh-CN" sz="2000" b="0" i="0" kern="1200" dirty="0">
                          <a:solidFill>
                            <a:schemeClr val="dk1"/>
                          </a:solidFill>
                          <a:effectLst/>
                          <a:latin typeface="+mn-lt"/>
                          <a:ea typeface="+mn-ea"/>
                          <a:cs typeface="+mn-cs"/>
                        </a:rPr>
                        <a:t>计算延迟</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受寄存器、总线带宽限制</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光速波分/并行相干运算</a:t>
                      </a:r>
                      <a:endParaRPr lang="zh-CN" altLang="en-US" sz="2000" b="0" dirty="0"/>
                    </a:p>
                  </a:txBody>
                  <a:tcPr/>
                </a:tc>
                <a:extLst>
                  <a:ext uri="{0D108BD9-81ED-4DB2-BD59-A6C34878D82A}">
                    <a16:rowId xmlns:a16="http://schemas.microsoft.com/office/drawing/2014/main" val="2406616712"/>
                  </a:ext>
                </a:extLst>
              </a:tr>
              <a:tr h="900504">
                <a:tc>
                  <a:txBody>
                    <a:bodyPr/>
                    <a:lstStyle/>
                    <a:p>
                      <a:r>
                        <a:rPr lang="zh-CN" altLang="zh-CN" sz="2000" b="0" i="0" kern="1200" dirty="0">
                          <a:solidFill>
                            <a:schemeClr val="dk1"/>
                          </a:solidFill>
                          <a:effectLst/>
                          <a:latin typeface="+mn-lt"/>
                          <a:ea typeface="+mn-ea"/>
                          <a:cs typeface="+mn-cs"/>
                        </a:rPr>
                        <a:t>太空退化寿命</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电学老化、寿命5-10年</a:t>
                      </a:r>
                      <a:endParaRPr lang="zh-CN" altLang="en-US" sz="2000" b="0" dirty="0"/>
                    </a:p>
                  </a:txBody>
                  <a:tcPr/>
                </a:tc>
                <a:tc>
                  <a:txBody>
                    <a:bodyPr/>
                    <a:lstStyle/>
                    <a:p>
                      <a:r>
                        <a:rPr lang="zh-CN" altLang="zh-CN" sz="2000" b="0" i="0" kern="1200" dirty="0">
                          <a:solidFill>
                            <a:schemeClr val="dk1"/>
                          </a:solidFill>
                          <a:effectLst/>
                          <a:latin typeface="+mn-lt"/>
                          <a:ea typeface="+mn-ea"/>
                          <a:cs typeface="+mn-cs"/>
                        </a:rPr>
                        <a:t>无电偏置老化、寿命&gt;10年</a:t>
                      </a:r>
                      <a:endParaRPr lang="zh-CN" altLang="en-US" sz="2000" b="0" dirty="0"/>
                    </a:p>
                  </a:txBody>
                  <a:tcPr/>
                </a:tc>
                <a:extLst>
                  <a:ext uri="{0D108BD9-81ED-4DB2-BD59-A6C34878D82A}">
                    <a16:rowId xmlns:a16="http://schemas.microsoft.com/office/drawing/2014/main" val="56430056"/>
                  </a:ext>
                </a:extLst>
              </a:tr>
            </a:tbl>
          </a:graphicData>
        </a:graphic>
      </p:graphicFrame>
      <p:pic>
        <p:nvPicPr>
          <p:cNvPr id="3" name="图片 2">
            <a:extLst>
              <a:ext uri="{FF2B5EF4-FFF2-40B4-BE49-F238E27FC236}">
                <a16:creationId xmlns:a16="http://schemas.microsoft.com/office/drawing/2014/main" id="{7612D245-3E8C-F348-DC61-2BAD99005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482" y="1718337"/>
            <a:ext cx="4348717" cy="2899144"/>
          </a:xfrm>
          <a:prstGeom prst="rect">
            <a:avLst/>
          </a:prstGeom>
        </p:spPr>
      </p:pic>
    </p:spTree>
    <p:extLst>
      <p:ext uri="{BB962C8B-B14F-4D97-AF65-F5344CB8AC3E}">
        <p14:creationId xmlns:p14="http://schemas.microsoft.com/office/powerpoint/2010/main" val="176281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CB72E09-BCDF-9368-CFB2-7D87B23FB9E6}"/>
              </a:ext>
            </a:extLst>
          </p:cNvPr>
          <p:cNvPicPr>
            <a:picLocks noChangeAspect="1"/>
          </p:cNvPicPr>
          <p:nvPr/>
        </p:nvPicPr>
        <p:blipFill>
          <a:blip r:embed="rId2"/>
          <a:stretch>
            <a:fillRect/>
          </a:stretch>
        </p:blipFill>
        <p:spPr>
          <a:xfrm rot="5400000">
            <a:off x="-515630" y="2478341"/>
            <a:ext cx="5552940" cy="2514648"/>
          </a:xfrm>
          <a:prstGeom prst="rect">
            <a:avLst/>
          </a:prstGeom>
        </p:spPr>
      </p:pic>
      <p:sp>
        <p:nvSpPr>
          <p:cNvPr id="9" name="文本框 8">
            <a:extLst>
              <a:ext uri="{FF2B5EF4-FFF2-40B4-BE49-F238E27FC236}">
                <a16:creationId xmlns:a16="http://schemas.microsoft.com/office/drawing/2014/main" id="{AA5C9285-DFB3-E1BD-F896-E66E5A403E22}"/>
              </a:ext>
            </a:extLst>
          </p:cNvPr>
          <p:cNvSpPr txBox="1"/>
          <p:nvPr/>
        </p:nvSpPr>
        <p:spPr>
          <a:xfrm>
            <a:off x="258413" y="186305"/>
            <a:ext cx="5929828" cy="584775"/>
          </a:xfrm>
          <a:prstGeom prst="rect">
            <a:avLst/>
          </a:prstGeom>
          <a:noFill/>
        </p:spPr>
        <p:txBody>
          <a:bodyPr wrap="none" rtlCol="0">
            <a:spAutoFit/>
          </a:bodyPr>
          <a:lstStyle/>
          <a:p>
            <a:r>
              <a:rPr lang="zh-CN" altLang="zh-CN" sz="3200" b="1" dirty="0"/>
              <a:t>遥感数据集与十类地物分类任务</a:t>
            </a:r>
          </a:p>
        </p:txBody>
      </p:sp>
      <p:pic>
        <p:nvPicPr>
          <p:cNvPr id="17" name="图片 16">
            <a:extLst>
              <a:ext uri="{FF2B5EF4-FFF2-40B4-BE49-F238E27FC236}">
                <a16:creationId xmlns:a16="http://schemas.microsoft.com/office/drawing/2014/main" id="{3F096D8F-4278-BB6C-8DA8-28EBAD47E8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5075" y="693304"/>
            <a:ext cx="7286403" cy="5380728"/>
          </a:xfrm>
          <a:prstGeom prst="rect">
            <a:avLst/>
          </a:prstGeom>
        </p:spPr>
      </p:pic>
      <p:sp>
        <p:nvSpPr>
          <p:cNvPr id="2" name="文本框 1">
            <a:extLst>
              <a:ext uri="{FF2B5EF4-FFF2-40B4-BE49-F238E27FC236}">
                <a16:creationId xmlns:a16="http://schemas.microsoft.com/office/drawing/2014/main" id="{F4CF814B-913C-4570-5613-9D9FB69CC237}"/>
              </a:ext>
            </a:extLst>
          </p:cNvPr>
          <p:cNvSpPr txBox="1"/>
          <p:nvPr/>
        </p:nvSpPr>
        <p:spPr>
          <a:xfrm>
            <a:off x="5039582" y="6074032"/>
            <a:ext cx="5036956" cy="369332"/>
          </a:xfrm>
          <a:prstGeom prst="rect">
            <a:avLst/>
          </a:prstGeom>
          <a:noFill/>
        </p:spPr>
        <p:txBody>
          <a:bodyPr wrap="none" rtlCol="0">
            <a:spAutoFit/>
          </a:bodyPr>
          <a:lstStyle/>
          <a:p>
            <a:r>
              <a:rPr lang="zh-CN" altLang="en-US" dirty="0"/>
              <a:t>数据集见：</a:t>
            </a:r>
            <a:r>
              <a:rPr lang="zh-CN" altLang="en-US" dirty="0">
                <a:hlinkClick r:id="rId4"/>
              </a:rPr>
              <a:t>卫星图像多分类数据集 </a:t>
            </a:r>
            <a:r>
              <a:rPr lang="en-US" altLang="zh-CN" dirty="0">
                <a:hlinkClick r:id="rId4"/>
              </a:rPr>
              <a:t>· </a:t>
            </a:r>
            <a:r>
              <a:rPr lang="es-ES" altLang="zh-CN" dirty="0">
                <a:hlinkClick r:id="rId4"/>
              </a:rPr>
              <a:t>modelscope</a:t>
            </a:r>
            <a:endParaRPr lang="zh-CN" altLang="en-US" dirty="0"/>
          </a:p>
        </p:txBody>
      </p:sp>
    </p:spTree>
    <p:extLst>
      <p:ext uri="{BB962C8B-B14F-4D97-AF65-F5344CB8AC3E}">
        <p14:creationId xmlns:p14="http://schemas.microsoft.com/office/powerpoint/2010/main" val="333744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0AE6311-FDE2-46C2-6D3F-BF6F8F312D33}"/>
              </a:ext>
            </a:extLst>
          </p:cNvPr>
          <p:cNvSpPr txBox="1"/>
          <p:nvPr/>
        </p:nvSpPr>
        <p:spPr>
          <a:xfrm>
            <a:off x="116601" y="118219"/>
            <a:ext cx="5035353" cy="584775"/>
          </a:xfrm>
          <a:prstGeom prst="rect">
            <a:avLst/>
          </a:prstGeom>
          <a:noFill/>
        </p:spPr>
        <p:txBody>
          <a:bodyPr wrap="none" rtlCol="0">
            <a:spAutoFit/>
          </a:bodyPr>
          <a:lstStyle/>
          <a:p>
            <a:r>
              <a:rPr lang="zh-CN" altLang="zh-CN" sz="3200" b="1" dirty="0"/>
              <a:t>硬件平台 Gazelle</a:t>
            </a:r>
            <a:r>
              <a:rPr lang="en-US" altLang="zh-CN" sz="3200" b="1" dirty="0"/>
              <a:t> </a:t>
            </a:r>
            <a:r>
              <a:rPr lang="zh-CN" altLang="zh-CN" sz="3200" b="1" dirty="0"/>
              <a:t>逆向分析</a:t>
            </a:r>
          </a:p>
        </p:txBody>
      </p:sp>
      <p:sp>
        <p:nvSpPr>
          <p:cNvPr id="5" name="文本框 4">
            <a:extLst>
              <a:ext uri="{FF2B5EF4-FFF2-40B4-BE49-F238E27FC236}">
                <a16:creationId xmlns:a16="http://schemas.microsoft.com/office/drawing/2014/main" id="{29DD4A29-369A-CA29-2FB5-B591764BAC00}"/>
              </a:ext>
            </a:extLst>
          </p:cNvPr>
          <p:cNvSpPr txBox="1"/>
          <p:nvPr/>
        </p:nvSpPr>
        <p:spPr>
          <a:xfrm>
            <a:off x="364382" y="1618060"/>
            <a:ext cx="5303650" cy="1692771"/>
          </a:xfrm>
          <a:prstGeom prst="rect">
            <a:avLst/>
          </a:prstGeom>
          <a:noFill/>
        </p:spPr>
        <p:txBody>
          <a:bodyPr wrap="square" rtlCol="0">
            <a:spAutoFit/>
          </a:bodyPr>
          <a:lstStyle/>
          <a:p>
            <a:r>
              <a:rPr lang="zh-CN" altLang="zh-CN" sz="2400" b="1" dirty="0"/>
              <a:t>逆向解析结论：</a:t>
            </a:r>
            <a:endParaRPr lang="en-US" altLang="zh-CN" sz="2400" b="1" dirty="0"/>
          </a:p>
          <a:p>
            <a:r>
              <a:rPr lang="en-US" altLang="zh-CN" sz="2000" dirty="0"/>
              <a:t>· </a:t>
            </a:r>
            <a:r>
              <a:rPr lang="zh-CN" altLang="zh-CN" sz="2000" dirty="0"/>
              <a:t>分块约束：tile 8×2，输入长度须被8整除</a:t>
            </a:r>
          </a:p>
          <a:p>
            <a:r>
              <a:rPr lang="en-US" altLang="zh-CN" sz="2000" dirty="0"/>
              <a:t>· </a:t>
            </a:r>
            <a:r>
              <a:rPr lang="zh-CN" altLang="zh-CN" sz="2000" dirty="0"/>
              <a:t>物理线性度 99.4%，偏差可忽略</a:t>
            </a:r>
          </a:p>
          <a:p>
            <a:r>
              <a:rPr lang="en-US" altLang="zh-CN" sz="2000" dirty="0"/>
              <a:t>· </a:t>
            </a:r>
            <a:r>
              <a:rPr lang="zh-CN" altLang="zh-CN" sz="2000" dirty="0"/>
              <a:t>精度损失 100% 源于量化噪声（ENOB 7.5）及激活量化精度</a:t>
            </a:r>
          </a:p>
        </p:txBody>
      </p:sp>
      <p:pic>
        <p:nvPicPr>
          <p:cNvPr id="8" name="图片 7">
            <a:extLst>
              <a:ext uri="{FF2B5EF4-FFF2-40B4-BE49-F238E27FC236}">
                <a16:creationId xmlns:a16="http://schemas.microsoft.com/office/drawing/2014/main" id="{88267FE3-0C44-53D7-A77F-28C603772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8032" y="60867"/>
            <a:ext cx="6523968" cy="3261985"/>
          </a:xfrm>
          <a:prstGeom prst="rect">
            <a:avLst/>
          </a:prstGeom>
        </p:spPr>
      </p:pic>
      <p:pic>
        <p:nvPicPr>
          <p:cNvPr id="10" name="图片 9">
            <a:extLst>
              <a:ext uri="{FF2B5EF4-FFF2-40B4-BE49-F238E27FC236}">
                <a16:creationId xmlns:a16="http://schemas.microsoft.com/office/drawing/2014/main" id="{A355E357-7572-376A-6166-A40BA838BD1C}"/>
              </a:ext>
            </a:extLst>
          </p:cNvPr>
          <p:cNvPicPr>
            <a:picLocks noChangeAspect="1"/>
          </p:cNvPicPr>
          <p:nvPr/>
        </p:nvPicPr>
        <p:blipFill>
          <a:blip r:embed="rId3">
            <a:extLst>
              <a:ext uri="{28A0092B-C50C-407E-A947-70E740481C1C}">
                <a14:useLocalDpi xmlns:a14="http://schemas.microsoft.com/office/drawing/2010/main" val="0"/>
              </a:ext>
            </a:extLst>
          </a:blip>
          <a:srcRect t="21796" b="26720"/>
          <a:stretch>
            <a:fillRect/>
          </a:stretch>
        </p:blipFill>
        <p:spPr>
          <a:xfrm>
            <a:off x="65031" y="4237918"/>
            <a:ext cx="5752762" cy="1692442"/>
          </a:xfrm>
          <a:prstGeom prst="rect">
            <a:avLst/>
          </a:prstGeom>
        </p:spPr>
      </p:pic>
      <p:graphicFrame>
        <p:nvGraphicFramePr>
          <p:cNvPr id="2" name="表格 1">
            <a:extLst>
              <a:ext uri="{FF2B5EF4-FFF2-40B4-BE49-F238E27FC236}">
                <a16:creationId xmlns:a16="http://schemas.microsoft.com/office/drawing/2014/main" id="{5EAAC59F-7B59-B1D6-6811-32A50718EEFA}"/>
              </a:ext>
            </a:extLst>
          </p:cNvPr>
          <p:cNvGraphicFramePr>
            <a:graphicFrameLocks noGrp="1"/>
          </p:cNvGraphicFramePr>
          <p:nvPr>
            <p:extLst>
              <p:ext uri="{D42A27DB-BD31-4B8C-83A1-F6EECF244321}">
                <p14:modId xmlns:p14="http://schemas.microsoft.com/office/powerpoint/2010/main" val="354607788"/>
              </p:ext>
            </p:extLst>
          </p:nvPr>
        </p:nvGraphicFramePr>
        <p:xfrm>
          <a:off x="5940532" y="3485209"/>
          <a:ext cx="6186438" cy="3197860"/>
        </p:xfrm>
        <a:graphic>
          <a:graphicData uri="http://schemas.openxmlformats.org/drawingml/2006/table">
            <a:tbl>
              <a:tblPr/>
              <a:tblGrid>
                <a:gridCol w="1390049">
                  <a:extLst>
                    <a:ext uri="{9D8B030D-6E8A-4147-A177-3AD203B41FA5}">
                      <a16:colId xmlns:a16="http://schemas.microsoft.com/office/drawing/2014/main" val="2762495698"/>
                    </a:ext>
                  </a:extLst>
                </a:gridCol>
                <a:gridCol w="1817293">
                  <a:extLst>
                    <a:ext uri="{9D8B030D-6E8A-4147-A177-3AD203B41FA5}">
                      <a16:colId xmlns:a16="http://schemas.microsoft.com/office/drawing/2014/main" val="3609416111"/>
                    </a:ext>
                  </a:extLst>
                </a:gridCol>
                <a:gridCol w="2979096">
                  <a:extLst>
                    <a:ext uri="{9D8B030D-6E8A-4147-A177-3AD203B41FA5}">
                      <a16:colId xmlns:a16="http://schemas.microsoft.com/office/drawing/2014/main" val="4188634659"/>
                    </a:ext>
                  </a:extLst>
                </a:gridCol>
              </a:tblGrid>
              <a:tr h="0">
                <a:tc>
                  <a:txBody>
                    <a:bodyPr/>
                    <a:lstStyle/>
                    <a:p>
                      <a:pPr marL="0" marR="0" algn="l">
                        <a:spcBef>
                          <a:spcPts val="375"/>
                        </a:spcBef>
                        <a:buNone/>
                      </a:pPr>
                      <a:r>
                        <a:rPr lang="zh-CN" sz="1400" b="1" i="0" cap="all" dirty="0">
                          <a:solidFill>
                            <a:schemeClr val="tx1"/>
                          </a:solidFill>
                          <a:effectLst/>
                          <a:latin typeface="Plus Jakarta Sans"/>
                        </a:rPr>
                        <a:t>物理属性</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5F9"/>
                    </a:solidFill>
                  </a:tcPr>
                </a:tc>
                <a:tc>
                  <a:txBody>
                    <a:bodyPr/>
                    <a:lstStyle/>
                    <a:p>
                      <a:pPr marL="0" marR="0" algn="l">
                        <a:spcBef>
                          <a:spcPts val="375"/>
                        </a:spcBef>
                        <a:buNone/>
                      </a:pPr>
                      <a:r>
                        <a:rPr lang="zh-CN" sz="1400" b="1" i="0" cap="all" dirty="0">
                          <a:solidFill>
                            <a:schemeClr val="tx1"/>
                          </a:solidFill>
                          <a:effectLst/>
                          <a:latin typeface="Plus Jakarta Sans"/>
                        </a:rPr>
                        <a:t>逆向提取数值</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5F9"/>
                    </a:solidFill>
                  </a:tcPr>
                </a:tc>
                <a:tc>
                  <a:txBody>
                    <a:bodyPr/>
                    <a:lstStyle/>
                    <a:p>
                      <a:pPr marL="0" marR="0" algn="l">
                        <a:spcBef>
                          <a:spcPts val="375"/>
                        </a:spcBef>
                        <a:buNone/>
                      </a:pPr>
                      <a:r>
                        <a:rPr lang="zh-CN" sz="1400" b="1" i="0" cap="all" dirty="0">
                          <a:solidFill>
                            <a:schemeClr val="tx1"/>
                          </a:solidFill>
                          <a:effectLst/>
                          <a:latin typeface="Plus Jakarta Sans"/>
                        </a:rPr>
                        <a:t>物理约束 / 工程学影响</a:t>
                      </a:r>
                    </a:p>
                  </a:txBody>
                  <a:tcPr marL="101600" marR="1016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5F9"/>
                    </a:solidFill>
                  </a:tcPr>
                </a:tc>
                <a:extLst>
                  <a:ext uri="{0D108BD9-81ED-4DB2-BD59-A6C34878D82A}">
                    <a16:rowId xmlns:a16="http://schemas.microsoft.com/office/drawing/2014/main" val="1931640056"/>
                  </a:ext>
                </a:extLst>
              </a:tr>
              <a:tr h="0">
                <a:tc>
                  <a:txBody>
                    <a:bodyPr/>
                    <a:lstStyle/>
                    <a:p>
                      <a:pPr marL="0" marR="0" algn="l">
                        <a:spcBef>
                          <a:spcPts val="375"/>
                        </a:spcBef>
                        <a:buNone/>
                      </a:pPr>
                      <a:r>
                        <a:rPr lang="zh-CN" sz="1400" b="1" i="0" dirty="0">
                          <a:solidFill>
                            <a:schemeClr val="tx1"/>
                          </a:solidFill>
                          <a:effectLst/>
                          <a:latin typeface="Plus Jakarta Sans"/>
                        </a:rPr>
                        <a:t>物理计算 Tile</a:t>
                      </a:r>
                      <a:endParaRPr lang="zh-CN" sz="1400" b="0" i="0" dirty="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1" i="0" dirty="0">
                          <a:solidFill>
                            <a:schemeClr val="tx1"/>
                          </a:solidFill>
                          <a:effectLst/>
                          <a:latin typeface="Courier New" panose="02070309020205020404" pitchFamily="49" charset="0"/>
                        </a:rPr>
                        <a:t>8×2</a:t>
                      </a:r>
                      <a:r>
                        <a:rPr lang="zh-CN" sz="1400" b="0" i="0" dirty="0">
                          <a:solidFill>
                            <a:schemeClr val="tx1"/>
                          </a:solidFill>
                          <a:effectLst/>
                          <a:latin typeface="Plus Jakarta Sans"/>
                        </a:rPr>
                        <a:t> (k=8, n=2)</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卷积乘加展平后长度必须被 8 整除，否则硬件必须补零闲置</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631598"/>
                  </a:ext>
                </a:extLst>
              </a:tr>
              <a:tr h="0">
                <a:tc>
                  <a:txBody>
                    <a:bodyPr/>
                    <a:lstStyle/>
                    <a:p>
                      <a:pPr marL="0" marR="0" algn="l">
                        <a:spcBef>
                          <a:spcPts val="375"/>
                        </a:spcBef>
                        <a:buNone/>
                      </a:pPr>
                      <a:r>
                        <a:rPr lang="zh-CN" sz="1400" b="1" i="0" dirty="0">
                          <a:solidFill>
                            <a:schemeClr val="tx1"/>
                          </a:solidFill>
                          <a:effectLst/>
                          <a:latin typeface="Plus Jakarta Sans"/>
                        </a:rPr>
                        <a:t>原生支持精度</a:t>
                      </a:r>
                      <a:endParaRPr lang="zh-CN" sz="1400" b="0" i="0" dirty="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1" i="0" dirty="0">
                          <a:solidFill>
                            <a:schemeClr val="tx1"/>
                          </a:solidFill>
                          <a:effectLst/>
                          <a:latin typeface="Plus Jakarta Sans"/>
                        </a:rPr>
                        <a:t>8-bit</a:t>
                      </a:r>
                      <a:r>
                        <a:rPr lang="zh-CN" sz="1400" b="0" i="0" dirty="0">
                          <a:solidFill>
                            <a:schemeClr val="tx1"/>
                          </a:solidFill>
                          <a:effectLst/>
                          <a:latin typeface="Plus Jakarta Sans"/>
                        </a:rPr>
                        <a:t> 激活 / </a:t>
                      </a:r>
                      <a:r>
                        <a:rPr lang="zh-CN" sz="1400" b="1" i="0" dirty="0">
                          <a:solidFill>
                            <a:schemeClr val="tx1"/>
                          </a:solidFill>
                          <a:effectLst/>
                          <a:latin typeface="Plus Jakarta Sans"/>
                        </a:rPr>
                        <a:t>8-bit</a:t>
                      </a:r>
                      <a:r>
                        <a:rPr lang="zh-CN" sz="1400" b="0" i="0" dirty="0">
                          <a:solidFill>
                            <a:schemeClr val="tx1"/>
                          </a:solidFill>
                          <a:effectLst/>
                          <a:latin typeface="Plus Jakarta Sans"/>
                        </a:rPr>
                        <a:t> 权重</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硬核支持 INT8 GEMM，无需为了适配降低精度至 INT4</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5486275"/>
                  </a:ext>
                </a:extLst>
              </a:tr>
              <a:tr h="0">
                <a:tc>
                  <a:txBody>
                    <a:bodyPr/>
                    <a:lstStyle/>
                    <a:p>
                      <a:pPr marL="0" marR="0" algn="l">
                        <a:spcBef>
                          <a:spcPts val="375"/>
                        </a:spcBef>
                        <a:buNone/>
                      </a:pPr>
                      <a:r>
                        <a:rPr lang="zh-CN" sz="1400" b="1" i="0" dirty="0">
                          <a:solidFill>
                            <a:schemeClr val="tx1"/>
                          </a:solidFill>
                          <a:effectLst/>
                          <a:latin typeface="Plus Jakarta Sans"/>
                        </a:rPr>
                        <a:t>DAC/ADC 位宽</a:t>
                      </a:r>
                      <a:endParaRPr lang="zh-CN" sz="1400" b="0" i="0" dirty="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DAC ENOB: </a:t>
                      </a:r>
                      <a:r>
                        <a:rPr lang="zh-CN" sz="1400" b="0" i="0">
                          <a:solidFill>
                            <a:schemeClr val="tx1"/>
                          </a:solidFill>
                          <a:effectLst/>
                          <a:latin typeface="Courier New" panose="02070309020205020404" pitchFamily="49" charset="0"/>
                        </a:rPr>
                        <a:t>7.5 bits</a:t>
                      </a:r>
                      <a:r>
                        <a:rPr lang="zh-CN" sz="1400" b="0" i="0">
                          <a:solidFill>
                            <a:schemeClr val="tx1"/>
                          </a:solidFill>
                          <a:effectLst/>
                          <a:latin typeface="Plus Jakarta Sans"/>
                        </a:rPr>
                        <a:t> • ADC: 12-bit</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引入 DAC 等效噪声 σ ≈ 0.0016 阻碍非QAT量化表现</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2191967"/>
                  </a:ext>
                </a:extLst>
              </a:tr>
              <a:tr h="0">
                <a:tc>
                  <a:txBody>
                    <a:bodyPr/>
                    <a:lstStyle/>
                    <a:p>
                      <a:pPr marL="0" marR="0" algn="l">
                        <a:spcBef>
                          <a:spcPts val="375"/>
                        </a:spcBef>
                        <a:buNone/>
                      </a:pPr>
                      <a:r>
                        <a:rPr lang="zh-CN" sz="1400" b="1" i="0">
                          <a:solidFill>
                            <a:schemeClr val="tx1"/>
                          </a:solidFill>
                          <a:effectLst/>
                          <a:latin typeface="Plus Jakarta Sans"/>
                        </a:rPr>
                        <a:t>探测器 TIA 噪声</a:t>
                      </a:r>
                      <a:endParaRPr lang="zh-CN" sz="1400" b="0" i="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σ ≈ 5.34e-4 (MSE 2.85e-7)</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光学探测阶段的绝对物理加性白噪声，需在训练时注入</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3160174"/>
                  </a:ext>
                </a:extLst>
              </a:tr>
              <a:tr h="0">
                <a:tc>
                  <a:txBody>
                    <a:bodyPr/>
                    <a:lstStyle/>
                    <a:p>
                      <a:pPr marL="0" marR="0" algn="l">
                        <a:spcBef>
                          <a:spcPts val="375"/>
                        </a:spcBef>
                        <a:buNone/>
                      </a:pPr>
                      <a:r>
                        <a:rPr lang="zh-CN" sz="1400" b="1" i="0" dirty="0">
                          <a:solidFill>
                            <a:schemeClr val="tx1"/>
                          </a:solidFill>
                          <a:effectLst/>
                          <a:latin typeface="Plus Jakarta Sans"/>
                        </a:rPr>
                        <a:t>硬件时延</a:t>
                      </a:r>
                      <a:endParaRPr lang="zh-CN" sz="1400" b="0" i="0" dirty="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a:solidFill>
                            <a:schemeClr val="tx1"/>
                          </a:solidFill>
                          <a:effectLst/>
                          <a:latin typeface="Plus Jakarta Sans"/>
                        </a:rPr>
                        <a:t>单次物理光程约 </a:t>
                      </a:r>
                      <a:r>
                        <a:rPr lang="zh-CN" sz="1400" b="1" i="0">
                          <a:solidFill>
                            <a:schemeClr val="tx1"/>
                          </a:solidFill>
                          <a:effectLst/>
                          <a:latin typeface="Plus Jakarta Sans"/>
                        </a:rPr>
                        <a:t>16.6 μs</a:t>
                      </a:r>
                      <a:endParaRPr lang="zh-CN" sz="1400" b="0" i="0">
                        <a:solidFill>
                          <a:schemeClr val="tx1"/>
                        </a:solidFill>
                        <a:effectLst/>
                        <a:latin typeface="Plus Jakarta Sans"/>
                      </a:endParaRP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l">
                        <a:spcBef>
                          <a:spcPts val="375"/>
                        </a:spcBef>
                        <a:buNone/>
                      </a:pPr>
                      <a:r>
                        <a:rPr lang="zh-CN" sz="1400" b="0" i="0" dirty="0">
                          <a:solidFill>
                            <a:schemeClr val="tx1"/>
                          </a:solidFill>
                          <a:effectLst/>
                          <a:latin typeface="Plus Jakarta Sans"/>
                        </a:rPr>
                        <a:t>由 </a:t>
                      </a:r>
                      <a:r>
                        <a:rPr lang="zh-CN" sz="1400" b="0" i="0" dirty="0">
                          <a:solidFill>
                            <a:schemeClr val="tx1"/>
                          </a:solidFill>
                          <a:effectLst/>
                          <a:latin typeface="Courier New" panose="02070309020205020404" pitchFamily="49" charset="0"/>
                        </a:rPr>
                        <a:t>entrance.gazelle_latency</a:t>
                      </a:r>
                      <a:r>
                        <a:rPr lang="zh-CN" sz="1400" b="0" i="0" dirty="0">
                          <a:solidFill>
                            <a:schemeClr val="tx1"/>
                          </a:solidFill>
                          <a:effectLst/>
                          <a:latin typeface="Plus Jakarta Sans"/>
                        </a:rPr>
                        <a:t> 测得</a:t>
                      </a:r>
                    </a:p>
                  </a:txBody>
                  <a:tcPr marL="101600" marR="101600" marT="69850" marB="698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868897"/>
                  </a:ext>
                </a:extLst>
              </a:tr>
            </a:tbl>
          </a:graphicData>
        </a:graphic>
      </p:graphicFrame>
    </p:spTree>
    <p:extLst>
      <p:ext uri="{BB962C8B-B14F-4D97-AF65-F5344CB8AC3E}">
        <p14:creationId xmlns:p14="http://schemas.microsoft.com/office/powerpoint/2010/main" val="1129477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BCD4FFB-5EFC-AE1C-0600-8A1518CB57A7}"/>
              </a:ext>
            </a:extLst>
          </p:cNvPr>
          <p:cNvSpPr txBox="1"/>
          <p:nvPr/>
        </p:nvSpPr>
        <p:spPr>
          <a:xfrm>
            <a:off x="423447" y="484816"/>
            <a:ext cx="6340197" cy="584775"/>
          </a:xfrm>
          <a:prstGeom prst="rect">
            <a:avLst/>
          </a:prstGeom>
          <a:noFill/>
        </p:spPr>
        <p:txBody>
          <a:bodyPr wrap="none" rtlCol="0">
            <a:spAutoFit/>
          </a:bodyPr>
          <a:lstStyle/>
          <a:p>
            <a:r>
              <a:rPr lang="zh-CN" altLang="zh-CN" sz="3200" b="1" dirty="0"/>
              <a:t>三模型设计：极简化硬件感知架构</a:t>
            </a:r>
          </a:p>
        </p:txBody>
      </p:sp>
      <p:sp>
        <p:nvSpPr>
          <p:cNvPr id="5" name="文本框 4">
            <a:extLst>
              <a:ext uri="{FF2B5EF4-FFF2-40B4-BE49-F238E27FC236}">
                <a16:creationId xmlns:a16="http://schemas.microsoft.com/office/drawing/2014/main" id="{30C2D1CD-BC8F-067E-BE03-7035D7632286}"/>
              </a:ext>
            </a:extLst>
          </p:cNvPr>
          <p:cNvSpPr txBox="1"/>
          <p:nvPr/>
        </p:nvSpPr>
        <p:spPr>
          <a:xfrm>
            <a:off x="580723" y="1156668"/>
            <a:ext cx="11030554" cy="646331"/>
          </a:xfrm>
          <a:prstGeom prst="rect">
            <a:avLst/>
          </a:prstGeom>
          <a:noFill/>
        </p:spPr>
        <p:txBody>
          <a:bodyPr wrap="square" rtlCol="0">
            <a:spAutoFit/>
          </a:bodyPr>
          <a:lstStyle/>
          <a:p>
            <a:r>
              <a:rPr lang="zh-CN" altLang="zh-CN" dirty="0"/>
              <a:t>强制全层 bias=False 以绝对物理契合硬件不支持偏置加法特性；首层由于计算极其敏感而划归电算，消除 BN 偏移损耗；自研 2×2 卷积，实现信道完美硬件分块对齐，用 1/9 的参数量 削减 1/150 的在轨推算负荷。</a:t>
            </a:r>
            <a:endParaRPr lang="zh-CN" altLang="en-US"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92CC6C38-9878-2BEF-F227-BF775EFD0B13}"/>
                  </a:ext>
                </a:extLst>
              </p:cNvPr>
              <p:cNvGraphicFramePr>
                <a:graphicFrameLocks noGrp="1"/>
              </p:cNvGraphicFramePr>
              <p:nvPr>
                <p:extLst>
                  <p:ext uri="{D42A27DB-BD31-4B8C-83A1-F6EECF244321}">
                    <p14:modId xmlns:p14="http://schemas.microsoft.com/office/powerpoint/2010/main" val="2072189977"/>
                  </p:ext>
                </p:extLst>
              </p:nvPr>
            </p:nvGraphicFramePr>
            <p:xfrm>
              <a:off x="922691" y="2193248"/>
              <a:ext cx="10154435" cy="4023446"/>
            </p:xfrm>
            <a:graphic>
              <a:graphicData uri="http://schemas.openxmlformats.org/drawingml/2006/table">
                <a:tbl>
                  <a:tblPr/>
                  <a:tblGrid>
                    <a:gridCol w="1827739">
                      <a:extLst>
                        <a:ext uri="{9D8B030D-6E8A-4147-A177-3AD203B41FA5}">
                          <a16:colId xmlns:a16="http://schemas.microsoft.com/office/drawing/2014/main" val="747698638"/>
                        </a:ext>
                      </a:extLst>
                    </a:gridCol>
                    <a:gridCol w="2741653">
                      <a:extLst>
                        <a:ext uri="{9D8B030D-6E8A-4147-A177-3AD203B41FA5}">
                          <a16:colId xmlns:a16="http://schemas.microsoft.com/office/drawing/2014/main" val="1745584961"/>
                        </a:ext>
                      </a:extLst>
                    </a:gridCol>
                    <a:gridCol w="2577957">
                      <a:extLst>
                        <a:ext uri="{9D8B030D-6E8A-4147-A177-3AD203B41FA5}">
                          <a16:colId xmlns:a16="http://schemas.microsoft.com/office/drawing/2014/main" val="784892841"/>
                        </a:ext>
                      </a:extLst>
                    </a:gridCol>
                    <a:gridCol w="3007086">
                      <a:extLst>
                        <a:ext uri="{9D8B030D-6E8A-4147-A177-3AD203B41FA5}">
                          <a16:colId xmlns:a16="http://schemas.microsoft.com/office/drawing/2014/main" val="1417104393"/>
                        </a:ext>
                      </a:extLst>
                    </a:gridCol>
                  </a:tblGrid>
                  <a:tr h="347344">
                    <a:tc>
                      <a:txBody>
                        <a:bodyPr/>
                        <a:lstStyle/>
                        <a:p>
                          <a:pPr marL="0" marR="0" algn="l">
                            <a:buNone/>
                          </a:pPr>
                          <a:r>
                            <a:rPr lang="zh-CN" sz="1400" b="1" i="0">
                              <a:solidFill>
                                <a:schemeClr val="tx1"/>
                              </a:solidFill>
                              <a:effectLst/>
                              <a:latin typeface="var(--font-title)"/>
                            </a:rPr>
                            <a:t>评估对比维度</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1 (基准 VGG)</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2 (SpaceNet V1)</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3 (SpaceNet V2)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3381239155"/>
                      </a:ext>
                    </a:extLst>
                  </a:tr>
                  <a:tr h="504564">
                    <a:tc>
                      <a:txBody>
                        <a:bodyPr/>
                        <a:lstStyle/>
                        <a:p>
                          <a:pPr marL="0" marR="0" algn="l">
                            <a:buNone/>
                          </a:pPr>
                          <a:r>
                            <a:rPr lang="zh-CN" sz="1400" b="1" i="0">
                              <a:solidFill>
                                <a:schemeClr val="tx1"/>
                              </a:solidFill>
                              <a:effectLst/>
                              <a:latin typeface="DM Sans" pitchFamily="2" charset="0"/>
                            </a:rPr>
                            <a:t>架构定义</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6×Conv (3×3) + 2×FC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4×Conv (1×1 / 2×2) + 2×FC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同 Model 2 (引入知识蒸馏)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547003621"/>
                      </a:ext>
                    </a:extLst>
                  </a:tr>
                  <a:tr h="347344">
                    <a:tc>
                      <a:txBody>
                        <a:bodyPr/>
                        <a:lstStyle/>
                        <a:p>
                          <a:pPr marL="0" marR="0" algn="l">
                            <a:buNone/>
                          </a:pPr>
                          <a:r>
                            <a:rPr lang="zh-CN" sz="1400" b="1" i="0">
                              <a:solidFill>
                                <a:schemeClr val="tx1"/>
                              </a:solidFill>
                              <a:effectLst/>
                              <a:latin typeface="DM Sans" pitchFamily="2" charset="0"/>
                            </a:rPr>
                            <a:t>模型参数量</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2.39 M (重磅)</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268 K (降低至 1/9)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268 K (降低至 1/9)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2062759851"/>
                      </a:ext>
                    </a:extLst>
                  </a:tr>
                  <a:tr h="504564">
                    <a:tc>
                      <a:txBody>
                        <a:bodyPr/>
                        <a:lstStyle/>
                        <a:p>
                          <a:pPr marL="0" marR="0" algn="l">
                            <a:buNone/>
                          </a:pPr>
                          <a:r>
                            <a:rPr lang="zh-CN" sz="1400" b="1" i="0">
                              <a:solidFill>
                                <a:schemeClr val="tx1"/>
                              </a:solidFill>
                              <a:effectLst/>
                              <a:latin typeface="DM Sans" pitchFamily="2" charset="0"/>
                            </a:rPr>
                            <a:t>首层对齐/硬件处理</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27 (对齐率 84.4%) / 光学计算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dirty="0">
                              <a:solidFill>
                                <a:schemeClr val="tx1"/>
                              </a:solidFill>
                              <a:effectLst/>
                              <a:latin typeface="DM Sans" pitchFamily="2" charset="0"/>
                            </a:rPr>
                            <a:t>3 (对齐率 37.5%) / 留电计算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3 (对齐率 37.5%) / 留电计算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704992989"/>
                      </a:ext>
                    </a:extLst>
                  </a:tr>
                  <a:tr h="347344">
                    <a:tc>
                      <a:txBody>
                        <a:bodyPr/>
                        <a:lstStyle/>
                        <a:p>
                          <a:pPr marL="0" marR="0" algn="l">
                            <a:buNone/>
                          </a:pPr>
                          <a:r>
                            <a:rPr lang="zh-CN" sz="1400" b="1" i="0">
                              <a:solidFill>
                                <a:schemeClr val="tx1"/>
                              </a:solidFill>
                              <a:effectLst/>
                              <a:latin typeface="DM Sans" pitchFamily="2" charset="0"/>
                            </a:rPr>
                            <a:t>综合对齐对位率</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99.8%</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295665619"/>
                      </a:ext>
                    </a:extLst>
                  </a:tr>
                  <a:tr h="504564">
                    <a:tc>
                      <a:txBody>
                        <a:bodyPr/>
                        <a:lstStyle/>
                        <a:p>
                          <a:pPr marL="0" marR="0" algn="l">
                            <a:buNone/>
                          </a:pPr>
                          <a:r>
                            <a:rPr lang="zh-CN" sz="1400" b="1" i="0">
                              <a:solidFill>
                                <a:schemeClr val="tx1"/>
                              </a:solidFill>
                              <a:effectLst/>
                              <a:latin typeface="DM Sans" pitchFamily="2" charset="0"/>
                            </a:rPr>
                            <a:t>单图有效计算复杂度</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156.6M MOPs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dirty="0">
                              <a:solidFill>
                                <a:schemeClr val="tx1"/>
                              </a:solidFill>
                              <a:effectLst/>
                              <a:latin typeface="DM Sans" pitchFamily="2" charset="0"/>
                            </a:rPr>
                            <a:t>1.05M MOPs (极轻量)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1.05M MOPs (极轻量)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399754118"/>
                      </a:ext>
                    </a:extLst>
                  </a:tr>
                  <a:tr h="1467722">
                    <a:tc>
                      <a:txBody>
                        <a:bodyPr/>
                        <a:lstStyle/>
                        <a:p>
                          <a:pPr marL="0" marR="0" algn="l">
                            <a:buNone/>
                          </a:pPr>
                          <a:r>
                            <a:rPr lang="zh-CN" sz="1400" b="1" i="0">
                              <a:solidFill>
                                <a:schemeClr val="tx1"/>
                              </a:solidFill>
                              <a:effectLst/>
                              <a:latin typeface="DM Sans" pitchFamily="2" charset="0"/>
                            </a:rPr>
                            <a:t>QAT 与训练策略</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监督分类训练 (FP32)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dirty="0">
                              <a:solidFill>
                                <a:schemeClr val="tx1"/>
                              </a:solidFill>
                              <a:effectLst/>
                              <a:latin typeface="DM Sans" pitchFamily="2" charset="0"/>
                            </a:rPr>
                            <a:t>硬件适配定标从零 QAT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dirty="0">
                              <a:solidFill>
                                <a:schemeClr val="tx1"/>
                              </a:solidFill>
                              <a:effectLst/>
                              <a:latin typeface="DM Sans" pitchFamily="2" charset="0"/>
                            </a:rPr>
                            <a:t>ResNet-18 蒸馏辅导训练 (教师: 97.83%)</a:t>
                          </a:r>
                        </a:p>
                        <a:p>
                          <a:pPr marL="0" marR="0" algn="l">
                            <a:spcBef>
                              <a:spcPts val="300"/>
                            </a:spcBef>
                            <a:spcAft>
                              <a:spcPts val="300"/>
                            </a:spcAft>
                            <a:buNone/>
                          </a:pPr>
                          <a14:m>
                            <m:oMathPara xmlns:m="http://schemas.openxmlformats.org/officeDocument/2006/math">
                              <m:oMathParaPr>
                                <m:jc m:val="centerGroup"/>
                              </m:oMathParaPr>
                              <m:oMath xmlns:m="http://schemas.openxmlformats.org/officeDocument/2006/math">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𝐿</m:t>
                                    </m:r>
                                  </m:e>
                                  <m:sub>
                                    <m:r>
                                      <a:rPr lang="zh-CN" altLang="en-US" sz="1800" i="1">
                                        <a:solidFill>
                                          <a:schemeClr val="tx1"/>
                                        </a:solidFill>
                                        <a:latin typeface="Cambria Math" panose="02040503050406030204" pitchFamily="18" charset="0"/>
                                      </a:rPr>
                                      <m:t>𝐾𝐷</m:t>
                                    </m:r>
                                  </m:sub>
                                </m:sSub>
                                <m:r>
                                  <a:rPr lang="en-US" altLang="zh-CN" sz="1800" i="0">
                                    <a:solidFill>
                                      <a:schemeClr val="tx1"/>
                                    </a:solidFill>
                                    <a:latin typeface="Cambria Math" panose="02040503050406030204" pitchFamily="18" charset="0"/>
                                  </a:rPr>
                                  <m:t>=</m:t>
                                </m:r>
                                <m:d>
                                  <m:dPr>
                                    <m:ctrlPr>
                                      <a:rPr lang="zh-CN" altLang="en-US" sz="1800" i="1">
                                        <a:solidFill>
                                          <a:schemeClr val="tx1"/>
                                        </a:solidFill>
                                        <a:latin typeface="Cambria Math" panose="02040503050406030204" pitchFamily="18" charset="0"/>
                                      </a:rPr>
                                    </m:ctrlPr>
                                  </m:dPr>
                                  <m:e>
                                    <m:r>
                                      <a:rPr lang="en-US" altLang="zh-CN" sz="1800" i="0">
                                        <a:solidFill>
                                          <a:schemeClr val="tx1"/>
                                        </a:solidFill>
                                        <a:latin typeface="Cambria Math" panose="02040503050406030204" pitchFamily="18" charset="0"/>
                                      </a:rPr>
                                      <m:t>1−</m:t>
                                    </m:r>
                                    <m:r>
                                      <a:rPr lang="zh-CN" altLang="en-US" sz="1800" i="1">
                                        <a:solidFill>
                                          <a:schemeClr val="tx1"/>
                                        </a:solidFill>
                                        <a:latin typeface="Cambria Math" panose="02040503050406030204" pitchFamily="18" charset="0"/>
                                      </a:rPr>
                                      <m:t>𝛼</m:t>
                                    </m:r>
                                  </m:e>
                                </m:d>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𝐿</m:t>
                                    </m:r>
                                  </m:e>
                                  <m:sub>
                                    <m:r>
                                      <a:rPr lang="zh-CN" altLang="en-US" sz="1800" i="1">
                                        <a:solidFill>
                                          <a:schemeClr val="tx1"/>
                                        </a:solidFill>
                                        <a:latin typeface="Cambria Math" panose="02040503050406030204" pitchFamily="18" charset="0"/>
                                      </a:rPr>
                                      <m:t>𝐶𝐸</m:t>
                                    </m:r>
                                  </m:sub>
                                </m:sSub>
                                <m:r>
                                  <a:rPr lang="en-US" altLang="zh-CN" sz="1800" i="0">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𝛼</m:t>
                                </m:r>
                                <m:sSup>
                                  <m:sSupPr>
                                    <m:ctrlPr>
                                      <a:rPr lang="zh-CN" altLang="en-US" sz="1800" i="1">
                                        <a:solidFill>
                                          <a:schemeClr val="tx1"/>
                                        </a:solidFill>
                                        <a:latin typeface="Cambria Math" panose="02040503050406030204" pitchFamily="18" charset="0"/>
                                      </a:rPr>
                                    </m:ctrlPr>
                                  </m:sSupPr>
                                  <m:e>
                                    <m:r>
                                      <a:rPr lang="zh-CN" altLang="en-US" sz="1800" i="1">
                                        <a:solidFill>
                                          <a:schemeClr val="tx1"/>
                                        </a:solidFill>
                                        <a:latin typeface="Cambria Math" panose="02040503050406030204" pitchFamily="18" charset="0"/>
                                      </a:rPr>
                                      <m:t>𝑇</m:t>
                                    </m:r>
                                  </m:e>
                                  <m:sup>
                                    <m:r>
                                      <a:rPr lang="en-US" altLang="zh-CN" sz="1800" i="0">
                                        <a:solidFill>
                                          <a:schemeClr val="tx1"/>
                                        </a:solidFill>
                                        <a:latin typeface="Cambria Math" panose="02040503050406030204" pitchFamily="18" charset="0"/>
                                      </a:rPr>
                                      <m:t>2</m:t>
                                    </m:r>
                                  </m:sup>
                                </m:sSup>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𝐿</m:t>
                                    </m:r>
                                  </m:e>
                                  <m:sub>
                                    <m:r>
                                      <a:rPr lang="zh-CN" altLang="en-US" sz="1800" i="1">
                                        <a:solidFill>
                                          <a:schemeClr val="tx1"/>
                                        </a:solidFill>
                                        <a:latin typeface="Cambria Math" panose="02040503050406030204" pitchFamily="18" charset="0"/>
                                      </a:rPr>
                                      <m:t>𝐾𝐿</m:t>
                                    </m:r>
                                  </m:sub>
                                </m:sSub>
                              </m:oMath>
                            </m:oMathPara>
                          </a14:m>
                          <a:endParaRPr lang="zh-CN" sz="1400" b="0" i="0" dirty="0">
                            <a:solidFill>
                              <a:schemeClr val="tx1"/>
                            </a:solidFill>
                            <a:effectLst/>
                            <a:latin typeface="DM Sans" pitchFamily="2" charset="0"/>
                          </a:endParaRPr>
                        </a:p>
                        <a:p>
                          <a:pPr marL="0" marR="0" algn="l">
                            <a:buNone/>
                          </a:pPr>
                          <a:r>
                            <a:rPr lang="zh-CN" sz="1050" b="0" i="0" dirty="0">
                              <a:solidFill>
                                <a:schemeClr val="tx1"/>
                              </a:solidFill>
                              <a:effectLst/>
                              <a:latin typeface="DM Sans" pitchFamily="2" charset="0"/>
                            </a:rPr>
                            <a:t>T = 4.0,</a:t>
                          </a:r>
                          <a14:m>
                            <m:oMath xmlns:m="http://schemas.openxmlformats.org/officeDocument/2006/math">
                              <m:r>
                                <a:rPr lang="en-US" altLang="zh-CN" sz="1050" b="0" i="0" smtClean="0">
                                  <a:solidFill>
                                    <a:schemeClr val="tx1"/>
                                  </a:solidFill>
                                  <a:latin typeface="Cambria Math" panose="02040503050406030204" pitchFamily="18" charset="0"/>
                                </a:rPr>
                                <m:t>    </m:t>
                              </m:r>
                              <m:r>
                                <a:rPr lang="zh-CN" altLang="en-US" sz="1050" i="1" smtClean="0">
                                  <a:solidFill>
                                    <a:schemeClr val="tx1"/>
                                  </a:solidFill>
                                  <a:latin typeface="Cambria Math" panose="02040503050406030204" pitchFamily="18" charset="0"/>
                                </a:rPr>
                                <m:t>𝛼</m:t>
                              </m:r>
                            </m:oMath>
                          </a14:m>
                          <a:r>
                            <a:rPr lang="zh-CN" sz="1050" b="0" i="0" dirty="0">
                              <a:solidFill>
                                <a:schemeClr val="tx1"/>
                              </a:solidFill>
                              <a:effectLst/>
                              <a:latin typeface="DM Sans" pitchFamily="2" charset="0"/>
                            </a:rPr>
                            <a:t>= 0.7</a:t>
                          </a:r>
                          <a:endParaRPr lang="zh-CN" sz="1400" b="0" i="0" dirty="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215220658"/>
                      </a:ext>
                    </a:extLst>
                  </a:tr>
                </a:tbl>
              </a:graphicData>
            </a:graphic>
          </p:graphicFrame>
        </mc:Choice>
        <mc:Fallback xmlns="">
          <p:graphicFrame>
            <p:nvGraphicFramePr>
              <p:cNvPr id="6" name="表格 5">
                <a:extLst>
                  <a:ext uri="{FF2B5EF4-FFF2-40B4-BE49-F238E27FC236}">
                    <a16:creationId xmlns:a16="http://schemas.microsoft.com/office/drawing/2014/main" id="{92CC6C38-9878-2BEF-F227-BF775EFD0B13}"/>
                  </a:ext>
                </a:extLst>
              </p:cNvPr>
              <p:cNvGraphicFramePr>
                <a:graphicFrameLocks noGrp="1"/>
              </p:cNvGraphicFramePr>
              <p:nvPr>
                <p:extLst>
                  <p:ext uri="{D42A27DB-BD31-4B8C-83A1-F6EECF244321}">
                    <p14:modId xmlns:p14="http://schemas.microsoft.com/office/powerpoint/2010/main" val="2072189977"/>
                  </p:ext>
                </p:extLst>
              </p:nvPr>
            </p:nvGraphicFramePr>
            <p:xfrm>
              <a:off x="922691" y="2193248"/>
              <a:ext cx="10154435" cy="4023446"/>
            </p:xfrm>
            <a:graphic>
              <a:graphicData uri="http://schemas.openxmlformats.org/drawingml/2006/table">
                <a:tbl>
                  <a:tblPr/>
                  <a:tblGrid>
                    <a:gridCol w="1827739">
                      <a:extLst>
                        <a:ext uri="{9D8B030D-6E8A-4147-A177-3AD203B41FA5}">
                          <a16:colId xmlns:a16="http://schemas.microsoft.com/office/drawing/2014/main" val="747698638"/>
                        </a:ext>
                      </a:extLst>
                    </a:gridCol>
                    <a:gridCol w="2741653">
                      <a:extLst>
                        <a:ext uri="{9D8B030D-6E8A-4147-A177-3AD203B41FA5}">
                          <a16:colId xmlns:a16="http://schemas.microsoft.com/office/drawing/2014/main" val="1745584961"/>
                        </a:ext>
                      </a:extLst>
                    </a:gridCol>
                    <a:gridCol w="2577957">
                      <a:extLst>
                        <a:ext uri="{9D8B030D-6E8A-4147-A177-3AD203B41FA5}">
                          <a16:colId xmlns:a16="http://schemas.microsoft.com/office/drawing/2014/main" val="784892841"/>
                        </a:ext>
                      </a:extLst>
                    </a:gridCol>
                    <a:gridCol w="3007086">
                      <a:extLst>
                        <a:ext uri="{9D8B030D-6E8A-4147-A177-3AD203B41FA5}">
                          <a16:colId xmlns:a16="http://schemas.microsoft.com/office/drawing/2014/main" val="1417104393"/>
                        </a:ext>
                      </a:extLst>
                    </a:gridCol>
                  </a:tblGrid>
                  <a:tr h="347344">
                    <a:tc>
                      <a:txBody>
                        <a:bodyPr/>
                        <a:lstStyle/>
                        <a:p>
                          <a:pPr marL="0" marR="0" algn="l">
                            <a:buNone/>
                          </a:pPr>
                          <a:r>
                            <a:rPr lang="zh-CN" sz="1400" b="1" i="0">
                              <a:solidFill>
                                <a:schemeClr val="tx1"/>
                              </a:solidFill>
                              <a:effectLst/>
                              <a:latin typeface="var(--font-title)"/>
                            </a:rPr>
                            <a:t>评估对比维度</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1 (基准 VGG)</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2 (SpaceNet V1)</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var(--font-title)"/>
                            </a:rPr>
                            <a:t>Model 3 (SpaceNet V2)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3381239155"/>
                      </a:ext>
                    </a:extLst>
                  </a:tr>
                  <a:tr h="504564">
                    <a:tc>
                      <a:txBody>
                        <a:bodyPr/>
                        <a:lstStyle/>
                        <a:p>
                          <a:pPr marL="0" marR="0" algn="l">
                            <a:buNone/>
                          </a:pPr>
                          <a:r>
                            <a:rPr lang="zh-CN" sz="1400" b="1" i="0">
                              <a:solidFill>
                                <a:schemeClr val="tx1"/>
                              </a:solidFill>
                              <a:effectLst/>
                              <a:latin typeface="DM Sans" pitchFamily="2" charset="0"/>
                            </a:rPr>
                            <a:t>架构定义</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6×Conv (3×3) + 2×FC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4×Conv (1×1 / 2×2) + 2×FC</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同 Model 2 (引入知识蒸馏)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547003621"/>
                      </a:ext>
                    </a:extLst>
                  </a:tr>
                  <a:tr h="347344">
                    <a:tc>
                      <a:txBody>
                        <a:bodyPr/>
                        <a:lstStyle/>
                        <a:p>
                          <a:pPr marL="0" marR="0" algn="l">
                            <a:buNone/>
                          </a:pPr>
                          <a:r>
                            <a:rPr lang="zh-CN" sz="1400" b="1" i="0">
                              <a:solidFill>
                                <a:schemeClr val="tx1"/>
                              </a:solidFill>
                              <a:effectLst/>
                              <a:latin typeface="DM Sans" pitchFamily="2" charset="0"/>
                            </a:rPr>
                            <a:t>模型参数量</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2.39 M (重磅)</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268 K (降低至 1/9)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268 K (降低至 1/9)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2062759851"/>
                      </a:ext>
                    </a:extLst>
                  </a:tr>
                  <a:tr h="504564">
                    <a:tc>
                      <a:txBody>
                        <a:bodyPr/>
                        <a:lstStyle/>
                        <a:p>
                          <a:pPr marL="0" marR="0" algn="l">
                            <a:buNone/>
                          </a:pPr>
                          <a:r>
                            <a:rPr lang="zh-CN" sz="1400" b="1" i="0">
                              <a:solidFill>
                                <a:schemeClr val="tx1"/>
                              </a:solidFill>
                              <a:effectLst/>
                              <a:latin typeface="DM Sans" pitchFamily="2" charset="0"/>
                            </a:rPr>
                            <a:t>首层对齐/硬件处理</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27 (对齐率 84.4%) / 光学计算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dirty="0">
                              <a:solidFill>
                                <a:schemeClr val="tx1"/>
                              </a:solidFill>
                              <a:effectLst/>
                              <a:latin typeface="DM Sans" pitchFamily="2" charset="0"/>
                            </a:rPr>
                            <a:t>3 (对齐率 37.5%) / 留电计算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3 (对齐率 37.5%) / 留电计算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704992989"/>
                      </a:ext>
                    </a:extLst>
                  </a:tr>
                  <a:tr h="347344">
                    <a:tc>
                      <a:txBody>
                        <a:bodyPr/>
                        <a:lstStyle/>
                        <a:p>
                          <a:pPr marL="0" marR="0" algn="l">
                            <a:buNone/>
                          </a:pPr>
                          <a:r>
                            <a:rPr lang="zh-CN" sz="1400" b="1" i="0">
                              <a:solidFill>
                                <a:schemeClr val="tx1"/>
                              </a:solidFill>
                              <a:effectLst/>
                              <a:latin typeface="DM Sans" pitchFamily="2" charset="0"/>
                            </a:rPr>
                            <a:t>综合对齐对位率</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99.8%</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99.6%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295665619"/>
                      </a:ext>
                    </a:extLst>
                  </a:tr>
                  <a:tr h="504564">
                    <a:tc>
                      <a:txBody>
                        <a:bodyPr/>
                        <a:lstStyle/>
                        <a:p>
                          <a:pPr marL="0" marR="0" algn="l">
                            <a:buNone/>
                          </a:pPr>
                          <a:r>
                            <a:rPr lang="zh-CN" sz="1400" b="1" i="0">
                              <a:solidFill>
                                <a:schemeClr val="tx1"/>
                              </a:solidFill>
                              <a:effectLst/>
                              <a:latin typeface="DM Sans" pitchFamily="2" charset="0"/>
                            </a:rPr>
                            <a:t>单图有效计算复杂度</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156.6M MOPs</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dirty="0">
                              <a:solidFill>
                                <a:schemeClr val="tx1"/>
                              </a:solidFill>
                              <a:effectLst/>
                              <a:latin typeface="DM Sans" pitchFamily="2" charset="0"/>
                            </a:rPr>
                            <a:t>1.05M MOPs (极轻量)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1" i="0">
                              <a:solidFill>
                                <a:schemeClr val="tx1"/>
                              </a:solidFill>
                              <a:effectLst/>
                              <a:latin typeface="DM Sans" pitchFamily="2" charset="0"/>
                            </a:rPr>
                            <a:t>1.05M MOPs (极轻量)</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399754118"/>
                      </a:ext>
                    </a:extLst>
                  </a:tr>
                  <a:tr h="1467722">
                    <a:tc>
                      <a:txBody>
                        <a:bodyPr/>
                        <a:lstStyle/>
                        <a:p>
                          <a:pPr marL="0" marR="0" algn="l">
                            <a:buNone/>
                          </a:pPr>
                          <a:r>
                            <a:rPr lang="zh-CN" sz="1400" b="1" i="0">
                              <a:solidFill>
                                <a:schemeClr val="tx1"/>
                              </a:solidFill>
                              <a:effectLst/>
                              <a:latin typeface="DM Sans" pitchFamily="2" charset="0"/>
                            </a:rPr>
                            <a:t>QAT 与训练策略</a:t>
                          </a:r>
                          <a:endParaRPr lang="zh-CN" sz="1400" b="0" i="0">
                            <a:solidFill>
                              <a:schemeClr val="tx1"/>
                            </a:solidFill>
                            <a:effectLst/>
                            <a:latin typeface="DM Sans" pitchFamily="2"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a:solidFill>
                                <a:schemeClr val="tx1"/>
                              </a:solidFill>
                              <a:effectLst/>
                              <a:latin typeface="DM Sans" pitchFamily="2" charset="0"/>
                            </a:rPr>
                            <a:t>监督分类训练 (FP32)</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marL="0" marR="0" algn="l">
                            <a:buNone/>
                          </a:pPr>
                          <a:r>
                            <a:rPr lang="zh-CN" sz="1400" b="0" i="0" dirty="0">
                              <a:solidFill>
                                <a:schemeClr val="tx1"/>
                              </a:solidFill>
                              <a:effectLst/>
                              <a:latin typeface="DM Sans" pitchFamily="2" charset="0"/>
                            </a:rPr>
                            <a:t>硬件适配定标从零 QAT</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endParaRPr lang="zh-CN"/>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37652" t="-174689" r="-405" b="-830"/>
                          </a:stretch>
                        </a:blipFill>
                      </a:tcPr>
                    </a:tc>
                    <a:extLst>
                      <a:ext uri="{0D108BD9-81ED-4DB2-BD59-A6C34878D82A}">
                        <a16:rowId xmlns:a16="http://schemas.microsoft.com/office/drawing/2014/main" val="215220658"/>
                      </a:ext>
                    </a:extLst>
                  </a:tr>
                </a:tbl>
              </a:graphicData>
            </a:graphic>
          </p:graphicFrame>
        </mc:Fallback>
      </mc:AlternateContent>
    </p:spTree>
    <p:extLst>
      <p:ext uri="{BB962C8B-B14F-4D97-AF65-F5344CB8AC3E}">
        <p14:creationId xmlns:p14="http://schemas.microsoft.com/office/powerpoint/2010/main" val="32537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6002A0A-18B5-3440-BE38-7B229F291326}"/>
              </a:ext>
            </a:extLst>
          </p:cNvPr>
          <p:cNvSpPr txBox="1"/>
          <p:nvPr/>
        </p:nvSpPr>
        <p:spPr>
          <a:xfrm>
            <a:off x="515500" y="319008"/>
            <a:ext cx="5929828" cy="584775"/>
          </a:xfrm>
          <a:prstGeom prst="rect">
            <a:avLst/>
          </a:prstGeom>
          <a:noFill/>
        </p:spPr>
        <p:txBody>
          <a:bodyPr wrap="none" rtlCol="0">
            <a:spAutoFit/>
          </a:bodyPr>
          <a:lstStyle/>
          <a:p>
            <a:r>
              <a:rPr lang="zh-CN" altLang="zh-CN" sz="3200" b="1" dirty="0"/>
              <a:t>六阶段量化演进与精度爬升曲线</a:t>
            </a:r>
          </a:p>
        </p:txBody>
      </p:sp>
      <p:sp>
        <p:nvSpPr>
          <p:cNvPr id="5" name="文本框 4">
            <a:extLst>
              <a:ext uri="{FF2B5EF4-FFF2-40B4-BE49-F238E27FC236}">
                <a16:creationId xmlns:a16="http://schemas.microsoft.com/office/drawing/2014/main" id="{02C6591A-D5BC-F0C7-C23B-0529549E180A}"/>
              </a:ext>
            </a:extLst>
          </p:cNvPr>
          <p:cNvSpPr txBox="1"/>
          <p:nvPr/>
        </p:nvSpPr>
        <p:spPr>
          <a:xfrm>
            <a:off x="220930" y="1429902"/>
            <a:ext cx="5173416" cy="4524315"/>
          </a:xfrm>
          <a:prstGeom prst="rect">
            <a:avLst/>
          </a:prstGeom>
          <a:noFill/>
        </p:spPr>
        <p:txBody>
          <a:bodyPr wrap="square" rtlCol="0">
            <a:spAutoFit/>
          </a:bodyPr>
          <a:lstStyle/>
          <a:p>
            <a:r>
              <a:rPr lang="zh-CN" altLang="zh-CN" b="1" dirty="0"/>
              <a:t>从“一站崩溃”到“突破混合上限”</a:t>
            </a:r>
          </a:p>
          <a:p>
            <a:r>
              <a:rPr lang="zh-CN" altLang="zh-CN" b="1" dirty="0"/>
              <a:t>Phase 1 直接微调  </a:t>
            </a:r>
            <a:r>
              <a:rPr lang="zh-CN" altLang="zh-CN" dirty="0"/>
              <a:t>将 FP32 截断直接量化。精度瞬间崩溃（M1: 11.3%, M2: 16.5%）。原因在于模型过分依赖精细网格，易卡于局部恶性鞍点。</a:t>
            </a:r>
          </a:p>
          <a:p>
            <a:r>
              <a:rPr lang="zh-CN" altLang="zh-CN" b="1" dirty="0"/>
              <a:t>Phase 2 从零QAT  </a:t>
            </a:r>
            <a:r>
              <a:rPr lang="zh-CN" altLang="zh-CN" dirty="0"/>
              <a:t>启动从零量化感知训练 (QAT)。精度爬升至 81%-83%，但因首末层量化敏感，依然存在波动。</a:t>
            </a:r>
          </a:p>
          <a:p>
            <a:r>
              <a:rPr lang="zh-CN" altLang="zh-CN" b="1" dirty="0"/>
              <a:t>Phase 4 STE+噪声  </a:t>
            </a:r>
            <a:r>
              <a:rPr lang="zh-CN" altLang="zh-CN" dirty="0"/>
              <a:t>引入 STE 与平滑噪声，M1 int4 精度率先冲回 96.46%；此阶段定位并解决了“卷积层权重梯度彻底关闭”的底层逻辑漏洞。</a:t>
            </a:r>
          </a:p>
          <a:p>
            <a:r>
              <a:rPr lang="zh-CN" altLang="zh-CN" b="1" dirty="0"/>
              <a:t>Phase 5-6 原生定标定型  </a:t>
            </a:r>
            <a:r>
              <a:rPr lang="zh-CN" altLang="zh-CN" dirty="0"/>
              <a:t>弃用低效率 int4 方案。采用与物理核心硬件 100% 对齐的 </a:t>
            </a:r>
            <a:r>
              <a:rPr lang="zh-CN" altLang="zh-CN" b="1" dirty="0"/>
              <a:t>int8 原生 8a8w 混合精度配置</a:t>
            </a:r>
            <a:r>
              <a:rPr lang="zh-CN" altLang="zh-CN" dirty="0"/>
              <a:t>，将噪声由假象定值校正为 DAC ENOB 实际对应的 0.0016x scale 噪声（降噪12倍）。</a:t>
            </a:r>
          </a:p>
          <a:p>
            <a:endParaRPr lang="zh-CN" altLang="en-US" dirty="0"/>
          </a:p>
        </p:txBody>
      </p:sp>
      <p:pic>
        <p:nvPicPr>
          <p:cNvPr id="7" name="图片 6">
            <a:extLst>
              <a:ext uri="{FF2B5EF4-FFF2-40B4-BE49-F238E27FC236}">
                <a16:creationId xmlns:a16="http://schemas.microsoft.com/office/drawing/2014/main" id="{1C760C06-96F5-88BB-41B3-A6D8DD315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7750" y="903783"/>
            <a:ext cx="6824250" cy="4094549"/>
          </a:xfrm>
          <a:prstGeom prst="rect">
            <a:avLst/>
          </a:prstGeom>
        </p:spPr>
      </p:pic>
    </p:spTree>
    <p:extLst>
      <p:ext uri="{BB962C8B-B14F-4D97-AF65-F5344CB8AC3E}">
        <p14:creationId xmlns:p14="http://schemas.microsoft.com/office/powerpoint/2010/main" val="389423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9F15C6E-D02A-D327-33C8-125AE966BE62}"/>
              </a:ext>
            </a:extLst>
          </p:cNvPr>
          <p:cNvSpPr txBox="1"/>
          <p:nvPr/>
        </p:nvSpPr>
        <p:spPr>
          <a:xfrm>
            <a:off x="441858" y="454132"/>
            <a:ext cx="45719" cy="369332"/>
          </a:xfrm>
          <a:prstGeom prst="rect">
            <a:avLst/>
          </a:prstGeom>
          <a:noFill/>
        </p:spPr>
        <p:txBody>
          <a:bodyPr wrap="square" rtlCol="0">
            <a:spAutoFit/>
          </a:bodyPr>
          <a:lstStyle/>
          <a:p>
            <a:endParaRPr lang="zh-CN" altLang="en-US" dirty="0"/>
          </a:p>
        </p:txBody>
      </p:sp>
      <p:sp>
        <p:nvSpPr>
          <p:cNvPr id="5" name="文本框 4">
            <a:extLst>
              <a:ext uri="{FF2B5EF4-FFF2-40B4-BE49-F238E27FC236}">
                <a16:creationId xmlns:a16="http://schemas.microsoft.com/office/drawing/2014/main" id="{DA823F34-3CCF-D176-06D7-F537B3F60B0B}"/>
              </a:ext>
            </a:extLst>
          </p:cNvPr>
          <p:cNvSpPr txBox="1"/>
          <p:nvPr/>
        </p:nvSpPr>
        <p:spPr>
          <a:xfrm>
            <a:off x="706670" y="411183"/>
            <a:ext cx="5519460" cy="584775"/>
          </a:xfrm>
          <a:prstGeom prst="rect">
            <a:avLst/>
          </a:prstGeom>
          <a:noFill/>
        </p:spPr>
        <p:txBody>
          <a:bodyPr wrap="none" rtlCol="0">
            <a:spAutoFit/>
          </a:bodyPr>
          <a:lstStyle/>
          <a:p>
            <a:r>
              <a:rPr lang="zh-CN" altLang="zh-CN" sz="3200" b="1" dirty="0"/>
              <a:t>核心创新：四大底层突围方向</a:t>
            </a:r>
          </a:p>
        </p:txBody>
      </p:sp>
      <p:sp>
        <p:nvSpPr>
          <p:cNvPr id="6" name="文本框 5">
            <a:extLst>
              <a:ext uri="{FF2B5EF4-FFF2-40B4-BE49-F238E27FC236}">
                <a16:creationId xmlns:a16="http://schemas.microsoft.com/office/drawing/2014/main" id="{6FD363F2-8DA7-2A38-F85D-98E8C2D18722}"/>
              </a:ext>
            </a:extLst>
          </p:cNvPr>
          <p:cNvSpPr txBox="1"/>
          <p:nvPr/>
        </p:nvSpPr>
        <p:spPr>
          <a:xfrm>
            <a:off x="441858" y="1417626"/>
            <a:ext cx="2808560" cy="2308324"/>
          </a:xfrm>
          <a:prstGeom prst="rect">
            <a:avLst/>
          </a:prstGeom>
          <a:noFill/>
        </p:spPr>
        <p:txBody>
          <a:bodyPr wrap="square" rtlCol="0">
            <a:spAutoFit/>
          </a:bodyPr>
          <a:lstStyle/>
          <a:p>
            <a:r>
              <a:rPr lang="zh-CN" altLang="zh-CN" b="1" dirty="0"/>
              <a:t>1.物理噪声训练</a:t>
            </a:r>
          </a:p>
          <a:p>
            <a:r>
              <a:rPr lang="zh-CN" altLang="zh-CN" dirty="0"/>
              <a:t>将逆向测得的 </a:t>
            </a:r>
            <a:r>
              <a:rPr lang="zh-CN" altLang="zh-CN" b="1" dirty="0"/>
              <a:t>DAC 7.5-bit 量化噪声</a:t>
            </a:r>
            <a:r>
              <a:rPr lang="zh-CN" altLang="zh-CN" dirty="0"/>
              <a:t>与 </a:t>
            </a:r>
            <a:r>
              <a:rPr lang="zh-CN" altLang="zh-CN" b="1" dirty="0"/>
              <a:t>TIA 加性高斯噪声</a:t>
            </a:r>
            <a:r>
              <a:rPr lang="zh-CN" altLang="zh-CN" dirty="0"/>
              <a:t>精确写入QAT前向传播。</a:t>
            </a:r>
          </a:p>
          <a:p>
            <a:r>
              <a:rPr lang="zh-CN" altLang="zh-CN" b="1" dirty="0"/>
              <a:t>核心成果：</a:t>
            </a:r>
            <a:r>
              <a:rPr lang="zh-CN" altLang="zh-CN" dirty="0"/>
              <a:t>物理仿真噪声与真机完全弥合，推理 Gap 锁死在 </a:t>
            </a:r>
            <a:r>
              <a:rPr lang="zh-CN" altLang="zh-CN" b="1" dirty="0"/>
              <a:t>~1.6%</a:t>
            </a:r>
            <a:r>
              <a:rPr lang="zh-CN" altLang="zh-CN" dirty="0"/>
              <a:t> 以内。</a:t>
            </a:r>
            <a:endParaRPr lang="zh-CN" altLang="en-US" dirty="0"/>
          </a:p>
        </p:txBody>
      </p:sp>
      <p:sp>
        <p:nvSpPr>
          <p:cNvPr id="9" name="文本框 8">
            <a:extLst>
              <a:ext uri="{FF2B5EF4-FFF2-40B4-BE49-F238E27FC236}">
                <a16:creationId xmlns:a16="http://schemas.microsoft.com/office/drawing/2014/main" id="{78FF91B1-DE3B-A20C-453A-B9D2990B986E}"/>
              </a:ext>
            </a:extLst>
          </p:cNvPr>
          <p:cNvSpPr txBox="1"/>
          <p:nvPr/>
        </p:nvSpPr>
        <p:spPr>
          <a:xfrm>
            <a:off x="3296138" y="1368531"/>
            <a:ext cx="2449721" cy="2862322"/>
          </a:xfrm>
          <a:prstGeom prst="rect">
            <a:avLst/>
          </a:prstGeom>
          <a:noFill/>
        </p:spPr>
        <p:txBody>
          <a:bodyPr wrap="square" rtlCol="0">
            <a:spAutoFit/>
          </a:bodyPr>
          <a:lstStyle/>
          <a:p>
            <a:r>
              <a:rPr lang="zh-CN" altLang="zh-CN" b="1" dirty="0"/>
              <a:t>2.首层异构计算</a:t>
            </a:r>
          </a:p>
          <a:p>
            <a:r>
              <a:rPr lang="zh-CN" altLang="zh-CN" dirty="0"/>
              <a:t>首层 3 通道卷积由于宽度未对齐 8×2，强制执行电算（FP32/FPGA），避免 62.5% 的空算开销。</a:t>
            </a:r>
          </a:p>
          <a:p>
            <a:r>
              <a:rPr lang="zh-CN" altLang="zh-CN" b="1" dirty="0"/>
              <a:t>核心成果：</a:t>
            </a:r>
            <a:r>
              <a:rPr lang="zh-CN" altLang="zh-CN" dirty="0"/>
              <a:t>杜绝因零填充噪声对 BN 推理均值/方差产生的系统性统计偏移</a:t>
            </a:r>
            <a:r>
              <a:rPr lang="zh-CN" altLang="en-US" dirty="0"/>
              <a:t>。</a:t>
            </a:r>
          </a:p>
        </p:txBody>
      </p:sp>
      <p:sp>
        <p:nvSpPr>
          <p:cNvPr id="10" name="文本框 9">
            <a:extLst>
              <a:ext uri="{FF2B5EF4-FFF2-40B4-BE49-F238E27FC236}">
                <a16:creationId xmlns:a16="http://schemas.microsoft.com/office/drawing/2014/main" id="{C09DA7C8-1AEF-B1EF-9120-3619FDFCCDBF}"/>
              </a:ext>
            </a:extLst>
          </p:cNvPr>
          <p:cNvSpPr txBox="1"/>
          <p:nvPr/>
        </p:nvSpPr>
        <p:spPr>
          <a:xfrm>
            <a:off x="6001901" y="1417626"/>
            <a:ext cx="2258384" cy="3139321"/>
          </a:xfrm>
          <a:prstGeom prst="rect">
            <a:avLst/>
          </a:prstGeom>
          <a:noFill/>
        </p:spPr>
        <p:txBody>
          <a:bodyPr wrap="square" rtlCol="0">
            <a:spAutoFit/>
          </a:bodyPr>
          <a:lstStyle/>
          <a:p>
            <a:r>
              <a:rPr lang="zh-CN" altLang="zh-CN" b="1" dirty="0"/>
              <a:t>3. INT8 全程对齐</a:t>
            </a:r>
          </a:p>
          <a:p>
            <a:r>
              <a:rPr lang="zh-CN" altLang="zh-CN" dirty="0"/>
              <a:t>摈弃离线 INT4 映射 INT8 方案。因 Scale 缩放尺度根本不对齐，该映射会产生约 6% 无法消除的系统截断损失。</a:t>
            </a:r>
          </a:p>
          <a:p>
            <a:r>
              <a:rPr lang="zh-CN" altLang="zh-CN" b="1" dirty="0"/>
              <a:t>核心成果：</a:t>
            </a:r>
            <a:r>
              <a:rPr lang="zh-CN" altLang="zh-CN" dirty="0"/>
              <a:t>直接在 INT8 原生量化网格下训练，学出最佳量化分阶（LSQ+）。</a:t>
            </a:r>
            <a:endParaRPr lang="zh-CN" altLang="en-US" dirty="0"/>
          </a:p>
        </p:txBody>
      </p:sp>
      <p:sp>
        <p:nvSpPr>
          <p:cNvPr id="11" name="文本框 10">
            <a:extLst>
              <a:ext uri="{FF2B5EF4-FFF2-40B4-BE49-F238E27FC236}">
                <a16:creationId xmlns:a16="http://schemas.microsoft.com/office/drawing/2014/main" id="{1C92EDE1-1EF5-AF90-48B0-28DEE53565BE}"/>
              </a:ext>
            </a:extLst>
          </p:cNvPr>
          <p:cNvSpPr txBox="1"/>
          <p:nvPr/>
        </p:nvSpPr>
        <p:spPr>
          <a:xfrm>
            <a:off x="8677596" y="1417626"/>
            <a:ext cx="2548374" cy="3139321"/>
          </a:xfrm>
          <a:prstGeom prst="rect">
            <a:avLst/>
          </a:prstGeom>
          <a:noFill/>
        </p:spPr>
        <p:txBody>
          <a:bodyPr wrap="square" rtlCol="0">
            <a:spAutoFit/>
          </a:bodyPr>
          <a:lstStyle/>
          <a:p>
            <a:r>
              <a:rPr lang="zh-CN" altLang="zh-CN" b="1" dirty="0"/>
              <a:t>4.硬件感知结构</a:t>
            </a:r>
          </a:p>
          <a:p>
            <a:r>
              <a:rPr lang="zh-CN" altLang="zh-CN" dirty="0"/>
              <a:t>基于自研 </a:t>
            </a:r>
            <a:r>
              <a:rPr lang="zh-CN" altLang="zh-CN" b="1" dirty="0"/>
              <a:t>2×2 核心卷积</a:t>
            </a:r>
            <a:r>
              <a:rPr lang="zh-CN" altLang="zh-CN" dirty="0"/>
              <a:t> 替代标准 3×3，使后向 im2col 矩阵展平层无条件整除 8×2 的基座硬件。</a:t>
            </a:r>
            <a:endParaRPr lang="en-US" altLang="zh-CN" dirty="0"/>
          </a:p>
          <a:p>
            <a:r>
              <a:rPr lang="zh-CN" altLang="zh-CN" b="1" dirty="0"/>
              <a:t>核心成果：</a:t>
            </a:r>
            <a:r>
              <a:rPr lang="zh-CN" altLang="zh-CN" dirty="0"/>
              <a:t>硬件综合利用率高达 </a:t>
            </a:r>
            <a:r>
              <a:rPr lang="zh-CN" altLang="zh-CN" b="1" dirty="0"/>
              <a:t>99.6%</a:t>
            </a:r>
            <a:r>
              <a:rPr lang="zh-CN" altLang="zh-CN" dirty="0"/>
              <a:t>，补零浪费清零，名义算力等同于绝对吞吐量。</a:t>
            </a:r>
          </a:p>
          <a:p>
            <a:endParaRPr lang="zh-CN" altLang="en-US" dirty="0"/>
          </a:p>
        </p:txBody>
      </p:sp>
      <p:sp>
        <p:nvSpPr>
          <p:cNvPr id="12" name="文本框 11">
            <a:extLst>
              <a:ext uri="{FF2B5EF4-FFF2-40B4-BE49-F238E27FC236}">
                <a16:creationId xmlns:a16="http://schemas.microsoft.com/office/drawing/2014/main" id="{C9D5392E-147C-AA9F-ADF0-CC262152039F}"/>
              </a:ext>
            </a:extLst>
          </p:cNvPr>
          <p:cNvSpPr txBox="1"/>
          <p:nvPr/>
        </p:nvSpPr>
        <p:spPr>
          <a:xfrm>
            <a:off x="3296138" y="4750805"/>
            <a:ext cx="4735592" cy="1477328"/>
          </a:xfrm>
          <a:prstGeom prst="rect">
            <a:avLst/>
          </a:prstGeom>
          <a:noFill/>
        </p:spPr>
        <p:txBody>
          <a:bodyPr wrap="none" rtlCol="0">
            <a:spAutoFit/>
          </a:bodyPr>
          <a:lstStyle/>
          <a:p>
            <a:r>
              <a:rPr lang="zh-CN" altLang="zh-CN" b="1" dirty="0"/>
              <a:t>训练端 ↔ 物理真机推理端 一致性对齐断言</a:t>
            </a:r>
            <a:endParaRPr lang="zh-CN" altLang="zh-CN" dirty="0"/>
          </a:p>
          <a:p>
            <a:r>
              <a:rPr lang="zh-CN" altLang="zh-CN" dirty="0"/>
              <a:t>首层电算：first_conv_fp32 </a:t>
            </a:r>
            <a:r>
              <a:rPr lang="zh-CN" altLang="zh-CN" b="1" dirty="0"/>
              <a:t>✓ 完全对齐</a:t>
            </a:r>
            <a:endParaRPr lang="en-US" altLang="zh-CN" b="1" dirty="0"/>
          </a:p>
          <a:p>
            <a:r>
              <a:rPr lang="zh-CN" altLang="zh-CN" dirty="0"/>
              <a:t>权重位宽：8a8w 物理原生定标 </a:t>
            </a:r>
            <a:r>
              <a:rPr lang="zh-CN" altLang="zh-CN" b="1" dirty="0"/>
              <a:t>✓ 完全对齐</a:t>
            </a:r>
            <a:endParaRPr lang="en-US" altLang="zh-CN" b="1" dirty="0"/>
          </a:p>
          <a:p>
            <a:r>
              <a:rPr lang="zh-CN" altLang="zh-CN" dirty="0"/>
              <a:t>噪声模型：ENOB 7.5x + TIA 建模 </a:t>
            </a:r>
            <a:r>
              <a:rPr lang="zh-CN" altLang="zh-CN" b="1" dirty="0"/>
              <a:t>✓ 完全对齐</a:t>
            </a:r>
            <a:endParaRPr lang="zh-CN" altLang="zh-CN" dirty="0"/>
          </a:p>
          <a:p>
            <a:endParaRPr lang="zh-CN" altLang="en-US" dirty="0"/>
          </a:p>
        </p:txBody>
      </p:sp>
      <p:pic>
        <p:nvPicPr>
          <p:cNvPr id="14" name="图片 13">
            <a:extLst>
              <a:ext uri="{FF2B5EF4-FFF2-40B4-BE49-F238E27FC236}">
                <a16:creationId xmlns:a16="http://schemas.microsoft.com/office/drawing/2014/main" id="{6DEAF0D8-9496-84C1-3A7E-57378B7F4619}"/>
              </a:ext>
            </a:extLst>
          </p:cNvPr>
          <p:cNvPicPr>
            <a:picLocks noChangeAspect="1"/>
          </p:cNvPicPr>
          <p:nvPr/>
        </p:nvPicPr>
        <p:blipFill>
          <a:blip r:embed="rId2">
            <a:clrChange>
              <a:clrFrom>
                <a:srgbClr val="F9FAF8"/>
              </a:clrFrom>
              <a:clrTo>
                <a:srgbClr val="F9FAF8">
                  <a:alpha val="0"/>
                </a:srgbClr>
              </a:clrTo>
            </a:clrChange>
          </a:blip>
          <a:stretch>
            <a:fillRect/>
          </a:stretch>
        </p:blipFill>
        <p:spPr>
          <a:xfrm>
            <a:off x="571567" y="3947273"/>
            <a:ext cx="2596550" cy="2280860"/>
          </a:xfrm>
          <a:prstGeom prst="rect">
            <a:avLst/>
          </a:prstGeom>
        </p:spPr>
      </p:pic>
    </p:spTree>
    <p:extLst>
      <p:ext uri="{BB962C8B-B14F-4D97-AF65-F5344CB8AC3E}">
        <p14:creationId xmlns:p14="http://schemas.microsoft.com/office/powerpoint/2010/main" val="486734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1212408-5829-108D-2DFE-6B359E30DE02}"/>
              </a:ext>
            </a:extLst>
          </p:cNvPr>
          <p:cNvSpPr txBox="1"/>
          <p:nvPr/>
        </p:nvSpPr>
        <p:spPr>
          <a:xfrm>
            <a:off x="282298" y="165697"/>
            <a:ext cx="7939994" cy="584775"/>
          </a:xfrm>
          <a:prstGeom prst="rect">
            <a:avLst/>
          </a:prstGeom>
          <a:noFill/>
        </p:spPr>
        <p:txBody>
          <a:bodyPr wrap="none" rtlCol="0">
            <a:spAutoFit/>
          </a:bodyPr>
          <a:lstStyle/>
          <a:p>
            <a:r>
              <a:rPr lang="zh-CN" altLang="zh-CN" sz="3200" b="1" dirty="0"/>
              <a:t>QAT 技术纵深：STE直通与 LSQ+ 混合配方</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C6F26ED7-B856-6DF8-2B97-34E403AD5186}"/>
                  </a:ext>
                </a:extLst>
              </p:cNvPr>
              <p:cNvSpPr txBox="1"/>
              <p:nvPr/>
            </p:nvSpPr>
            <p:spPr>
              <a:xfrm>
                <a:off x="552322" y="1371600"/>
                <a:ext cx="5543678" cy="4502451"/>
              </a:xfrm>
              <a:prstGeom prst="rect">
                <a:avLst/>
              </a:prstGeom>
              <a:noFill/>
            </p:spPr>
            <p:txBody>
              <a:bodyPr wrap="square" rtlCol="0">
                <a:spAutoFit/>
              </a:bodyPr>
              <a:lstStyle/>
              <a:p>
                <a:r>
                  <a:rPr lang="zh-CN" altLang="zh-CN" b="1" dirty="0"/>
                  <a:t>量化反向传播梯度：STE &amp; LSQ+ 联合调优</a:t>
                </a:r>
              </a:p>
              <a:p>
                <a:r>
                  <a:rPr lang="zh-CN" altLang="zh-CN" dirty="0"/>
                  <a:t>经典取整截断函数 round() / clamp() 几乎处处梯度为 0，反传极易导致梯度崩塌。我们精妙融合两种数学近似：</a:t>
                </a:r>
              </a:p>
              <a:p>
                <a:r>
                  <a:rPr lang="zh-CN" altLang="zh-CN" b="1" dirty="0"/>
                  <a:t>1. 激活层：STE (直通估计器) 动态 Scale 适配</a:t>
                </a:r>
                <a:endParaRPr lang="zh-CN" altLang="zh-CN" dirty="0"/>
              </a:p>
              <a:p>
                <a14:m>
                  <m:oMathPara xmlns:m="http://schemas.openxmlformats.org/officeDocument/2006/math">
                    <m:oMathParaPr>
                      <m:jc m:val="centerGroup"/>
                    </m:oMathParaPr>
                    <m:oMath xmlns:m="http://schemas.openxmlformats.org/officeDocument/2006/math">
                      <m:r>
                        <a:rPr lang="zh-CN" altLang="en-US" i="1"/>
                        <m:t>𝑠</m:t>
                      </m:r>
                      <m:r>
                        <a:rPr lang="en-US" altLang="zh-CN"/>
                        <m:t>=</m:t>
                      </m:r>
                      <m:f>
                        <m:fPr>
                          <m:ctrlPr>
                            <a:rPr lang="zh-CN" altLang="en-US" i="1"/>
                          </m:ctrlPr>
                        </m:fPr>
                        <m:num>
                          <m:sSub>
                            <m:sSubPr>
                              <m:ctrlPr>
                                <a:rPr lang="zh-CN" altLang="en-US" i="1"/>
                              </m:ctrlPr>
                            </m:sSubPr>
                            <m:e>
                              <m:r>
                                <a:rPr lang="zh-CN" altLang="en-US" i="1"/>
                                <m:t>𝑥</m:t>
                              </m:r>
                            </m:e>
                            <m:sub>
                              <m:r>
                                <m:rPr>
                                  <m:sty m:val="p"/>
                                </m:rPr>
                                <a:rPr lang="en-US" altLang="zh-CN"/>
                                <m:t>max</m:t>
                              </m:r>
                            </m:sub>
                          </m:sSub>
                        </m:num>
                        <m:den>
                          <m:sSub>
                            <m:sSubPr>
                              <m:ctrlPr>
                                <a:rPr lang="zh-CN" altLang="en-US" i="1"/>
                              </m:ctrlPr>
                            </m:sSubPr>
                            <m:e>
                              <m:r>
                                <a:rPr lang="zh-CN" altLang="en-US" i="1"/>
                                <m:t>𝑞</m:t>
                              </m:r>
                            </m:e>
                            <m:sub>
                              <m:r>
                                <m:rPr>
                                  <m:sty m:val="p"/>
                                </m:rPr>
                                <a:rPr lang="en-US" altLang="zh-CN"/>
                                <m:t>max</m:t>
                              </m:r>
                            </m:sub>
                          </m:sSub>
                        </m:den>
                      </m:f>
                      <m:r>
                        <a:rPr lang="en-US" altLang="zh-CN"/>
                        <m:t>, </m:t>
                      </m:r>
                      <m:sSub>
                        <m:sSubPr>
                          <m:ctrlPr>
                            <a:rPr lang="zh-CN" altLang="en-US" i="1"/>
                          </m:ctrlPr>
                        </m:sSubPr>
                        <m:e>
                          <m:r>
                            <a:rPr lang="zh-CN" altLang="en-US" i="1"/>
                            <m:t>𝑥</m:t>
                          </m:r>
                        </m:e>
                        <m:sub>
                          <m:r>
                            <a:rPr lang="zh-CN" altLang="en-US" i="1"/>
                            <m:t>𝑞</m:t>
                          </m:r>
                        </m:sub>
                      </m:sSub>
                      <m:r>
                        <a:rPr lang="en-US" altLang="zh-CN"/>
                        <m:t>=</m:t>
                      </m:r>
                      <m:r>
                        <m:rPr>
                          <m:sty m:val="p"/>
                        </m:rPr>
                        <a:rPr lang="en-US" altLang="zh-CN"/>
                        <m:t>clamp</m:t>
                      </m:r>
                      <m:d>
                        <m:dPr>
                          <m:ctrlPr>
                            <a:rPr lang="zh-CN" altLang="en-US" i="1"/>
                          </m:ctrlPr>
                        </m:dPr>
                        <m:e>
                          <m:d>
                            <m:dPr>
                              <m:begChr m:val="⌊"/>
                              <m:endChr m:val="⌋"/>
                              <m:ctrlPr>
                                <a:rPr lang="zh-CN" altLang="en-US" i="1"/>
                              </m:ctrlPr>
                            </m:dPr>
                            <m:e>
                              <m:f>
                                <m:fPr>
                                  <m:ctrlPr>
                                    <a:rPr lang="zh-CN" altLang="en-US" i="1"/>
                                  </m:ctrlPr>
                                </m:fPr>
                                <m:num>
                                  <m:r>
                                    <a:rPr lang="zh-CN" altLang="en-US" i="1"/>
                                    <m:t>𝑥</m:t>
                                  </m:r>
                                </m:num>
                                <m:den>
                                  <m:r>
                                    <a:rPr lang="zh-CN" altLang="en-US" i="1"/>
                                    <m:t>𝑠</m:t>
                                  </m:r>
                                </m:den>
                              </m:f>
                            </m:e>
                          </m:d>
                          <m:r>
                            <a:rPr lang="en-US" altLang="zh-CN"/>
                            <m:t>,</m:t>
                          </m:r>
                          <m:sSub>
                            <m:sSubPr>
                              <m:ctrlPr>
                                <a:rPr lang="zh-CN" altLang="en-US" i="1"/>
                              </m:ctrlPr>
                            </m:sSubPr>
                            <m:e>
                              <m:r>
                                <a:rPr lang="zh-CN" altLang="en-US" i="1"/>
                                <m:t>𝑞</m:t>
                              </m:r>
                            </m:e>
                            <m:sub>
                              <m:r>
                                <m:rPr>
                                  <m:sty m:val="p"/>
                                </m:rPr>
                                <a:rPr lang="en-US" altLang="zh-CN"/>
                                <m:t>min</m:t>
                              </m:r>
                            </m:sub>
                          </m:sSub>
                          <m:r>
                            <a:rPr lang="en-US" altLang="zh-CN"/>
                            <m:t>,</m:t>
                          </m:r>
                          <m:sSub>
                            <m:sSubPr>
                              <m:ctrlPr>
                                <a:rPr lang="zh-CN" altLang="en-US" i="1"/>
                              </m:ctrlPr>
                            </m:sSubPr>
                            <m:e>
                              <m:r>
                                <a:rPr lang="zh-CN" altLang="en-US" i="1"/>
                                <m:t>𝑞</m:t>
                              </m:r>
                            </m:e>
                            <m:sub>
                              <m:r>
                                <m:rPr>
                                  <m:sty m:val="p"/>
                                </m:rPr>
                                <a:rPr lang="en-US" altLang="zh-CN"/>
                                <m:t>max</m:t>
                              </m:r>
                            </m:sub>
                          </m:sSub>
                        </m:e>
                      </m:d>
                    </m:oMath>
                  </m:oMathPara>
                </a14:m>
                <a:endParaRPr lang="zh-CN" altLang="zh-CN" dirty="0"/>
              </a:p>
              <a:p>
                <a:r>
                  <a:rPr lang="zh-CN" altLang="zh-CN" dirty="0"/>
                  <a:t>反向对量化层假定为恒等映射。动态 Scale 在激活层剧烈波动时具有强鲁棒性。</a:t>
                </a:r>
              </a:p>
              <a:p>
                <a:r>
                  <a:rPr lang="zh-CN" altLang="zh-CN" b="1" dirty="0"/>
                  <a:t>2. 权重层：LSQ+ 可学习步长 (Learned Step Size)</a:t>
                </a:r>
                <a:endParaRPr lang="en-US" altLang="zh-CN" b="1" dirty="0"/>
              </a:p>
              <a:p>
                <a:endParaRPr lang="zh-CN" altLang="zh-CN" dirty="0"/>
              </a:p>
              <a:p>
                <a14:m>
                  <m:oMathPara xmlns:m="http://schemas.openxmlformats.org/officeDocument/2006/math">
                    <m:oMathParaPr>
                      <m:jc m:val="centerGroup"/>
                    </m:oMathParaPr>
                    <m:oMath xmlns:m="http://schemas.openxmlformats.org/officeDocument/2006/math">
                      <m:r>
                        <m:rPr>
                          <m:nor/>
                        </m:rPr>
                        <a:rPr lang="en-US" altLang="zh-CN"/>
                        <m:t>xdq</m:t>
                      </m:r>
                      <m:r>
                        <m:rPr>
                          <m:nor/>
                        </m:rPr>
                        <a:rPr lang="en-US" altLang="zh-CN"/>
                        <m:t>=</m:t>
                      </m:r>
                      <m:r>
                        <m:rPr>
                          <m:nor/>
                        </m:rPr>
                        <a:rPr lang="en-US" altLang="zh-CN"/>
                        <m:t>clampxs</m:t>
                      </m:r>
                      <m:r>
                        <m:rPr>
                          <m:nor/>
                        </m:rPr>
                        <a:rPr lang="en-US" altLang="zh-CN"/>
                        <m:t>+</m:t>
                      </m:r>
                      <m:r>
                        <m:rPr>
                          <m:nor/>
                        </m:rPr>
                        <a:rPr lang="en-US" altLang="zh-CN"/>
                        <m:t>z</m:t>
                      </m:r>
                      <m:r>
                        <m:rPr>
                          <m:nor/>
                        </m:rPr>
                        <a:rPr lang="en-US" altLang="zh-CN"/>
                        <m:t>,</m:t>
                      </m:r>
                      <m:r>
                        <m:rPr>
                          <m:nor/>
                        </m:rPr>
                        <a:rPr lang="en-US" altLang="zh-CN"/>
                        <m:t>qmin</m:t>
                      </m:r>
                      <m:r>
                        <m:rPr>
                          <m:nor/>
                        </m:rPr>
                        <a:rPr lang="en-US" altLang="zh-CN"/>
                        <m:t>,</m:t>
                      </m:r>
                      <m:r>
                        <m:rPr>
                          <m:nor/>
                        </m:rPr>
                        <a:rPr lang="en-US" altLang="zh-CN"/>
                        <m:t>qmax</m:t>
                      </m:r>
                      <m:r>
                        <m:rPr>
                          <m:nor/>
                        </m:rPr>
                        <a:rPr lang="en-US" altLang="zh-CN"/>
                        <m:t>-</m:t>
                      </m:r>
                      <m:r>
                        <m:rPr>
                          <m:nor/>
                        </m:rPr>
                        <a:rPr lang="en-US" altLang="zh-CN"/>
                        <m:t>z</m:t>
                      </m:r>
                      <m:r>
                        <m:rPr>
                          <m:nor/>
                        </m:rPr>
                        <a:rPr lang="en-US" altLang="zh-CN"/>
                        <m:t>×</m:t>
                      </m:r>
                      <m:r>
                        <m:rPr>
                          <m:nor/>
                        </m:rPr>
                        <a:rPr lang="en-US" altLang="zh-CN"/>
                        <m:t>s</m:t>
                      </m:r>
                    </m:oMath>
                  </m:oMathPara>
                </a14:m>
                <a:endParaRPr lang="en-US" altLang="zh-CN" dirty="0"/>
              </a:p>
              <a:p>
                <a:r>
                  <a:rPr lang="zh-CN" altLang="zh-CN" dirty="0"/>
                  <a:t>将量化尺度 s 与偏移 z 改写为可学习张量（分配 0.1× base_lr），通过偏导精细调节边界：权重缓慢变化，可学出全局最优分辨率。</a:t>
                </a:r>
              </a:p>
              <a:p>
                <a:endParaRPr lang="zh-CN" altLang="en-US" dirty="0"/>
              </a:p>
            </p:txBody>
          </p:sp>
        </mc:Choice>
        <mc:Fallback>
          <p:sp>
            <p:nvSpPr>
              <p:cNvPr id="5" name="文本框 4">
                <a:extLst>
                  <a:ext uri="{FF2B5EF4-FFF2-40B4-BE49-F238E27FC236}">
                    <a16:creationId xmlns:a16="http://schemas.microsoft.com/office/drawing/2014/main" id="{C6F26ED7-B856-6DF8-2B97-34E403AD5186}"/>
                  </a:ext>
                </a:extLst>
              </p:cNvPr>
              <p:cNvSpPr txBox="1">
                <a:spLocks noRot="1" noChangeAspect="1" noMove="1" noResize="1" noEditPoints="1" noAdjustHandles="1" noChangeArrowheads="1" noChangeShapeType="1" noTextEdit="1"/>
              </p:cNvSpPr>
              <p:nvPr/>
            </p:nvSpPr>
            <p:spPr>
              <a:xfrm>
                <a:off x="552322" y="1371600"/>
                <a:ext cx="5543678" cy="4502451"/>
              </a:xfrm>
              <a:prstGeom prst="rect">
                <a:avLst/>
              </a:prstGeom>
              <a:blipFill>
                <a:blip r:embed="rId2"/>
                <a:stretch>
                  <a:fillRect l="-990" t="-6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BF12FA29-F761-284F-0F7B-77902AF2E5E9}"/>
                  </a:ext>
                </a:extLst>
              </p:cNvPr>
              <p:cNvSpPr txBox="1"/>
              <p:nvPr/>
            </p:nvSpPr>
            <p:spPr>
              <a:xfrm>
                <a:off x="6419477" y="1215110"/>
                <a:ext cx="5038139" cy="4737520"/>
              </a:xfrm>
              <a:prstGeom prst="rect">
                <a:avLst/>
              </a:prstGeom>
              <a:noFill/>
            </p:spPr>
            <p:txBody>
              <a:bodyPr wrap="square" rtlCol="0">
                <a:spAutoFit/>
              </a:bodyPr>
              <a:lstStyle/>
              <a:p>
                <a:r>
                  <a:rPr lang="zh-CN" altLang="zh-CN" b="1" dirty="0"/>
                  <a:t>物理仿真噪声注入机制 (GazelleNoiseInjector)</a:t>
                </a:r>
              </a:p>
              <a:p>
                <a:r>
                  <a:rPr lang="zh-CN" altLang="zh-CN" dirty="0"/>
                  <a:t>我们将底层物理器件噪声完全公式化并熔接进深度学习前向推理流程中：</a:t>
                </a:r>
              </a:p>
              <a:p>
                <a:r>
                  <a:rPr lang="zh-CN" altLang="zh-CN" b="1" dirty="0"/>
                  <a:t> 噪声链路全景描述：</a:t>
                </a:r>
                <a:br>
                  <a:rPr lang="zh-CN" altLang="zh-CN" dirty="0"/>
                </a:br>
                <a:r>
                  <a:rPr lang="zh-CN" altLang="zh-CN" dirty="0"/>
                  <a:t>• </a:t>
                </a:r>
                <a:r>
                  <a:rPr lang="zh-CN" altLang="zh-CN" b="1" dirty="0"/>
                  <a:t>输入端 (DAC 量化噪声)：</a:t>
                </a:r>
                <a:br>
                  <a:rPr lang="zh-CN" altLang="zh-CN" dirty="0"/>
                </a:br>
                <a14:m>
                  <m:oMath xmlns:m="http://schemas.openxmlformats.org/officeDocument/2006/math">
                    <m:sSub>
                      <m:sSubPr>
                        <m:ctrlPr>
                          <a:rPr lang="zh-CN" altLang="en-US"/>
                        </m:ctrlPr>
                      </m:sSubPr>
                      <m:e>
                        <m:r>
                          <a:rPr lang="zh-CN" altLang="en-US" i="1"/>
                          <m:t>𝜎</m:t>
                        </m:r>
                      </m:e>
                      <m:sub>
                        <m:r>
                          <m:rPr>
                            <m:sty m:val="p"/>
                          </m:rPr>
                          <a:rPr lang="en-US" altLang="zh-CN"/>
                          <m:t>DAC</m:t>
                        </m:r>
                      </m:sub>
                    </m:sSub>
                    <m:r>
                      <a:rPr lang="en-US" altLang="zh-CN"/>
                      <m:t>=</m:t>
                    </m:r>
                    <m:f>
                      <m:fPr>
                        <m:ctrlPr>
                          <a:rPr lang="zh-CN" altLang="en-US" i="1"/>
                        </m:ctrlPr>
                      </m:fPr>
                      <m:num>
                        <m:r>
                          <a:rPr lang="en-US" altLang="zh-CN"/>
                          <m:t>1</m:t>
                        </m:r>
                      </m:num>
                      <m:den>
                        <m:sSup>
                          <m:sSupPr>
                            <m:ctrlPr>
                              <a:rPr lang="zh-CN" altLang="en-US" i="1"/>
                            </m:ctrlPr>
                          </m:sSupPr>
                          <m:e>
                            <m:r>
                              <a:rPr lang="en-US" altLang="zh-CN"/>
                              <m:t>2</m:t>
                            </m:r>
                          </m:e>
                          <m:sup>
                            <m:r>
                              <a:rPr lang="en-US" altLang="zh-CN"/>
                              <m:t>7.5</m:t>
                            </m:r>
                          </m:sup>
                        </m:sSup>
                        <m:rad>
                          <m:radPr>
                            <m:degHide m:val="on"/>
                            <m:ctrlPr>
                              <a:rPr lang="zh-CN" altLang="en-US" i="1"/>
                            </m:ctrlPr>
                          </m:radPr>
                          <m:deg/>
                          <m:e>
                            <m:r>
                              <a:rPr lang="en-US" altLang="zh-CN"/>
                              <m:t>12</m:t>
                            </m:r>
                          </m:e>
                        </m:rad>
                      </m:den>
                    </m:f>
                    <m:r>
                      <a:rPr lang="en-US" altLang="zh-CN"/>
                      <m:t>×</m:t>
                    </m:r>
                    <m:r>
                      <m:rPr>
                        <m:sty m:val="p"/>
                      </m:rPr>
                      <a:rPr lang="en-US" altLang="zh-CN"/>
                      <m:t>Scale</m:t>
                    </m:r>
                    <m:r>
                      <a:rPr lang="en-US" altLang="zh-CN"/>
                      <m:t>≈0.0016×</m:t>
                    </m:r>
                    <m:r>
                      <m:rPr>
                        <m:sty m:val="p"/>
                      </m:rPr>
                      <a:rPr lang="en-US" altLang="zh-CN"/>
                      <m:t>Scale</m:t>
                    </m:r>
                  </m:oMath>
                </a14:m>
                <a:r>
                  <a:rPr lang="zh-CN" altLang="zh-CN" dirty="0"/>
                  <a:t> （比早期盲目注入的 0.02*scale 噪声低 12 倍）</a:t>
                </a:r>
                <a:br>
                  <a:rPr lang="zh-CN" altLang="zh-CN" dirty="0"/>
                </a:br>
                <a:r>
                  <a:rPr lang="zh-CN" altLang="zh-CN" dirty="0"/>
                  <a:t>• </a:t>
                </a:r>
                <a:r>
                  <a:rPr lang="zh-CN" altLang="zh-CN" b="1" dirty="0"/>
                  <a:t>核心端 (TIA 模拟高斯噪声)：</a:t>
                </a:r>
                <a:r>
                  <a:rPr lang="zh-CN" altLang="zh-CN" dirty="0"/>
                  <a:t>加性白噪声 </a:t>
                </a:r>
                <a14:m>
                  <m:oMath xmlns:m="http://schemas.openxmlformats.org/officeDocument/2006/math">
                    <m:r>
                      <a:rPr lang="zh-CN" altLang="en-US" i="1"/>
                      <m:t>𝜎</m:t>
                    </m:r>
                    <m:r>
                      <a:rPr lang="en-US" altLang="zh-CN"/>
                      <m:t>=5.34</m:t>
                    </m:r>
                    <m:r>
                      <m:rPr>
                        <m:sty m:val="p"/>
                      </m:rPr>
                      <a:rPr lang="en-US" altLang="zh-CN"/>
                      <m:t>e</m:t>
                    </m:r>
                    <m:r>
                      <a:rPr lang="en-US" altLang="zh-CN"/>
                      <m:t>−4</m:t>
                    </m:r>
                  </m:oMath>
                </a14:m>
                <a:br>
                  <a:rPr lang="zh-CN" altLang="zh-CN" dirty="0"/>
                </a:br>
                <a:r>
                  <a:rPr lang="zh-CN" altLang="zh-CN" dirty="0"/>
                  <a:t>• </a:t>
                </a:r>
                <a:r>
                  <a:rPr lang="zh-CN" altLang="zh-CN" b="1" dirty="0"/>
                  <a:t>输出端 (ADC 量化截断)：</a:t>
                </a:r>
                <a:r>
                  <a:rPr lang="zh-CN" altLang="zh-CN" dirty="0"/>
                  <a:t>12-bit 分辨率等效截断</a:t>
                </a:r>
              </a:p>
              <a:p>
                <a:r>
                  <a:rPr lang="zh-CN" altLang="zh-CN" dirty="0"/>
                  <a:t> </a:t>
                </a:r>
                <a:r>
                  <a:rPr lang="zh-CN" altLang="zh-CN" b="1" dirty="0"/>
                  <a:t>实测效果：</a:t>
                </a:r>
                <a:r>
                  <a:rPr lang="zh-CN" altLang="zh-CN" dirty="0"/>
                  <a:t>通过对真实芯片 DAC 精度 (ENOB 7.5) 与 TIA 的严格标定，训练端概率分布与物理真机极其贴合，真机 gap 收敛至绝对理想范围（M2 1.63% / M3 1.55%）。</a:t>
                </a:r>
              </a:p>
              <a:p>
                <a:endParaRPr lang="zh-CN" altLang="en-US" dirty="0"/>
              </a:p>
            </p:txBody>
          </p:sp>
        </mc:Choice>
        <mc:Fallback>
          <p:sp>
            <p:nvSpPr>
              <p:cNvPr id="6" name="文本框 5">
                <a:extLst>
                  <a:ext uri="{FF2B5EF4-FFF2-40B4-BE49-F238E27FC236}">
                    <a16:creationId xmlns:a16="http://schemas.microsoft.com/office/drawing/2014/main" id="{BF12FA29-F761-284F-0F7B-77902AF2E5E9}"/>
                  </a:ext>
                </a:extLst>
              </p:cNvPr>
              <p:cNvSpPr txBox="1">
                <a:spLocks noRot="1" noChangeAspect="1" noMove="1" noResize="1" noEditPoints="1" noAdjustHandles="1" noChangeArrowheads="1" noChangeShapeType="1" noTextEdit="1"/>
              </p:cNvSpPr>
              <p:nvPr/>
            </p:nvSpPr>
            <p:spPr>
              <a:xfrm>
                <a:off x="6419477" y="1215110"/>
                <a:ext cx="5038139" cy="4737520"/>
              </a:xfrm>
              <a:prstGeom prst="rect">
                <a:avLst/>
              </a:prstGeom>
              <a:blipFill>
                <a:blip r:embed="rId3"/>
                <a:stretch>
                  <a:fillRect l="-967" t="-644" r="-2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319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3A2B0D8C-D177-81F2-D4FE-772E2B10254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5745B99-03C1-1C4D-7BD7-BECDA7BD98BB}"/>
              </a:ext>
            </a:extLst>
          </p:cNvPr>
          <p:cNvSpPr txBox="1"/>
          <p:nvPr/>
        </p:nvSpPr>
        <p:spPr>
          <a:xfrm>
            <a:off x="386625" y="28237"/>
            <a:ext cx="6750566" cy="584775"/>
          </a:xfrm>
          <a:prstGeom prst="rect">
            <a:avLst/>
          </a:prstGeom>
          <a:noFill/>
        </p:spPr>
        <p:txBody>
          <a:bodyPr wrap="none" rtlCol="0">
            <a:spAutoFit/>
          </a:bodyPr>
          <a:lstStyle/>
          <a:p>
            <a:r>
              <a:rPr lang="zh-CN" altLang="zh-CN" sz="3200" b="1" dirty="0"/>
              <a:t>自动闭环工具链：全流程端到端打通</a:t>
            </a:r>
          </a:p>
        </p:txBody>
      </p:sp>
      <p:sp>
        <p:nvSpPr>
          <p:cNvPr id="10" name="文本框 9">
            <a:extLst>
              <a:ext uri="{FF2B5EF4-FFF2-40B4-BE49-F238E27FC236}">
                <a16:creationId xmlns:a16="http://schemas.microsoft.com/office/drawing/2014/main" id="{E1607F38-6263-372A-9ACA-3DAFC3CE5CE3}"/>
              </a:ext>
            </a:extLst>
          </p:cNvPr>
          <p:cNvSpPr txBox="1"/>
          <p:nvPr/>
        </p:nvSpPr>
        <p:spPr>
          <a:xfrm>
            <a:off x="2186787" y="5539836"/>
            <a:ext cx="7217009" cy="930266"/>
          </a:xfrm>
          <a:prstGeom prst="rect">
            <a:avLst/>
          </a:prstGeom>
          <a:noFill/>
        </p:spPr>
        <p:txBody>
          <a:bodyPr wrap="square" rtlCol="0">
            <a:spAutoFit/>
          </a:bodyPr>
          <a:lstStyle/>
          <a:p>
            <a:r>
              <a:rPr lang="zh-CN" altLang="zh-CN" b="1" dirty="0"/>
              <a:t>工程代码量证明：</a:t>
            </a:r>
            <a:r>
              <a:rPr lang="zh-CN" altLang="zh-CN" dirty="0"/>
              <a:t> 系统化闭环。本项目自主设计了 </a:t>
            </a:r>
            <a:r>
              <a:rPr lang="zh-CN" altLang="zh-CN" b="1" dirty="0"/>
              <a:t>47 个 python 文件</a:t>
            </a:r>
            <a:r>
              <a:rPr lang="zh-CN" altLang="zh-CN" dirty="0"/>
              <a:t>（包括 core/qat/data/training/scripts 等分层结构），并稳定通过 11 个核心 QAT bug 的跟踪及修复，健壮性极高。</a:t>
            </a:r>
            <a:endParaRPr lang="zh-CN" altLang="en-US" dirty="0"/>
          </a:p>
        </p:txBody>
      </p:sp>
      <p:pic>
        <p:nvPicPr>
          <p:cNvPr id="16" name="图片 15">
            <a:extLst>
              <a:ext uri="{FF2B5EF4-FFF2-40B4-BE49-F238E27FC236}">
                <a16:creationId xmlns:a16="http://schemas.microsoft.com/office/drawing/2014/main" id="{073F4E9D-6C03-9BE3-71A8-33EF111B33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485" y="613012"/>
            <a:ext cx="11091247" cy="4926824"/>
          </a:xfrm>
          <a:prstGeom prst="rect">
            <a:avLst/>
          </a:prstGeom>
        </p:spPr>
      </p:pic>
    </p:spTree>
    <p:extLst>
      <p:ext uri="{BB962C8B-B14F-4D97-AF65-F5344CB8AC3E}">
        <p14:creationId xmlns:p14="http://schemas.microsoft.com/office/powerpoint/2010/main" val="387585994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2AAA8-19F0-2DF2-A9B0-CB22417C430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1BF0362-5E43-8D47-7640-ACC0706A7574}"/>
              </a:ext>
            </a:extLst>
          </p:cNvPr>
          <p:cNvSpPr txBox="1"/>
          <p:nvPr/>
        </p:nvSpPr>
        <p:spPr>
          <a:xfrm>
            <a:off x="405036" y="319119"/>
            <a:ext cx="6750566" cy="584775"/>
          </a:xfrm>
          <a:prstGeom prst="rect">
            <a:avLst/>
          </a:prstGeom>
          <a:noFill/>
        </p:spPr>
        <p:txBody>
          <a:bodyPr wrap="none" rtlCol="0">
            <a:spAutoFit/>
          </a:bodyPr>
          <a:lstStyle/>
          <a:p>
            <a:r>
              <a:rPr lang="zh-CN" altLang="zh-CN" sz="3200" b="1" dirty="0"/>
              <a:t>精度结果：量化无损与真机验证反超</a:t>
            </a:r>
          </a:p>
        </p:txBody>
      </p:sp>
      <p:sp>
        <p:nvSpPr>
          <p:cNvPr id="3" name="文本框 2">
            <a:extLst>
              <a:ext uri="{FF2B5EF4-FFF2-40B4-BE49-F238E27FC236}">
                <a16:creationId xmlns:a16="http://schemas.microsoft.com/office/drawing/2014/main" id="{BAFDD790-C434-BF33-2384-4625688EBE80}"/>
              </a:ext>
            </a:extLst>
          </p:cNvPr>
          <p:cNvSpPr txBox="1"/>
          <p:nvPr/>
        </p:nvSpPr>
        <p:spPr>
          <a:xfrm>
            <a:off x="247999" y="1615226"/>
            <a:ext cx="5543608" cy="3416320"/>
          </a:xfrm>
          <a:prstGeom prst="rect">
            <a:avLst/>
          </a:prstGeom>
          <a:noFill/>
        </p:spPr>
        <p:txBody>
          <a:bodyPr wrap="square" rtlCol="0">
            <a:spAutoFit/>
          </a:bodyPr>
          <a:lstStyle/>
          <a:p>
            <a:r>
              <a:rPr lang="zh-CN" altLang="zh-CN" b="1" dirty="0"/>
              <a:t>跨越在轨指标，无损且甚至实现超越</a:t>
            </a:r>
          </a:p>
          <a:p>
            <a:r>
              <a:rPr lang="zh-CN" altLang="zh-CN" dirty="0"/>
              <a:t>所有评测数字均为排除 Bug #11 数据重合后、在纯净互斥的 5,400 张测试集上重训复测得到的真值。</a:t>
            </a:r>
          </a:p>
          <a:p>
            <a:r>
              <a:rPr lang="zh-CN" altLang="zh-CN" b="1" dirty="0"/>
              <a:t>满标过线：</a:t>
            </a:r>
            <a:r>
              <a:rPr lang="zh-CN" altLang="zh-CN" dirty="0"/>
              <a:t> int8 验证精度（M1: 97.87%, M2: 92.06%, M3: 91.83%）均大幅超过评测要求的预设线（96% / 90% / 91%）。</a:t>
            </a:r>
          </a:p>
          <a:p>
            <a:r>
              <a:rPr lang="zh-CN" altLang="zh-CN" b="1" dirty="0"/>
              <a:t>量化无损超频：</a:t>
            </a:r>
            <a:r>
              <a:rPr lang="zh-CN" altLang="zh-CN" dirty="0"/>
              <a:t> 在纯净验证集上，轻量级的 </a:t>
            </a:r>
            <a:r>
              <a:rPr lang="zh-CN" altLang="zh-CN" b="1" dirty="0"/>
              <a:t>Model 2 比其原始 FP32 精度高出 1.91%</a:t>
            </a:r>
            <a:r>
              <a:rPr lang="zh-CN" altLang="zh-CN" dirty="0"/>
              <a:t>。</a:t>
            </a:r>
          </a:p>
          <a:p>
            <a:r>
              <a:rPr lang="zh-CN" altLang="zh-CN" b="1" dirty="0"/>
              <a:t>真机可用验证：</a:t>
            </a:r>
            <a:r>
              <a:rPr lang="zh-CN" altLang="zh-CN" dirty="0"/>
              <a:t> 在 osimulator 仿真执行下，</a:t>
            </a:r>
            <a:r>
              <a:rPr lang="zh-CN" altLang="zh-CN" b="1" dirty="0"/>
              <a:t>Model 2 获取 90.43%</a:t>
            </a:r>
            <a:r>
              <a:rPr lang="zh-CN" altLang="zh-CN" dirty="0"/>
              <a:t>，相比纯 FP32 (90.15%) 获取 0.28% 绝对反超，对物理相干失真表现极佳。</a:t>
            </a:r>
          </a:p>
          <a:p>
            <a:endParaRPr lang="zh-CN" altLang="en-US" dirty="0"/>
          </a:p>
        </p:txBody>
      </p:sp>
      <p:pic>
        <p:nvPicPr>
          <p:cNvPr id="7" name="图片 6">
            <a:extLst>
              <a:ext uri="{FF2B5EF4-FFF2-40B4-BE49-F238E27FC236}">
                <a16:creationId xmlns:a16="http://schemas.microsoft.com/office/drawing/2014/main" id="{E7E3E7EB-E290-00DA-57C2-41D3832EBC90}"/>
              </a:ext>
            </a:extLst>
          </p:cNvPr>
          <p:cNvPicPr>
            <a:picLocks noChangeAspect="1"/>
          </p:cNvPicPr>
          <p:nvPr/>
        </p:nvPicPr>
        <p:blipFill>
          <a:blip r:embed="rId2"/>
          <a:stretch>
            <a:fillRect/>
          </a:stretch>
        </p:blipFill>
        <p:spPr>
          <a:xfrm>
            <a:off x="5905124" y="1183738"/>
            <a:ext cx="5893673" cy="3770305"/>
          </a:xfrm>
          <a:prstGeom prst="rect">
            <a:avLst/>
          </a:prstGeom>
          <a:ln w="28575" cmpd="sng">
            <a:solidFill>
              <a:srgbClr val="004CE5"/>
            </a:solidFill>
            <a:prstDash val="solid"/>
          </a:ln>
        </p:spPr>
      </p:pic>
      <p:sp>
        <p:nvSpPr>
          <p:cNvPr id="9" name="文本框 8">
            <a:extLst>
              <a:ext uri="{FF2B5EF4-FFF2-40B4-BE49-F238E27FC236}">
                <a16:creationId xmlns:a16="http://schemas.microsoft.com/office/drawing/2014/main" id="{91B63168-0E8A-77EB-6D81-89D3B08D762F}"/>
              </a:ext>
            </a:extLst>
          </p:cNvPr>
          <p:cNvSpPr txBox="1"/>
          <p:nvPr/>
        </p:nvSpPr>
        <p:spPr>
          <a:xfrm>
            <a:off x="6464585" y="5189293"/>
            <a:ext cx="6097022" cy="1200329"/>
          </a:xfrm>
          <a:prstGeom prst="rect">
            <a:avLst/>
          </a:prstGeom>
          <a:noFill/>
        </p:spPr>
        <p:txBody>
          <a:bodyPr wrap="square">
            <a:spAutoFit/>
          </a:bodyPr>
          <a:lstStyle/>
          <a:p>
            <a:pPr algn="l">
              <a:lnSpc>
                <a:spcPct val="100000"/>
              </a:lnSpc>
              <a:spcBef>
                <a:spcPts val="0"/>
              </a:spcBef>
              <a:spcAft>
                <a:spcPts val="0"/>
              </a:spcAft>
            </a:pPr>
            <a:r>
              <a:rPr lang="en-US" altLang="zh-CN" sz="1200" b="1" spc="0" dirty="0">
                <a:solidFill>
                  <a:srgbClr val="142DA8"/>
                </a:solidFill>
                <a:latin typeface="Calibri"/>
                <a:ea typeface="HarmonyOS Sans SC"/>
              </a:rPr>
              <a:t>M2 </a:t>
            </a:r>
            <a:r>
              <a:rPr lang="zh-CN" altLang="en-US" sz="1200" b="1" spc="0" dirty="0">
                <a:solidFill>
                  <a:srgbClr val="142DA8"/>
                </a:solidFill>
                <a:latin typeface="Calibri"/>
                <a:ea typeface="HarmonyOS Sans SC"/>
              </a:rPr>
              <a:t>真机 </a:t>
            </a:r>
            <a:r>
              <a:rPr lang="en-US" altLang="zh-CN" sz="1200" b="1" spc="0" dirty="0">
                <a:solidFill>
                  <a:srgbClr val="142DA8"/>
                </a:solidFill>
                <a:latin typeface="Calibri"/>
                <a:ea typeface="HarmonyOS Sans SC"/>
              </a:rPr>
              <a:t>90.43%</a:t>
            </a:r>
            <a:endParaRPr lang="zh-CN" altLang="en-US" sz="1800" b="1" dirty="0">
              <a:solidFill>
                <a:srgbClr val="333333"/>
              </a:solidFill>
              <a:latin typeface="HarmonyOS Sans SC" panose="00000A00000000000000" charset="-122"/>
              <a:ea typeface="HarmonyOS Sans SC" panose="00000A00000000000000" charset="-122"/>
              <a:cs typeface="微软雅黑" charset="-122"/>
              <a:sym typeface="+mn-ea"/>
            </a:endParaRPr>
          </a:p>
          <a:p>
            <a:pPr>
              <a:lnSpc>
                <a:spcPct val="100000"/>
              </a:lnSpc>
              <a:spcBef>
                <a:spcPts val="0"/>
              </a:spcBef>
              <a:spcAft>
                <a:spcPts val="0"/>
              </a:spcAft>
            </a:pPr>
            <a:r>
              <a:rPr lang="zh-CN" altLang="en-US" sz="1200" b="1" spc="0" dirty="0">
                <a:solidFill>
                  <a:srgbClr val="142DA8"/>
                </a:solidFill>
                <a:latin typeface="Calibri"/>
                <a:ea typeface="HarmonyOS Sans SC"/>
              </a:rPr>
              <a:t>较 </a:t>
            </a:r>
            <a:r>
              <a:rPr lang="en-US" altLang="zh-CN" sz="1200" b="1" spc="0" dirty="0">
                <a:solidFill>
                  <a:srgbClr val="142DA8"/>
                </a:solidFill>
                <a:latin typeface="Calibri"/>
                <a:ea typeface="HarmonyOS Sans SC"/>
              </a:rPr>
              <a:t>FP32 +0.28 </a:t>
            </a:r>
            <a:r>
              <a:rPr lang="zh-CN" altLang="en-US" sz="1200" b="1" spc="0" dirty="0">
                <a:solidFill>
                  <a:srgbClr val="142DA8"/>
                </a:solidFill>
                <a:latin typeface="Calibri"/>
                <a:ea typeface="HarmonyOS Sans SC"/>
              </a:rPr>
              <a:t>点</a:t>
            </a:r>
            <a:endParaRPr lang="en-US" altLang="zh-CN" sz="1200" b="1" spc="0" dirty="0">
              <a:solidFill>
                <a:srgbClr val="142DA8"/>
              </a:solidFill>
              <a:latin typeface="Calibri"/>
              <a:ea typeface="HarmonyOS Sans SC"/>
            </a:endParaRPr>
          </a:p>
          <a:p>
            <a:pPr>
              <a:lnSpc>
                <a:spcPct val="100000"/>
              </a:lnSpc>
              <a:spcBef>
                <a:spcPts val="0"/>
              </a:spcBef>
              <a:spcAft>
                <a:spcPts val="0"/>
              </a:spcAft>
            </a:pPr>
            <a:endParaRPr lang="en-US" altLang="zh-CN" sz="1200" b="1" dirty="0">
              <a:solidFill>
                <a:srgbClr val="142DA8"/>
              </a:solidFill>
              <a:latin typeface="Calibri"/>
              <a:ea typeface="HarmonyOS Sans SC"/>
            </a:endParaRPr>
          </a:p>
          <a:p>
            <a:r>
              <a:rPr lang="es-ES" altLang="zh-CN" sz="1200" b="1" spc="0" dirty="0">
                <a:solidFill>
                  <a:srgbClr val="142DA8"/>
                </a:solidFill>
                <a:latin typeface="Calibri"/>
                <a:ea typeface="HarmonyOS Sans SC"/>
              </a:rPr>
              <a:t>M2 / M3 </a:t>
            </a:r>
            <a:r>
              <a:rPr lang="zh-CN" altLang="en-US" sz="1200" b="1" spc="0" dirty="0">
                <a:solidFill>
                  <a:srgbClr val="142DA8"/>
                </a:solidFill>
                <a:latin typeface="Calibri"/>
                <a:ea typeface="HarmonyOS Sans SC"/>
              </a:rPr>
              <a:t>全量 </a:t>
            </a:r>
            <a:r>
              <a:rPr lang="es-ES" altLang="zh-CN" sz="1200" b="1" spc="0" dirty="0">
                <a:solidFill>
                  <a:srgbClr val="142DA8"/>
                </a:solidFill>
                <a:latin typeface="Calibri"/>
                <a:ea typeface="HarmonyOS Sans SC"/>
              </a:rPr>
              <a:t>n=5400</a:t>
            </a:r>
            <a:endParaRPr lang="es-ES" altLang="zh-CN" sz="1200" b="1" dirty="0">
              <a:solidFill>
                <a:srgbClr val="333333"/>
              </a:solidFill>
              <a:latin typeface="HarmonyOS Sans SC" panose="00000A00000000000000" charset="-122"/>
              <a:ea typeface="HarmonyOS Sans SC" panose="00000A00000000000000" charset="-122"/>
              <a:cs typeface="微软雅黑" charset="-122"/>
              <a:sym typeface="+mn-ea"/>
            </a:endParaRPr>
          </a:p>
          <a:p>
            <a:pPr>
              <a:lnSpc>
                <a:spcPct val="100000"/>
              </a:lnSpc>
              <a:spcBef>
                <a:spcPts val="0"/>
              </a:spcBef>
              <a:spcAft>
                <a:spcPts val="0"/>
              </a:spcAft>
            </a:pPr>
            <a:r>
              <a:rPr lang="es-ES" altLang="zh-CN" sz="1200" b="1" spc="0" dirty="0">
                <a:solidFill>
                  <a:srgbClr val="142DA8"/>
                </a:solidFill>
                <a:latin typeface="Calibri"/>
                <a:ea typeface="HarmonyOS Sans SC"/>
              </a:rPr>
              <a:t>M1 </a:t>
            </a:r>
            <a:r>
              <a:rPr lang="zh-CN" altLang="en-US" sz="1200" b="1" spc="0" dirty="0">
                <a:solidFill>
                  <a:srgbClr val="142DA8"/>
                </a:solidFill>
                <a:latin typeface="Calibri"/>
                <a:ea typeface="HarmonyOS Sans SC"/>
              </a:rPr>
              <a:t>为 </a:t>
            </a:r>
            <a:r>
              <a:rPr lang="es-ES" altLang="zh-CN" sz="1200" b="1" spc="0" dirty="0">
                <a:solidFill>
                  <a:srgbClr val="142DA8"/>
                </a:solidFill>
                <a:latin typeface="Calibri"/>
                <a:ea typeface="HarmonyOS Sans SC"/>
              </a:rPr>
              <a:t>q50 </a:t>
            </a:r>
            <a:r>
              <a:rPr lang="zh-CN" altLang="en-US" sz="1200" b="1" spc="0" dirty="0">
                <a:solidFill>
                  <a:srgbClr val="142DA8"/>
                </a:solidFill>
                <a:latin typeface="Calibri"/>
                <a:ea typeface="HarmonyOS Sans SC"/>
              </a:rPr>
              <a:t>抽样</a:t>
            </a:r>
          </a:p>
          <a:p>
            <a:pPr>
              <a:lnSpc>
                <a:spcPct val="100000"/>
              </a:lnSpc>
              <a:spcBef>
                <a:spcPts val="0"/>
              </a:spcBef>
              <a:spcAft>
                <a:spcPts val="0"/>
              </a:spcAft>
            </a:pPr>
            <a:endParaRPr lang="zh-CN" altLang="en-US" sz="1200" b="1" spc="0" dirty="0">
              <a:solidFill>
                <a:srgbClr val="142DA8"/>
              </a:solidFill>
              <a:latin typeface="Calibri"/>
              <a:ea typeface="HarmonyOS Sans SC"/>
            </a:endParaRPr>
          </a:p>
        </p:txBody>
      </p:sp>
    </p:spTree>
    <p:extLst>
      <p:ext uri="{BB962C8B-B14F-4D97-AF65-F5344CB8AC3E}">
        <p14:creationId xmlns:p14="http://schemas.microsoft.com/office/powerpoint/2010/main" val="165534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96F7F7B-B375-814D-45CB-40FB26CE239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3123622-1D96-1EF6-E2E8-890E31ED11C2}"/>
              </a:ext>
            </a:extLst>
          </p:cNvPr>
          <p:cNvSpPr txBox="1"/>
          <p:nvPr/>
        </p:nvSpPr>
        <p:spPr>
          <a:xfrm>
            <a:off x="408588" y="306380"/>
            <a:ext cx="4240263" cy="584775"/>
          </a:xfrm>
          <a:prstGeom prst="rect">
            <a:avLst/>
          </a:prstGeom>
          <a:noFill/>
        </p:spPr>
        <p:txBody>
          <a:bodyPr wrap="none" rtlCol="0">
            <a:spAutoFit/>
          </a:bodyPr>
          <a:lstStyle/>
          <a:p>
            <a:r>
              <a:rPr lang="zh-CN" altLang="zh-CN" sz="3200" b="1" dirty="0"/>
              <a:t>光计算占比：突破 90%</a:t>
            </a:r>
          </a:p>
        </p:txBody>
      </p:sp>
      <p:sp>
        <p:nvSpPr>
          <p:cNvPr id="3" name="文本框 2">
            <a:extLst>
              <a:ext uri="{FF2B5EF4-FFF2-40B4-BE49-F238E27FC236}">
                <a16:creationId xmlns:a16="http://schemas.microsoft.com/office/drawing/2014/main" id="{708A7BB7-5F28-E4A4-65F9-AF1D454655E3}"/>
              </a:ext>
            </a:extLst>
          </p:cNvPr>
          <p:cNvSpPr txBox="1"/>
          <p:nvPr/>
        </p:nvSpPr>
        <p:spPr>
          <a:xfrm>
            <a:off x="1321006" y="4797294"/>
            <a:ext cx="4099140" cy="1754326"/>
          </a:xfrm>
          <a:prstGeom prst="rect">
            <a:avLst/>
          </a:prstGeom>
          <a:noFill/>
        </p:spPr>
        <p:txBody>
          <a:bodyPr wrap="square" rtlCol="0">
            <a:spAutoFit/>
          </a:bodyPr>
          <a:lstStyle/>
          <a:p>
            <a:r>
              <a:rPr lang="zh-CN" altLang="zh-CN" dirty="0"/>
              <a:t>物理光计算 (0.953 MOPs)</a:t>
            </a:r>
            <a:endParaRPr lang="en-US" altLang="zh-CN" dirty="0"/>
          </a:p>
          <a:p>
            <a:r>
              <a:rPr lang="zh-CN" altLang="zh-CN" dirty="0"/>
              <a:t>数字电辅助 (0.098 MOPs)</a:t>
            </a:r>
          </a:p>
          <a:p>
            <a:r>
              <a:rPr lang="zh-CN" altLang="zh-CN" dirty="0">
                <a:solidFill>
                  <a:srgbClr val="0F172A"/>
                </a:solidFill>
                <a:latin typeface="Plus Jakarta Sans"/>
              </a:rPr>
              <a:t>光子MOPs 占比</a:t>
            </a:r>
            <a:r>
              <a:rPr lang="zh-CN" altLang="zh-CN" sz="5400" b="1" dirty="0">
                <a:solidFill>
                  <a:srgbClr val="06B6D4"/>
                </a:solidFill>
                <a:latin typeface="Plus Jakarta Sans"/>
              </a:rPr>
              <a:t>90.65%</a:t>
            </a:r>
            <a:endParaRPr lang="zh-CN" altLang="zh-CN" sz="3600" dirty="0">
              <a:solidFill>
                <a:srgbClr val="0F172A"/>
              </a:solidFill>
              <a:latin typeface="Plus Jakarta Sans"/>
            </a:endParaRPr>
          </a:p>
          <a:p>
            <a:endParaRPr lang="zh-CN" altLang="en-US" dirty="0"/>
          </a:p>
        </p:txBody>
      </p:sp>
      <p:graphicFrame>
        <p:nvGraphicFramePr>
          <p:cNvPr id="6" name="表格 5">
            <a:extLst>
              <a:ext uri="{FF2B5EF4-FFF2-40B4-BE49-F238E27FC236}">
                <a16:creationId xmlns:a16="http://schemas.microsoft.com/office/drawing/2014/main" id="{AFB2E46B-D7D9-8B98-0768-3F84352E91C4}"/>
              </a:ext>
            </a:extLst>
          </p:cNvPr>
          <p:cNvGraphicFramePr>
            <a:graphicFrameLocks noGrp="1"/>
          </p:cNvGraphicFramePr>
          <p:nvPr>
            <p:extLst>
              <p:ext uri="{D42A27DB-BD31-4B8C-83A1-F6EECF244321}">
                <p14:modId xmlns:p14="http://schemas.microsoft.com/office/powerpoint/2010/main" val="3818472393"/>
              </p:ext>
            </p:extLst>
          </p:nvPr>
        </p:nvGraphicFramePr>
        <p:xfrm>
          <a:off x="6952197" y="732773"/>
          <a:ext cx="5066527" cy="5278687"/>
        </p:xfrm>
        <a:graphic>
          <a:graphicData uri="http://schemas.openxmlformats.org/drawingml/2006/table">
            <a:tbl>
              <a:tblPr/>
              <a:tblGrid>
                <a:gridCol w="740389">
                  <a:extLst>
                    <a:ext uri="{9D8B030D-6E8A-4147-A177-3AD203B41FA5}">
                      <a16:colId xmlns:a16="http://schemas.microsoft.com/office/drawing/2014/main" val="4227567372"/>
                    </a:ext>
                  </a:extLst>
                </a:gridCol>
                <a:gridCol w="1378186">
                  <a:extLst>
                    <a:ext uri="{9D8B030D-6E8A-4147-A177-3AD203B41FA5}">
                      <a16:colId xmlns:a16="http://schemas.microsoft.com/office/drawing/2014/main" val="3513566203"/>
                    </a:ext>
                  </a:extLst>
                </a:gridCol>
                <a:gridCol w="500099">
                  <a:extLst>
                    <a:ext uri="{9D8B030D-6E8A-4147-A177-3AD203B41FA5}">
                      <a16:colId xmlns:a16="http://schemas.microsoft.com/office/drawing/2014/main" val="1125444780"/>
                    </a:ext>
                  </a:extLst>
                </a:gridCol>
                <a:gridCol w="789613">
                  <a:extLst>
                    <a:ext uri="{9D8B030D-6E8A-4147-A177-3AD203B41FA5}">
                      <a16:colId xmlns:a16="http://schemas.microsoft.com/office/drawing/2014/main" val="2665179006"/>
                    </a:ext>
                  </a:extLst>
                </a:gridCol>
                <a:gridCol w="790348">
                  <a:extLst>
                    <a:ext uri="{9D8B030D-6E8A-4147-A177-3AD203B41FA5}">
                      <a16:colId xmlns:a16="http://schemas.microsoft.com/office/drawing/2014/main" val="701328831"/>
                    </a:ext>
                  </a:extLst>
                </a:gridCol>
                <a:gridCol w="867892">
                  <a:extLst>
                    <a:ext uri="{9D8B030D-6E8A-4147-A177-3AD203B41FA5}">
                      <a16:colId xmlns:a16="http://schemas.microsoft.com/office/drawing/2014/main" val="152731760"/>
                    </a:ext>
                  </a:extLst>
                </a:gridCol>
              </a:tblGrid>
              <a:tr h="809186">
                <a:tc>
                  <a:txBody>
                    <a:bodyPr/>
                    <a:lstStyle/>
                    <a:p>
                      <a:pPr marL="0" marR="0" algn="ctr">
                        <a:buNone/>
                      </a:pPr>
                      <a:r>
                        <a:rPr lang="zh-CN" sz="1200" b="1" i="0" dirty="0">
                          <a:solidFill>
                            <a:schemeClr val="tx1"/>
                          </a:solidFill>
                          <a:effectLst/>
                          <a:latin typeface="var(--font-title)"/>
                        </a:rPr>
                        <a:t>网络层</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var(--font-title)"/>
                        </a:rPr>
                        <a:t>物理属性</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var(--font-title)"/>
                        </a:rPr>
                        <a:t>展平长度</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var(--font-title)"/>
                        </a:rPr>
                        <a:t>硬件对齐率</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var(--font-title)"/>
                        </a:rPr>
                        <a:t>算力负荷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var(--font-title)"/>
                        </a:rPr>
                        <a:t>运行器件空间</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5408731"/>
                  </a:ext>
                </a:extLst>
              </a:tr>
              <a:tr h="576037">
                <a:tc>
                  <a:txBody>
                    <a:bodyPr/>
                    <a:lstStyle/>
                    <a:p>
                      <a:pPr marL="0" marR="0" algn="ctr">
                        <a:buNone/>
                      </a:pPr>
                      <a:r>
                        <a:rPr lang="zh-CN" sz="1200" b="1" i="0">
                          <a:solidFill>
                            <a:schemeClr val="tx1"/>
                          </a:solidFill>
                          <a:effectLst/>
                          <a:latin typeface="DM Sans" pitchFamily="2" charset="0"/>
                        </a:rPr>
                        <a:t>stem</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Conv 3→8, 1×1</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3</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37.5%</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0.098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电计算 (FP32)</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7054560"/>
                  </a:ext>
                </a:extLst>
              </a:tr>
              <a:tr h="576037">
                <a:tc>
                  <a:txBody>
                    <a:bodyPr/>
                    <a:lstStyle/>
                    <a:p>
                      <a:pPr marL="0" marR="0" algn="ctr">
                        <a:buNone/>
                      </a:pPr>
                      <a:r>
                        <a:rPr lang="zh-CN" sz="1200" b="1" i="0">
                          <a:solidFill>
                            <a:schemeClr val="tx1"/>
                          </a:solidFill>
                          <a:effectLst/>
                          <a:latin typeface="DM Sans" pitchFamily="2" charset="0"/>
                        </a:rPr>
                        <a:t>stage1</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Conv 8→16, 2×2</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32</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100.0%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0.524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光子核心 (int8)</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1549595"/>
                  </a:ext>
                </a:extLst>
              </a:tr>
              <a:tr h="576037">
                <a:tc>
                  <a:txBody>
                    <a:bodyPr/>
                    <a:lstStyle/>
                    <a:p>
                      <a:pPr marL="0" marR="0" algn="ctr">
                        <a:buNone/>
                      </a:pPr>
                      <a:r>
                        <a:rPr lang="zh-CN" sz="1200" b="1" i="0">
                          <a:solidFill>
                            <a:schemeClr val="tx1"/>
                          </a:solidFill>
                          <a:effectLst/>
                          <a:latin typeface="DM Sans" pitchFamily="2" charset="0"/>
                        </a:rPr>
                        <a:t>stage2</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Conv 16→32, 2×2</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64</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100.0%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0.131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光子核心 (int8)</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728080"/>
                  </a:ext>
                </a:extLst>
              </a:tr>
              <a:tr h="576037">
                <a:tc>
                  <a:txBody>
                    <a:bodyPr/>
                    <a:lstStyle/>
                    <a:p>
                      <a:pPr marL="0" marR="0" algn="ctr">
                        <a:buNone/>
                      </a:pPr>
                      <a:r>
                        <a:rPr lang="zh-CN" sz="1200" b="1" i="0">
                          <a:solidFill>
                            <a:schemeClr val="tx1"/>
                          </a:solidFill>
                          <a:effectLst/>
                          <a:latin typeface="DM Sans" pitchFamily="2" charset="0"/>
                        </a:rPr>
                        <a:t>stage3</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Conv 32→16, 1×1</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32</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100.0%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0.033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光子核心 (int8)</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218637"/>
                  </a:ext>
                </a:extLst>
              </a:tr>
              <a:tr h="576037">
                <a:tc>
                  <a:txBody>
                    <a:bodyPr/>
                    <a:lstStyle/>
                    <a:p>
                      <a:pPr marL="0" marR="0" algn="ctr">
                        <a:buNone/>
                      </a:pPr>
                      <a:r>
                        <a:rPr lang="zh-CN" sz="1200" b="1" i="0">
                          <a:solidFill>
                            <a:schemeClr val="tx1"/>
                          </a:solidFill>
                          <a:effectLst/>
                          <a:latin typeface="DM Sans" pitchFamily="2" charset="0"/>
                        </a:rPr>
                        <a:t>fc1</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Linear 1024→256</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1024</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100.0%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0.262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光子核心 (int8)</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09775"/>
                  </a:ext>
                </a:extLst>
              </a:tr>
              <a:tr h="576037">
                <a:tc>
                  <a:txBody>
                    <a:bodyPr/>
                    <a:lstStyle/>
                    <a:p>
                      <a:pPr marL="0" marR="0" algn="ctr">
                        <a:buNone/>
                      </a:pPr>
                      <a:r>
                        <a:rPr lang="zh-CN" sz="1200" b="1" i="0">
                          <a:solidFill>
                            <a:schemeClr val="tx1"/>
                          </a:solidFill>
                          <a:effectLst/>
                          <a:latin typeface="DM Sans" pitchFamily="2" charset="0"/>
                        </a:rPr>
                        <a:t>fc2</a:t>
                      </a:r>
                      <a:endParaRPr lang="zh-CN" sz="1200" b="0" i="0">
                        <a:solidFill>
                          <a:schemeClr val="tx1"/>
                        </a:solidFill>
                        <a:effectLst/>
                        <a:latin typeface="DM Sans" pitchFamily="2" charset="0"/>
                      </a:endParaRP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dirty="0">
                          <a:solidFill>
                            <a:schemeClr val="tx1"/>
                          </a:solidFill>
                          <a:effectLst/>
                          <a:latin typeface="DM Sans" pitchFamily="2" charset="0"/>
                        </a:rPr>
                        <a:t>Linear 256→10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0" i="0">
                          <a:solidFill>
                            <a:schemeClr val="tx1"/>
                          </a:solidFill>
                          <a:effectLst/>
                          <a:latin typeface="DM Sans" pitchFamily="2" charset="0"/>
                        </a:rPr>
                        <a:t>256</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100.0%</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0.003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光子核心 (int8)</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716130"/>
                  </a:ext>
                </a:extLst>
              </a:tr>
              <a:tr h="1013279">
                <a:tc>
                  <a:txBody>
                    <a:bodyPr/>
                    <a:lstStyle/>
                    <a:p>
                      <a:pPr marL="0" marR="0" algn="ctr">
                        <a:buNone/>
                      </a:pPr>
                      <a:r>
                        <a:rPr lang="zh-CN" sz="1200" b="1" i="0">
                          <a:solidFill>
                            <a:schemeClr val="tx1"/>
                          </a:solidFill>
                          <a:effectLst/>
                          <a:latin typeface="DM Sans" pitchFamily="2" charset="0"/>
                        </a:rPr>
                        <a:t>整机合并</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a:solidFill>
                            <a:schemeClr val="tx1"/>
                          </a:solidFill>
                          <a:effectLst/>
                          <a:latin typeface="DM Sans" pitchFamily="2" charset="0"/>
                        </a:rPr>
                        <a:t>99.6%</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1.051 MOPs</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buNone/>
                      </a:pPr>
                      <a:r>
                        <a:rPr lang="zh-CN" sz="1200" b="1" i="0" dirty="0">
                          <a:solidFill>
                            <a:schemeClr val="tx1"/>
                          </a:solidFill>
                          <a:effectLst/>
                          <a:latin typeface="DM Sans" pitchFamily="2" charset="0"/>
                        </a:rPr>
                        <a:t>光: 0.953M  电: 0.098M</a:t>
                      </a:r>
                    </a:p>
                  </a:txBody>
                  <a:tcPr marL="66670" marR="66670" marT="44447" marB="444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5625059"/>
                  </a:ext>
                </a:extLst>
              </a:tr>
            </a:tbl>
          </a:graphicData>
        </a:graphic>
      </p:graphicFrame>
      <p:sp>
        <p:nvSpPr>
          <p:cNvPr id="7" name="文本框 6">
            <a:extLst>
              <a:ext uri="{FF2B5EF4-FFF2-40B4-BE49-F238E27FC236}">
                <a16:creationId xmlns:a16="http://schemas.microsoft.com/office/drawing/2014/main" id="{EA796390-587B-05D1-CED8-C6EBF0ABD50C}"/>
              </a:ext>
            </a:extLst>
          </p:cNvPr>
          <p:cNvSpPr txBox="1"/>
          <p:nvPr/>
        </p:nvSpPr>
        <p:spPr>
          <a:xfrm>
            <a:off x="7001334" y="349338"/>
            <a:ext cx="4782078" cy="307777"/>
          </a:xfrm>
          <a:prstGeom prst="rect">
            <a:avLst/>
          </a:prstGeom>
          <a:noFill/>
        </p:spPr>
        <p:txBody>
          <a:bodyPr wrap="none" rtlCol="0">
            <a:spAutoFit/>
          </a:bodyPr>
          <a:lstStyle/>
          <a:p>
            <a:r>
              <a:rPr lang="zh-CN" altLang="zh-CN" sz="1400" cap="all" dirty="0"/>
              <a:t>Model 2/3 (遥感特征图 64×64) 逐层物理相干计算量分布</a:t>
            </a:r>
            <a:endParaRPr lang="zh-CN" altLang="en-US" sz="1400" dirty="0"/>
          </a:p>
        </p:txBody>
      </p:sp>
      <p:pic>
        <p:nvPicPr>
          <p:cNvPr id="14" name="图片 13">
            <a:extLst>
              <a:ext uri="{FF2B5EF4-FFF2-40B4-BE49-F238E27FC236}">
                <a16:creationId xmlns:a16="http://schemas.microsoft.com/office/drawing/2014/main" id="{62DB9337-EF52-AA17-2B46-F7B85EDA3E41}"/>
              </a:ext>
            </a:extLst>
          </p:cNvPr>
          <p:cNvPicPr>
            <a:picLocks noChangeAspect="1"/>
          </p:cNvPicPr>
          <p:nvPr/>
        </p:nvPicPr>
        <p:blipFill>
          <a:blip r:embed="rId3">
            <a:clrChange>
              <a:clrFrom>
                <a:srgbClr val="EDF7FF"/>
              </a:clrFrom>
              <a:clrTo>
                <a:srgbClr val="EDF7FF">
                  <a:alpha val="0"/>
                </a:srgbClr>
              </a:clrTo>
            </a:clrChange>
            <a:extLst>
              <a:ext uri="{28A0092B-C50C-407E-A947-70E740481C1C}">
                <a14:useLocalDpi xmlns:a14="http://schemas.microsoft.com/office/drawing/2010/main" val="0"/>
              </a:ext>
            </a:extLst>
          </a:blip>
          <a:srcRect t="8265"/>
          <a:stretch>
            <a:fillRect/>
          </a:stretch>
        </p:blipFill>
        <p:spPr>
          <a:xfrm>
            <a:off x="126169" y="1663104"/>
            <a:ext cx="6875165" cy="2890656"/>
          </a:xfrm>
          <a:prstGeom prst="rect">
            <a:avLst/>
          </a:prstGeom>
        </p:spPr>
      </p:pic>
    </p:spTree>
    <p:extLst>
      <p:ext uri="{BB962C8B-B14F-4D97-AF65-F5344CB8AC3E}">
        <p14:creationId xmlns:p14="http://schemas.microsoft.com/office/powerpoint/2010/main" val="88777105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A5DF-B81C-C580-29A4-D6C63A3BECC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622C37D-8919-710D-01D0-D7E5B16D334E}"/>
              </a:ext>
            </a:extLst>
          </p:cNvPr>
          <p:cNvSpPr txBox="1"/>
          <p:nvPr/>
        </p:nvSpPr>
        <p:spPr>
          <a:xfrm>
            <a:off x="386626" y="414549"/>
            <a:ext cx="45719" cy="369332"/>
          </a:xfrm>
          <a:prstGeom prst="rect">
            <a:avLst/>
          </a:prstGeom>
          <a:noFill/>
        </p:spPr>
        <p:txBody>
          <a:bodyPr wrap="square" rtlCol="0">
            <a:spAutoFit/>
          </a:bodyPr>
          <a:lstStyle/>
          <a:p>
            <a:endParaRPr lang="zh-CN" altLang="en-US" dirty="0"/>
          </a:p>
        </p:txBody>
      </p:sp>
      <p:sp>
        <p:nvSpPr>
          <p:cNvPr id="3" name="文本框 2">
            <a:extLst>
              <a:ext uri="{FF2B5EF4-FFF2-40B4-BE49-F238E27FC236}">
                <a16:creationId xmlns:a16="http://schemas.microsoft.com/office/drawing/2014/main" id="{99E29BA0-4E60-69F8-9512-E77E70E6DFEC}"/>
              </a:ext>
            </a:extLst>
          </p:cNvPr>
          <p:cNvSpPr txBox="1"/>
          <p:nvPr/>
        </p:nvSpPr>
        <p:spPr>
          <a:xfrm>
            <a:off x="386626" y="318432"/>
            <a:ext cx="5519460" cy="584775"/>
          </a:xfrm>
          <a:prstGeom prst="rect">
            <a:avLst/>
          </a:prstGeom>
          <a:noFill/>
        </p:spPr>
        <p:txBody>
          <a:bodyPr wrap="none" rtlCol="0">
            <a:spAutoFit/>
          </a:bodyPr>
          <a:lstStyle/>
          <a:p>
            <a:r>
              <a:rPr lang="zh-CN" altLang="zh-CN" sz="3200" b="1" dirty="0"/>
              <a:t>计算效率与在轨部署决策分析</a:t>
            </a:r>
          </a:p>
        </p:txBody>
      </p:sp>
      <p:pic>
        <p:nvPicPr>
          <p:cNvPr id="5" name="图片 4">
            <a:extLst>
              <a:ext uri="{FF2B5EF4-FFF2-40B4-BE49-F238E27FC236}">
                <a16:creationId xmlns:a16="http://schemas.microsoft.com/office/drawing/2014/main" id="{D4F988DE-317D-7A86-E536-1439A1DF2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1004" y="903207"/>
            <a:ext cx="7107310" cy="4738206"/>
          </a:xfrm>
          <a:prstGeom prst="rect">
            <a:avLst/>
          </a:prstGeom>
        </p:spPr>
      </p:pic>
      <p:sp>
        <p:nvSpPr>
          <p:cNvPr id="6" name="文本框 5">
            <a:extLst>
              <a:ext uri="{FF2B5EF4-FFF2-40B4-BE49-F238E27FC236}">
                <a16:creationId xmlns:a16="http://schemas.microsoft.com/office/drawing/2014/main" id="{47E27624-975D-ECFC-ED28-DB9A99A06FFE}"/>
              </a:ext>
            </a:extLst>
          </p:cNvPr>
          <p:cNvSpPr txBox="1"/>
          <p:nvPr/>
        </p:nvSpPr>
        <p:spPr>
          <a:xfrm>
            <a:off x="386626" y="1767431"/>
            <a:ext cx="4108817" cy="646331"/>
          </a:xfrm>
          <a:prstGeom prst="rect">
            <a:avLst/>
          </a:prstGeom>
          <a:noFill/>
        </p:spPr>
        <p:txBody>
          <a:bodyPr wrap="none" rtlCol="0">
            <a:spAutoFit/>
          </a:bodyPr>
          <a:lstStyle/>
          <a:p>
            <a:r>
              <a:rPr lang="zh-CN" altLang="zh-CN" b="1" dirty="0"/>
              <a:t>轻量化降维打击：破除</a:t>
            </a:r>
            <a:r>
              <a:rPr lang="zh-CN" altLang="en-US" b="1" dirty="0"/>
              <a:t>卫</a:t>
            </a:r>
            <a:r>
              <a:rPr lang="zh-CN" altLang="zh-CN" b="1" dirty="0"/>
              <a:t>星上电能瓶颈</a:t>
            </a:r>
          </a:p>
          <a:p>
            <a:endParaRPr lang="zh-CN" altLang="en-US" dirty="0"/>
          </a:p>
        </p:txBody>
      </p:sp>
      <p:sp>
        <p:nvSpPr>
          <p:cNvPr id="9" name="文本框 8">
            <a:extLst>
              <a:ext uri="{FF2B5EF4-FFF2-40B4-BE49-F238E27FC236}">
                <a16:creationId xmlns:a16="http://schemas.microsoft.com/office/drawing/2014/main" id="{4B843420-4031-7288-DC62-CCBD36B74F26}"/>
              </a:ext>
            </a:extLst>
          </p:cNvPr>
          <p:cNvSpPr txBox="1"/>
          <p:nvPr/>
        </p:nvSpPr>
        <p:spPr>
          <a:xfrm>
            <a:off x="432345" y="2552955"/>
            <a:ext cx="3280915" cy="1415772"/>
          </a:xfrm>
          <a:prstGeom prst="rect">
            <a:avLst/>
          </a:prstGeom>
          <a:noFill/>
        </p:spPr>
        <p:txBody>
          <a:bodyPr wrap="square" rtlCol="0">
            <a:spAutoFit/>
          </a:bodyPr>
          <a:lstStyle/>
          <a:p>
            <a:r>
              <a:rPr lang="zh-CN" altLang="zh-CN" cap="all" dirty="0"/>
              <a:t>Model 2/3 推理开销</a:t>
            </a:r>
            <a:endParaRPr lang="en-US" altLang="zh-CN" cap="all" dirty="0"/>
          </a:p>
          <a:p>
            <a:r>
              <a:rPr lang="zh-CN" altLang="zh-CN" sz="3200" b="1" dirty="0"/>
              <a:t>1.05 MOPs</a:t>
            </a:r>
            <a:endParaRPr lang="en-US" altLang="zh-CN" sz="3200" b="1" dirty="0"/>
          </a:p>
          <a:p>
            <a:r>
              <a:rPr lang="zh-CN" altLang="zh-CN" dirty="0"/>
              <a:t>参数仅 268KB，高适应低负荷在轨载荷</a:t>
            </a:r>
            <a:endParaRPr lang="zh-CN" altLang="en-US" dirty="0"/>
          </a:p>
        </p:txBody>
      </p:sp>
      <p:sp>
        <p:nvSpPr>
          <p:cNvPr id="12" name="文本框 11">
            <a:extLst>
              <a:ext uri="{FF2B5EF4-FFF2-40B4-BE49-F238E27FC236}">
                <a16:creationId xmlns:a16="http://schemas.microsoft.com/office/drawing/2014/main" id="{F0121050-6ED1-1FE0-5C67-3DF645408DE7}"/>
              </a:ext>
            </a:extLst>
          </p:cNvPr>
          <p:cNvSpPr txBox="1"/>
          <p:nvPr/>
        </p:nvSpPr>
        <p:spPr>
          <a:xfrm>
            <a:off x="432345" y="4142210"/>
            <a:ext cx="5264583" cy="1138773"/>
          </a:xfrm>
          <a:prstGeom prst="rect">
            <a:avLst/>
          </a:prstGeom>
          <a:noFill/>
        </p:spPr>
        <p:txBody>
          <a:bodyPr wrap="none" rtlCol="0">
            <a:spAutoFit/>
          </a:bodyPr>
          <a:lstStyle/>
          <a:p>
            <a:r>
              <a:rPr lang="zh-CN" altLang="zh-CN" cap="all" dirty="0"/>
              <a:t>全量真机实测耗时</a:t>
            </a:r>
            <a:endParaRPr lang="en-US" altLang="zh-CN" cap="all" dirty="0"/>
          </a:p>
          <a:p>
            <a:r>
              <a:rPr lang="zh-CN" altLang="zh-CN" sz="3200" b="1" dirty="0"/>
              <a:t>˜3.7 小时</a:t>
            </a:r>
            <a:endParaRPr lang="en-US" altLang="zh-CN" sz="3200" b="1" dirty="0"/>
          </a:p>
          <a:p>
            <a:r>
              <a:rPr lang="zh-CN" altLang="zh-CN" dirty="0"/>
              <a:t>累积调用物理芯片引擎 27,000 次</a:t>
            </a:r>
            <a:r>
              <a:rPr lang="zh-CN" altLang="zh-CN" sz="1200" dirty="0"/>
              <a:t>（5 光计算层 × 5400 张）</a:t>
            </a:r>
            <a:endParaRPr lang="zh-CN" altLang="zh-CN" dirty="0"/>
          </a:p>
        </p:txBody>
      </p:sp>
      <p:sp>
        <p:nvSpPr>
          <p:cNvPr id="13" name="文本框 12">
            <a:extLst>
              <a:ext uri="{FF2B5EF4-FFF2-40B4-BE49-F238E27FC236}">
                <a16:creationId xmlns:a16="http://schemas.microsoft.com/office/drawing/2014/main" id="{E40FCDB2-742C-717D-5039-1B2819557AB1}"/>
              </a:ext>
            </a:extLst>
          </p:cNvPr>
          <p:cNvSpPr txBox="1"/>
          <p:nvPr/>
        </p:nvSpPr>
        <p:spPr>
          <a:xfrm>
            <a:off x="312373" y="5545042"/>
            <a:ext cx="8794050" cy="1200329"/>
          </a:xfrm>
          <a:prstGeom prst="rect">
            <a:avLst/>
          </a:prstGeom>
          <a:noFill/>
        </p:spPr>
        <p:txBody>
          <a:bodyPr wrap="square" rtlCol="0">
            <a:spAutoFit/>
          </a:bodyPr>
          <a:lstStyle/>
          <a:p>
            <a:r>
              <a:rPr lang="zh-CN" altLang="zh-CN" b="1" dirty="0"/>
              <a:t> Model 1 (VGG Baseline) </a:t>
            </a:r>
            <a:r>
              <a:rPr lang="zh-CN" altLang="en-US" b="1" dirty="0"/>
              <a:t>无</a:t>
            </a:r>
            <a:r>
              <a:rPr lang="zh-CN" altLang="zh-CN" b="1" dirty="0"/>
              <a:t>在轨实际可行性：</a:t>
            </a:r>
            <a:endParaRPr lang="zh-CN" altLang="zh-CN" dirty="0"/>
          </a:p>
          <a:p>
            <a:r>
              <a:rPr lang="zh-CN" altLang="zh-CN" dirty="0"/>
              <a:t>单张图像耗算高达 </a:t>
            </a:r>
            <a:r>
              <a:rPr lang="zh-CN" altLang="zh-CN" b="1" dirty="0"/>
              <a:t>156.6M MOPs (达 Model 2 的 150 倍)</a:t>
            </a:r>
            <a:r>
              <a:rPr lang="zh-CN" altLang="zh-CN" dirty="0"/>
              <a:t>。仿真推理单张高达 150 秒，跑完测试集累计需要 </a:t>
            </a:r>
            <a:r>
              <a:rPr lang="zh-CN" altLang="zh-CN" b="1" dirty="0"/>
              <a:t>9 天</a:t>
            </a:r>
            <a:r>
              <a:rPr lang="zh-CN" altLang="zh-CN" dirty="0"/>
              <a:t>！其功耗与时延远超在轨资源上限，根本无法搭载上天。</a:t>
            </a:r>
          </a:p>
          <a:p>
            <a:endParaRPr lang="zh-CN" altLang="en-US" dirty="0"/>
          </a:p>
        </p:txBody>
      </p:sp>
    </p:spTree>
    <p:extLst>
      <p:ext uri="{BB962C8B-B14F-4D97-AF65-F5344CB8AC3E}">
        <p14:creationId xmlns:p14="http://schemas.microsoft.com/office/powerpoint/2010/main" val="2259409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55E1E89-ED25-F87A-22F4-FEBD249386A7}"/>
              </a:ext>
            </a:extLst>
          </p:cNvPr>
          <p:cNvSpPr txBox="1"/>
          <p:nvPr/>
        </p:nvSpPr>
        <p:spPr>
          <a:xfrm>
            <a:off x="533911" y="460268"/>
            <a:ext cx="5519460" cy="584775"/>
          </a:xfrm>
          <a:prstGeom prst="rect">
            <a:avLst/>
          </a:prstGeom>
          <a:noFill/>
        </p:spPr>
        <p:txBody>
          <a:bodyPr wrap="none" rtlCol="0">
            <a:spAutoFit/>
          </a:bodyPr>
          <a:lstStyle/>
          <a:p>
            <a:r>
              <a:rPr lang="zh-CN" altLang="zh-CN" sz="3200" b="1" dirty="0"/>
              <a:t>秒级预测校验与全量真机闭环</a:t>
            </a:r>
            <a:endParaRPr lang="zh-CN" altLang="en-US" sz="3200" b="1" dirty="0"/>
          </a:p>
        </p:txBody>
      </p:sp>
      <p:sp>
        <p:nvSpPr>
          <p:cNvPr id="5" name="文本框 4">
            <a:extLst>
              <a:ext uri="{FF2B5EF4-FFF2-40B4-BE49-F238E27FC236}">
                <a16:creationId xmlns:a16="http://schemas.microsoft.com/office/drawing/2014/main" id="{C1A0FD5A-C9AE-186B-DFD8-E33FFBD62C53}"/>
              </a:ext>
            </a:extLst>
          </p:cNvPr>
          <p:cNvSpPr txBox="1"/>
          <p:nvPr/>
        </p:nvSpPr>
        <p:spPr>
          <a:xfrm>
            <a:off x="1466723" y="1325573"/>
            <a:ext cx="4381755" cy="3970318"/>
          </a:xfrm>
          <a:prstGeom prst="rect">
            <a:avLst/>
          </a:prstGeom>
          <a:noFill/>
        </p:spPr>
        <p:txBody>
          <a:bodyPr wrap="square" rtlCol="0">
            <a:spAutoFit/>
          </a:bodyPr>
          <a:lstStyle/>
          <a:p>
            <a:r>
              <a:rPr lang="zh-CN" altLang="zh-CN" b="1" dirty="0"/>
              <a:t>秒级预测校验与全量真机闭环</a:t>
            </a:r>
          </a:p>
          <a:p>
            <a:r>
              <a:rPr lang="zh-CN" altLang="zh-CN" b="1" dirty="0"/>
              <a:t>双级验证：</a:t>
            </a:r>
            <a:r>
              <a:rPr lang="zh-CN" altLang="zh-CN" dirty="0"/>
              <a:t> 秒级QAT仿真 ↔ 数小时真机硬映射</a:t>
            </a:r>
          </a:p>
          <a:p>
            <a:r>
              <a:rPr lang="zh-CN" altLang="zh-CN" b="1" dirty="0"/>
              <a:t>抗噪波动：</a:t>
            </a:r>
            <a:r>
              <a:rPr lang="zh-CN" altLang="zh-CN" dirty="0"/>
              <a:t> 预注入标定噪声，真机精度较QAT仅回撤 M2 1.63%、M3 1.55%</a:t>
            </a:r>
          </a:p>
          <a:p>
            <a:r>
              <a:rPr lang="zh-CN" altLang="zh-CN" b="1" dirty="0"/>
              <a:t>快速验证：</a:t>
            </a:r>
            <a:r>
              <a:rPr lang="zh-CN" altLang="zh-CN" dirty="0"/>
              <a:t> --qat 数秒完成自验，定标部署不盲目</a:t>
            </a:r>
          </a:p>
          <a:p>
            <a:r>
              <a:rPr lang="zh-CN" altLang="zh-CN" b="1" dirty="0"/>
              <a:t>数据纯净：</a:t>
            </a:r>
            <a:r>
              <a:rPr lang="zh-CN" altLang="zh-CN" dirty="0"/>
              <a:t> 主动发现并修正测试集泄露，重构100%独立三分，全量重跑</a:t>
            </a:r>
          </a:p>
          <a:p>
            <a:r>
              <a:rPr lang="zh-CN" altLang="zh-CN" b="1" dirty="0"/>
              <a:t>真实负结果：</a:t>
            </a:r>
            <a:r>
              <a:rPr lang="zh-CN" altLang="zh-CN" dirty="0"/>
              <a:t> 蒸馏 M3 实测 90.28% 与无蒸馏 M2 90.43% 无统计显著性</a:t>
            </a:r>
          </a:p>
          <a:p>
            <a:r>
              <a:rPr lang="zh-CN" altLang="zh-CN" b="1" dirty="0"/>
              <a:t>核心结论：</a:t>
            </a:r>
            <a:r>
              <a:rPr lang="zh-CN" altLang="zh-CN" dirty="0"/>
              <a:t> 鲁棒性源于训练中适应物理噪声，而非高维教师网络拟合</a:t>
            </a:r>
          </a:p>
          <a:p>
            <a:endParaRPr lang="zh-CN" altLang="en-US" dirty="0"/>
          </a:p>
        </p:txBody>
      </p:sp>
    </p:spTree>
    <p:extLst>
      <p:ext uri="{BB962C8B-B14F-4D97-AF65-F5344CB8AC3E}">
        <p14:creationId xmlns:p14="http://schemas.microsoft.com/office/powerpoint/2010/main" val="292303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FA49412-1A0E-1576-A796-1EDF1D937B41}"/>
              </a:ext>
            </a:extLst>
          </p:cNvPr>
          <p:cNvSpPr txBox="1"/>
          <p:nvPr/>
        </p:nvSpPr>
        <p:spPr>
          <a:xfrm>
            <a:off x="509364" y="405036"/>
            <a:ext cx="5519460" cy="861774"/>
          </a:xfrm>
          <a:prstGeom prst="rect">
            <a:avLst/>
          </a:prstGeom>
          <a:noFill/>
        </p:spPr>
        <p:txBody>
          <a:bodyPr wrap="none" rtlCol="0">
            <a:spAutoFit/>
          </a:bodyPr>
          <a:lstStyle/>
          <a:p>
            <a:r>
              <a:rPr lang="zh-CN" altLang="zh-CN" sz="3200" b="1" dirty="0"/>
              <a:t>系统成果总结与未来在轨展望</a:t>
            </a:r>
          </a:p>
          <a:p>
            <a:endParaRPr lang="zh-CN" altLang="en-US" dirty="0"/>
          </a:p>
        </p:txBody>
      </p:sp>
      <p:graphicFrame>
        <p:nvGraphicFramePr>
          <p:cNvPr id="5" name="表格 4">
            <a:extLst>
              <a:ext uri="{FF2B5EF4-FFF2-40B4-BE49-F238E27FC236}">
                <a16:creationId xmlns:a16="http://schemas.microsoft.com/office/drawing/2014/main" id="{C49ED3B1-2BD6-8C72-02C3-E780EFFEAA11}"/>
              </a:ext>
            </a:extLst>
          </p:cNvPr>
          <p:cNvGraphicFramePr>
            <a:graphicFrameLocks noGrp="1"/>
          </p:cNvGraphicFramePr>
          <p:nvPr>
            <p:extLst>
              <p:ext uri="{D42A27DB-BD31-4B8C-83A1-F6EECF244321}">
                <p14:modId xmlns:p14="http://schemas.microsoft.com/office/powerpoint/2010/main" val="3385630387"/>
              </p:ext>
            </p:extLst>
          </p:nvPr>
        </p:nvGraphicFramePr>
        <p:xfrm>
          <a:off x="866355" y="1853844"/>
          <a:ext cx="3678840" cy="2529840"/>
        </p:xfrm>
        <a:graphic>
          <a:graphicData uri="http://schemas.openxmlformats.org/drawingml/2006/table">
            <a:tbl>
              <a:tblPr/>
              <a:tblGrid>
                <a:gridCol w="919710">
                  <a:extLst>
                    <a:ext uri="{9D8B030D-6E8A-4147-A177-3AD203B41FA5}">
                      <a16:colId xmlns:a16="http://schemas.microsoft.com/office/drawing/2014/main" val="2426245601"/>
                    </a:ext>
                  </a:extLst>
                </a:gridCol>
                <a:gridCol w="919710">
                  <a:extLst>
                    <a:ext uri="{9D8B030D-6E8A-4147-A177-3AD203B41FA5}">
                      <a16:colId xmlns:a16="http://schemas.microsoft.com/office/drawing/2014/main" val="3358664997"/>
                    </a:ext>
                  </a:extLst>
                </a:gridCol>
                <a:gridCol w="919710">
                  <a:extLst>
                    <a:ext uri="{9D8B030D-6E8A-4147-A177-3AD203B41FA5}">
                      <a16:colId xmlns:a16="http://schemas.microsoft.com/office/drawing/2014/main" val="3448809811"/>
                    </a:ext>
                  </a:extLst>
                </a:gridCol>
                <a:gridCol w="919710">
                  <a:extLst>
                    <a:ext uri="{9D8B030D-6E8A-4147-A177-3AD203B41FA5}">
                      <a16:colId xmlns:a16="http://schemas.microsoft.com/office/drawing/2014/main" val="2388735001"/>
                    </a:ext>
                  </a:extLst>
                </a:gridCol>
              </a:tblGrid>
              <a:tr h="0">
                <a:tc>
                  <a:txBody>
                    <a:bodyPr/>
                    <a:lstStyle/>
                    <a:p>
                      <a:pPr marL="0" marR="0" algn="l">
                        <a:buNone/>
                      </a:pPr>
                      <a:r>
                        <a:rPr lang="zh-CN" sz="1050" b="1" i="0">
                          <a:solidFill>
                            <a:srgbClr val="CBD5E1"/>
                          </a:solidFill>
                          <a:effectLst/>
                          <a:latin typeface="var(--font-title)"/>
                        </a:rPr>
                        <a:t>量化维度</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CBD5E1"/>
                          </a:solidFill>
                          <a:effectLst/>
                          <a:latin typeface="var(--font-title)"/>
                        </a:rPr>
                        <a:t>Model 1 (基线)</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var(--font-title)"/>
                        </a:rPr>
                        <a:t>Model 2 (SpaceNet V1)</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dirty="0">
                          <a:solidFill>
                            <a:srgbClr val="FFFFFF"/>
                          </a:solidFill>
                          <a:effectLst/>
                          <a:latin typeface="var(--font-title)"/>
                        </a:rPr>
                        <a:t>Model 3 (SpaceNet V2)</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531856474"/>
                  </a:ext>
                </a:extLst>
              </a:tr>
              <a:tr h="0">
                <a:tc>
                  <a:txBody>
                    <a:bodyPr/>
                    <a:lstStyle/>
                    <a:p>
                      <a:pPr marL="0" marR="0" algn="l">
                        <a:buNone/>
                      </a:pPr>
                      <a:r>
                        <a:rPr lang="zh-CN" sz="1050" b="1" i="0">
                          <a:solidFill>
                            <a:srgbClr val="CBD5E1"/>
                          </a:solidFill>
                          <a:effectLst/>
                          <a:latin typeface="DM Sans" pitchFamily="2" charset="0"/>
                        </a:rPr>
                        <a:t>有效光计算占比</a:t>
                      </a:r>
                      <a:endParaRPr lang="zh-CN" sz="1050" b="0" i="0">
                        <a:solidFill>
                          <a:srgbClr val="CBD5E1"/>
                        </a:solidFill>
                        <a:effectLst/>
                        <a:latin typeface="DM Sans" pitchFamily="2" charset="0"/>
                      </a:endParaRP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dirty="0">
                          <a:solidFill>
                            <a:srgbClr val="CBD5E1"/>
                          </a:solidFill>
                          <a:effectLst/>
                          <a:latin typeface="DM Sans" pitchFamily="2" charset="0"/>
                        </a:rPr>
                        <a:t>97.74%</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dirty="0">
                          <a:solidFill>
                            <a:srgbClr val="FFFFFF"/>
                          </a:solidFill>
                          <a:effectLst/>
                          <a:latin typeface="DM Sans" pitchFamily="2" charset="0"/>
                        </a:rPr>
                        <a:t>90.65% (超标准)</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90.65% (超标准)</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1258807298"/>
                  </a:ext>
                </a:extLst>
              </a:tr>
              <a:tr h="0">
                <a:tc>
                  <a:txBody>
                    <a:bodyPr/>
                    <a:lstStyle/>
                    <a:p>
                      <a:pPr marL="0" marR="0" algn="l">
                        <a:buNone/>
                      </a:pPr>
                      <a:r>
                        <a:rPr lang="zh-CN" sz="1050" b="1" i="0" dirty="0">
                          <a:solidFill>
                            <a:srgbClr val="CBD5E1"/>
                          </a:solidFill>
                          <a:effectLst/>
                          <a:latin typeface="DM Sans" pitchFamily="2" charset="0"/>
                        </a:rPr>
                        <a:t>真机精度 (全量5400)</a:t>
                      </a:r>
                      <a:endParaRPr lang="zh-CN" sz="1050" b="0" i="0" dirty="0">
                        <a:solidFill>
                          <a:srgbClr val="CBD5E1"/>
                        </a:solidFill>
                        <a:effectLst/>
                        <a:latin typeface="DM Sans" pitchFamily="2" charset="0"/>
                      </a:endParaRP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dirty="0">
                          <a:solidFill>
                            <a:srgbClr val="CBD5E1"/>
                          </a:solidFill>
                          <a:effectLst/>
                          <a:latin typeface="DM Sans" pitchFamily="2" charset="0"/>
                        </a:rPr>
                        <a:t>98.00% (抽样评估)</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90.43% (无损反超)</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90.28% (符合指标)</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3658951831"/>
                  </a:ext>
                </a:extLst>
              </a:tr>
              <a:tr h="0">
                <a:tc>
                  <a:txBody>
                    <a:bodyPr/>
                    <a:lstStyle/>
                    <a:p>
                      <a:pPr marL="0" marR="0" algn="l">
                        <a:buNone/>
                      </a:pPr>
                      <a:r>
                        <a:rPr lang="zh-CN" sz="1050" b="1" i="0">
                          <a:solidFill>
                            <a:srgbClr val="CBD5E1"/>
                          </a:solidFill>
                          <a:effectLst/>
                          <a:latin typeface="DM Sans" pitchFamily="2" charset="0"/>
                        </a:rPr>
                        <a:t>物理对齐定标率</a:t>
                      </a:r>
                      <a:endParaRPr lang="zh-CN" sz="1050" b="0" i="0">
                        <a:solidFill>
                          <a:srgbClr val="CBD5E1"/>
                        </a:solidFill>
                        <a:effectLst/>
                        <a:latin typeface="DM Sans" pitchFamily="2" charset="0"/>
                      </a:endParaRP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a:solidFill>
                            <a:srgbClr val="CBD5E1"/>
                          </a:solidFill>
                          <a:effectLst/>
                          <a:latin typeface="DM Sans" pitchFamily="2" charset="0"/>
                        </a:rPr>
                        <a:t>99.8%</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dirty="0">
                          <a:solidFill>
                            <a:srgbClr val="FFFFFF"/>
                          </a:solidFill>
                          <a:effectLst/>
                          <a:latin typeface="DM Sans" pitchFamily="2" charset="0"/>
                        </a:rPr>
                        <a:t>99.6%</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a:solidFill>
                            <a:srgbClr val="FFFFFF"/>
                          </a:solidFill>
                          <a:effectLst/>
                          <a:latin typeface="DM Sans" pitchFamily="2" charset="0"/>
                        </a:rPr>
                        <a:t>99.6%</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3027151731"/>
                  </a:ext>
                </a:extLst>
              </a:tr>
              <a:tr h="0">
                <a:tc>
                  <a:txBody>
                    <a:bodyPr/>
                    <a:lstStyle/>
                    <a:p>
                      <a:pPr marL="0" marR="0" algn="l">
                        <a:buNone/>
                      </a:pPr>
                      <a:r>
                        <a:rPr lang="zh-CN" sz="1050" b="1" i="0">
                          <a:solidFill>
                            <a:srgbClr val="CBD5E1"/>
                          </a:solidFill>
                          <a:effectLst/>
                          <a:latin typeface="DM Sans" pitchFamily="2" charset="0"/>
                        </a:rPr>
                        <a:t>模型参数 (Bytes)</a:t>
                      </a:r>
                      <a:endParaRPr lang="zh-CN" sz="1050" b="0" i="0">
                        <a:solidFill>
                          <a:srgbClr val="CBD5E1"/>
                        </a:solidFill>
                        <a:effectLst/>
                        <a:latin typeface="DM Sans" pitchFamily="2" charset="0"/>
                      </a:endParaRP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a:solidFill>
                            <a:srgbClr val="CBD5E1"/>
                          </a:solidFill>
                          <a:effectLst/>
                          <a:latin typeface="DM Sans" pitchFamily="2" charset="0"/>
                        </a:rPr>
                        <a:t>2.39 M</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268 K (超轻量)</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268 K (超轻量)</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1483103967"/>
                  </a:ext>
                </a:extLst>
              </a:tr>
              <a:tr h="0">
                <a:tc>
                  <a:txBody>
                    <a:bodyPr/>
                    <a:lstStyle/>
                    <a:p>
                      <a:pPr marL="0" marR="0" algn="l">
                        <a:buNone/>
                      </a:pPr>
                      <a:r>
                        <a:rPr lang="zh-CN" sz="1050" b="1" i="0">
                          <a:solidFill>
                            <a:srgbClr val="CBD5E1"/>
                          </a:solidFill>
                          <a:effectLst/>
                          <a:latin typeface="DM Sans" pitchFamily="2" charset="0"/>
                        </a:rPr>
                        <a:t>单图有效计算复杂度</a:t>
                      </a:r>
                      <a:endParaRPr lang="zh-CN" sz="1050" b="0" i="0">
                        <a:solidFill>
                          <a:srgbClr val="CBD5E1"/>
                        </a:solidFill>
                        <a:effectLst/>
                        <a:latin typeface="DM Sans" pitchFamily="2" charset="0"/>
                      </a:endParaRP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0" i="0" dirty="0">
                          <a:solidFill>
                            <a:srgbClr val="CBD5E1"/>
                          </a:solidFill>
                          <a:effectLst/>
                          <a:latin typeface="DM Sans" pitchFamily="2" charset="0"/>
                        </a:rPr>
                        <a:t>156.6M MOPs</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a:solidFill>
                            <a:srgbClr val="FFFFFF"/>
                          </a:solidFill>
                          <a:effectLst/>
                          <a:latin typeface="DM Sans" pitchFamily="2" charset="0"/>
                        </a:rPr>
                        <a:t>1.05M MOPs</a:t>
                      </a:r>
                    </a:p>
                  </a:txBody>
                  <a:tcPr marL="76200" marR="76200" marT="50800" marB="50800" anchor="ctr">
                    <a:lnL>
                      <a:noFill/>
                    </a:lnL>
                    <a:lnR>
                      <a:noFill/>
                    </a:lnR>
                    <a:lnT>
                      <a:noFill/>
                    </a:lnT>
                    <a:lnB>
                      <a:noFill/>
                    </a:lnB>
                    <a:solidFill>
                      <a:srgbClr val="0B192E"/>
                    </a:solidFill>
                  </a:tcPr>
                </a:tc>
                <a:tc>
                  <a:txBody>
                    <a:bodyPr/>
                    <a:lstStyle/>
                    <a:p>
                      <a:pPr marL="0" marR="0" algn="l">
                        <a:buNone/>
                      </a:pPr>
                      <a:r>
                        <a:rPr lang="zh-CN" sz="1050" b="1" i="0" dirty="0">
                          <a:solidFill>
                            <a:srgbClr val="FFFFFF"/>
                          </a:solidFill>
                          <a:effectLst/>
                          <a:latin typeface="DM Sans" pitchFamily="2" charset="0"/>
                        </a:rPr>
                        <a:t>1.05M MOPs</a:t>
                      </a:r>
                    </a:p>
                  </a:txBody>
                  <a:tcPr marL="76200" marR="76200" marT="50800" marB="50800" anchor="ctr">
                    <a:lnL>
                      <a:noFill/>
                    </a:lnL>
                    <a:lnR>
                      <a:noFill/>
                    </a:lnR>
                    <a:lnT>
                      <a:noFill/>
                    </a:lnT>
                    <a:lnB>
                      <a:noFill/>
                    </a:lnB>
                    <a:solidFill>
                      <a:srgbClr val="0B192E"/>
                    </a:solidFill>
                  </a:tcPr>
                </a:tc>
                <a:extLst>
                  <a:ext uri="{0D108BD9-81ED-4DB2-BD59-A6C34878D82A}">
                    <a16:rowId xmlns:a16="http://schemas.microsoft.com/office/drawing/2014/main" val="793744205"/>
                  </a:ext>
                </a:extLst>
              </a:tr>
            </a:tbl>
          </a:graphicData>
        </a:graphic>
      </p:graphicFrame>
      <p:sp>
        <p:nvSpPr>
          <p:cNvPr id="6" name="文本框 5">
            <a:extLst>
              <a:ext uri="{FF2B5EF4-FFF2-40B4-BE49-F238E27FC236}">
                <a16:creationId xmlns:a16="http://schemas.microsoft.com/office/drawing/2014/main" id="{D012D64D-57CD-CCA2-5F00-4C3FE4D368FD}"/>
              </a:ext>
            </a:extLst>
          </p:cNvPr>
          <p:cNvSpPr txBox="1"/>
          <p:nvPr/>
        </p:nvSpPr>
        <p:spPr>
          <a:xfrm>
            <a:off x="5347751" y="1133605"/>
            <a:ext cx="5312094" cy="3970318"/>
          </a:xfrm>
          <a:prstGeom prst="rect">
            <a:avLst/>
          </a:prstGeom>
          <a:noFill/>
        </p:spPr>
        <p:txBody>
          <a:bodyPr wrap="square" rtlCol="0">
            <a:spAutoFit/>
          </a:bodyPr>
          <a:lstStyle/>
          <a:p>
            <a:r>
              <a:rPr lang="zh-CN" altLang="zh-CN" b="1" dirty="0"/>
              <a:t>混合分割提速及在轨前瞻</a:t>
            </a:r>
          </a:p>
          <a:p>
            <a:r>
              <a:rPr lang="zh-CN" altLang="zh-CN" b="1" dirty="0"/>
              <a:t>1. 混合分割加速比探索：</a:t>
            </a:r>
            <a:r>
              <a:rPr lang="zh-CN" altLang="zh-CN" dirty="0"/>
              <a:t> 设计了三套多阶段混合分割执行机制（已提供 optic_inference_h{1,2,3}.py）：</a:t>
            </a:r>
            <a:br>
              <a:rPr lang="zh-CN" altLang="zh-CN" dirty="0"/>
            </a:br>
            <a:r>
              <a:rPr lang="zh-CN" altLang="zh-CN" dirty="0"/>
              <a:t>• H1: 卷积跑光学，线性全回电 (光占比: 65.5%)</a:t>
            </a:r>
            <a:br>
              <a:rPr lang="zh-CN" altLang="zh-CN" dirty="0"/>
            </a:br>
            <a:r>
              <a:rPr lang="zh-CN" altLang="zh-CN" dirty="0"/>
              <a:t>• H2: 剥离极慢层，获取超高整机带宽 (光占比: 78.2%)</a:t>
            </a:r>
            <a:br>
              <a:rPr lang="zh-CN" altLang="zh-CN" dirty="0"/>
            </a:br>
            <a:r>
              <a:rPr lang="zh-CN" altLang="zh-CN" dirty="0"/>
              <a:t>• H3: 极致紧凑分割，极致吞吐 (光占比: 53.3%)</a:t>
            </a:r>
          </a:p>
          <a:p>
            <a:r>
              <a:rPr lang="zh-CN" altLang="zh-CN" b="1" dirty="0"/>
              <a:t>2. 硬件在环闭环训练 (HW-in-the-loop)：</a:t>
            </a:r>
            <a:r>
              <a:rPr lang="zh-CN" altLang="zh-CN" dirty="0"/>
              <a:t> 计划直接使用 osimulator 物理相移结果作为梯度损失反馈，实现前向闭环训练。</a:t>
            </a:r>
          </a:p>
          <a:p>
            <a:r>
              <a:rPr lang="zh-CN" altLang="zh-CN" b="1" dirty="0"/>
              <a:t>3. 搭载微纳卫星在轨实验：</a:t>
            </a:r>
            <a:r>
              <a:rPr lang="zh-CN" altLang="zh-CN" dirty="0"/>
              <a:t> 推动模型与星载光学遥感设备联动，在轨实现对 Sentinel-2 地物类型的纯物理光电子实时分割。</a:t>
            </a:r>
          </a:p>
          <a:p>
            <a:endParaRPr lang="zh-CN" altLang="en-US" dirty="0"/>
          </a:p>
        </p:txBody>
      </p:sp>
      <p:sp>
        <p:nvSpPr>
          <p:cNvPr id="8" name="文本框 7">
            <a:extLst>
              <a:ext uri="{FF2B5EF4-FFF2-40B4-BE49-F238E27FC236}">
                <a16:creationId xmlns:a16="http://schemas.microsoft.com/office/drawing/2014/main" id="{88109A87-D5C8-3399-BBAA-F22D84679DD8}"/>
              </a:ext>
            </a:extLst>
          </p:cNvPr>
          <p:cNvSpPr txBox="1"/>
          <p:nvPr/>
        </p:nvSpPr>
        <p:spPr>
          <a:xfrm>
            <a:off x="3870858" y="5328758"/>
            <a:ext cx="6097022" cy="253916"/>
          </a:xfrm>
          <a:prstGeom prst="rect">
            <a:avLst/>
          </a:prstGeom>
          <a:noFill/>
        </p:spPr>
        <p:txBody>
          <a:bodyPr wrap="square">
            <a:spAutoFit/>
          </a:bodyPr>
          <a:lstStyle/>
          <a:p>
            <a:r>
              <a:rPr lang="zh-CN" altLang="zh-CN" sz="1050" b="1" i="0" dirty="0">
                <a:solidFill>
                  <a:srgbClr val="E69F00"/>
                </a:solidFill>
                <a:effectLst/>
                <a:latin typeface="DM Sans" pitchFamily="2" charset="0"/>
              </a:rPr>
              <a:t>“硬件先于模型”：将 90% 以上的计算负荷，由模拟相干光子物理执行。</a:t>
            </a:r>
            <a:endParaRPr lang="zh-CN" altLang="en-US" dirty="0"/>
          </a:p>
        </p:txBody>
      </p:sp>
    </p:spTree>
    <p:extLst>
      <p:ext uri="{BB962C8B-B14F-4D97-AF65-F5344CB8AC3E}">
        <p14:creationId xmlns:p14="http://schemas.microsoft.com/office/powerpoint/2010/main" val="110800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964446" y="1356258"/>
            <a:ext cx="5789541" cy="3170265"/>
            <a:chOff x="2855913" y="-477838"/>
            <a:chExt cx="5757862" cy="2501900"/>
          </a:xfrm>
          <a:solidFill>
            <a:schemeClr val="accent3"/>
          </a:solidFill>
        </p:grpSpPr>
        <p:sp>
          <p:nvSpPr>
            <p:cNvPr id="10" name="Freeform 5"/>
            <p:cNvSpPr>
              <a:spLocks/>
            </p:cNvSpPr>
            <p:nvPr userDrawn="1"/>
          </p:nvSpPr>
          <p:spPr bwMode="auto">
            <a:xfrm>
              <a:off x="2855913" y="76200"/>
              <a:ext cx="1317625" cy="1687513"/>
            </a:xfrm>
            <a:custGeom>
              <a:avLst/>
              <a:gdLst>
                <a:gd name="T0" fmla="*/ 557 w 702"/>
                <a:gd name="T1" fmla="*/ 136 h 898"/>
                <a:gd name="T2" fmla="*/ 681 w 702"/>
                <a:gd name="T3" fmla="*/ 72 h 898"/>
                <a:gd name="T4" fmla="*/ 700 w 702"/>
                <a:gd name="T5" fmla="*/ 55 h 898"/>
                <a:gd name="T6" fmla="*/ 673 w 702"/>
                <a:gd name="T7" fmla="*/ 31 h 898"/>
                <a:gd name="T8" fmla="*/ 656 w 702"/>
                <a:gd name="T9" fmla="*/ 16 h 898"/>
                <a:gd name="T10" fmla="*/ 569 w 702"/>
                <a:gd name="T11" fmla="*/ 21 h 898"/>
                <a:gd name="T12" fmla="*/ 286 w 702"/>
                <a:gd name="T13" fmla="*/ 79 h 898"/>
                <a:gd name="T14" fmla="*/ 38 w 702"/>
                <a:gd name="T15" fmla="*/ 130 h 898"/>
                <a:gd name="T16" fmla="*/ 4 w 702"/>
                <a:gd name="T17" fmla="*/ 193 h 898"/>
                <a:gd name="T18" fmla="*/ 34 w 702"/>
                <a:gd name="T19" fmla="*/ 231 h 898"/>
                <a:gd name="T20" fmla="*/ 216 w 702"/>
                <a:gd name="T21" fmla="*/ 210 h 898"/>
                <a:gd name="T22" fmla="*/ 381 w 702"/>
                <a:gd name="T23" fmla="*/ 176 h 898"/>
                <a:gd name="T24" fmla="*/ 374 w 702"/>
                <a:gd name="T25" fmla="*/ 216 h 898"/>
                <a:gd name="T26" fmla="*/ 351 w 702"/>
                <a:gd name="T27" fmla="*/ 487 h 898"/>
                <a:gd name="T28" fmla="*/ 338 w 702"/>
                <a:gd name="T29" fmla="*/ 716 h 898"/>
                <a:gd name="T30" fmla="*/ 329 w 702"/>
                <a:gd name="T31" fmla="*/ 755 h 898"/>
                <a:gd name="T32" fmla="*/ 350 w 702"/>
                <a:gd name="T33" fmla="*/ 771 h 898"/>
                <a:gd name="T34" fmla="*/ 350 w 702"/>
                <a:gd name="T35" fmla="*/ 799 h 898"/>
                <a:gd name="T36" fmla="*/ 345 w 702"/>
                <a:gd name="T37" fmla="*/ 843 h 898"/>
                <a:gd name="T38" fmla="*/ 358 w 702"/>
                <a:gd name="T39" fmla="*/ 840 h 898"/>
                <a:gd name="T40" fmla="*/ 397 w 702"/>
                <a:gd name="T41" fmla="*/ 885 h 898"/>
                <a:gd name="T42" fmla="*/ 402 w 702"/>
                <a:gd name="T43" fmla="*/ 896 h 898"/>
                <a:gd name="T44" fmla="*/ 412 w 702"/>
                <a:gd name="T45" fmla="*/ 870 h 898"/>
                <a:gd name="T46" fmla="*/ 427 w 702"/>
                <a:gd name="T47" fmla="*/ 828 h 898"/>
                <a:gd name="T48" fmla="*/ 444 w 702"/>
                <a:gd name="T49" fmla="*/ 704 h 898"/>
                <a:gd name="T50" fmla="*/ 534 w 702"/>
                <a:gd name="T51" fmla="*/ 164 h 898"/>
                <a:gd name="T52" fmla="*/ 557 w 702"/>
                <a:gd name="T53" fmla="*/ 136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2" h="898">
                  <a:moveTo>
                    <a:pt x="557" y="136"/>
                  </a:moveTo>
                  <a:cubicBezTo>
                    <a:pt x="599" y="117"/>
                    <a:pt x="649" y="111"/>
                    <a:pt x="681" y="72"/>
                  </a:cubicBezTo>
                  <a:cubicBezTo>
                    <a:pt x="686" y="65"/>
                    <a:pt x="702" y="68"/>
                    <a:pt x="700" y="55"/>
                  </a:cubicBezTo>
                  <a:cubicBezTo>
                    <a:pt x="698" y="40"/>
                    <a:pt x="685" y="35"/>
                    <a:pt x="673" y="31"/>
                  </a:cubicBezTo>
                  <a:cubicBezTo>
                    <a:pt x="666" y="27"/>
                    <a:pt x="680" y="0"/>
                    <a:pt x="656" y="16"/>
                  </a:cubicBezTo>
                  <a:cubicBezTo>
                    <a:pt x="627" y="16"/>
                    <a:pt x="598" y="15"/>
                    <a:pt x="569" y="21"/>
                  </a:cubicBezTo>
                  <a:cubicBezTo>
                    <a:pt x="475" y="41"/>
                    <a:pt x="380" y="60"/>
                    <a:pt x="286" y="79"/>
                  </a:cubicBezTo>
                  <a:cubicBezTo>
                    <a:pt x="203" y="96"/>
                    <a:pt x="121" y="114"/>
                    <a:pt x="38" y="130"/>
                  </a:cubicBezTo>
                  <a:cubicBezTo>
                    <a:pt x="0" y="138"/>
                    <a:pt x="7" y="167"/>
                    <a:pt x="4" y="193"/>
                  </a:cubicBezTo>
                  <a:cubicBezTo>
                    <a:pt x="1" y="216"/>
                    <a:pt x="12" y="226"/>
                    <a:pt x="34" y="231"/>
                  </a:cubicBezTo>
                  <a:cubicBezTo>
                    <a:pt x="98" y="247"/>
                    <a:pt x="156" y="221"/>
                    <a:pt x="216" y="210"/>
                  </a:cubicBezTo>
                  <a:cubicBezTo>
                    <a:pt x="271" y="201"/>
                    <a:pt x="324" y="180"/>
                    <a:pt x="381" y="176"/>
                  </a:cubicBezTo>
                  <a:cubicBezTo>
                    <a:pt x="378" y="192"/>
                    <a:pt x="375" y="204"/>
                    <a:pt x="374" y="216"/>
                  </a:cubicBezTo>
                  <a:cubicBezTo>
                    <a:pt x="362" y="306"/>
                    <a:pt x="365" y="397"/>
                    <a:pt x="351" y="487"/>
                  </a:cubicBezTo>
                  <a:cubicBezTo>
                    <a:pt x="338" y="562"/>
                    <a:pt x="341" y="640"/>
                    <a:pt x="338" y="716"/>
                  </a:cubicBezTo>
                  <a:cubicBezTo>
                    <a:pt x="335" y="729"/>
                    <a:pt x="333" y="742"/>
                    <a:pt x="329" y="755"/>
                  </a:cubicBezTo>
                  <a:cubicBezTo>
                    <a:pt x="324" y="776"/>
                    <a:pt x="336" y="774"/>
                    <a:pt x="350" y="771"/>
                  </a:cubicBezTo>
                  <a:cubicBezTo>
                    <a:pt x="345" y="781"/>
                    <a:pt x="350" y="790"/>
                    <a:pt x="350" y="799"/>
                  </a:cubicBezTo>
                  <a:cubicBezTo>
                    <a:pt x="344" y="813"/>
                    <a:pt x="341" y="829"/>
                    <a:pt x="345" y="843"/>
                  </a:cubicBezTo>
                  <a:cubicBezTo>
                    <a:pt x="349" y="859"/>
                    <a:pt x="352" y="835"/>
                    <a:pt x="358" y="840"/>
                  </a:cubicBezTo>
                  <a:cubicBezTo>
                    <a:pt x="381" y="847"/>
                    <a:pt x="379" y="875"/>
                    <a:pt x="397" y="885"/>
                  </a:cubicBezTo>
                  <a:cubicBezTo>
                    <a:pt x="397" y="889"/>
                    <a:pt x="398" y="898"/>
                    <a:pt x="402" y="896"/>
                  </a:cubicBezTo>
                  <a:cubicBezTo>
                    <a:pt x="413" y="891"/>
                    <a:pt x="411" y="879"/>
                    <a:pt x="412" y="870"/>
                  </a:cubicBezTo>
                  <a:cubicBezTo>
                    <a:pt x="424" y="858"/>
                    <a:pt x="425" y="842"/>
                    <a:pt x="427" y="828"/>
                  </a:cubicBezTo>
                  <a:cubicBezTo>
                    <a:pt x="433" y="787"/>
                    <a:pt x="438" y="745"/>
                    <a:pt x="444" y="704"/>
                  </a:cubicBezTo>
                  <a:cubicBezTo>
                    <a:pt x="467" y="523"/>
                    <a:pt x="495" y="342"/>
                    <a:pt x="534" y="164"/>
                  </a:cubicBezTo>
                  <a:cubicBezTo>
                    <a:pt x="537" y="149"/>
                    <a:pt x="541" y="143"/>
                    <a:pt x="557" y="13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1" name="Freeform 6"/>
            <p:cNvSpPr>
              <a:spLocks/>
            </p:cNvSpPr>
            <p:nvPr userDrawn="1"/>
          </p:nvSpPr>
          <p:spPr bwMode="auto">
            <a:xfrm>
              <a:off x="5822950" y="-236538"/>
              <a:ext cx="796925" cy="1274763"/>
            </a:xfrm>
            <a:custGeom>
              <a:avLst/>
              <a:gdLst>
                <a:gd name="T0" fmla="*/ 70 w 425"/>
                <a:gd name="T1" fmla="*/ 666 h 678"/>
                <a:gd name="T2" fmla="*/ 102 w 425"/>
                <a:gd name="T3" fmla="*/ 625 h 678"/>
                <a:gd name="T4" fmla="*/ 140 w 425"/>
                <a:gd name="T5" fmla="*/ 469 h 678"/>
                <a:gd name="T6" fmla="*/ 199 w 425"/>
                <a:gd name="T7" fmla="*/ 577 h 678"/>
                <a:gd name="T8" fmla="*/ 248 w 425"/>
                <a:gd name="T9" fmla="*/ 639 h 678"/>
                <a:gd name="T10" fmla="*/ 383 w 425"/>
                <a:gd name="T11" fmla="*/ 548 h 678"/>
                <a:gd name="T12" fmla="*/ 392 w 425"/>
                <a:gd name="T13" fmla="*/ 470 h 678"/>
                <a:gd name="T14" fmla="*/ 395 w 425"/>
                <a:gd name="T15" fmla="*/ 377 h 678"/>
                <a:gd name="T16" fmla="*/ 414 w 425"/>
                <a:gd name="T17" fmla="*/ 160 h 678"/>
                <a:gd name="T18" fmla="*/ 421 w 425"/>
                <a:gd name="T19" fmla="*/ 110 h 678"/>
                <a:gd name="T20" fmla="*/ 408 w 425"/>
                <a:gd name="T21" fmla="*/ 136 h 678"/>
                <a:gd name="T22" fmla="*/ 408 w 425"/>
                <a:gd name="T23" fmla="*/ 61 h 678"/>
                <a:gd name="T24" fmla="*/ 403 w 425"/>
                <a:gd name="T25" fmla="*/ 47 h 678"/>
                <a:gd name="T26" fmla="*/ 385 w 425"/>
                <a:gd name="T27" fmla="*/ 53 h 678"/>
                <a:gd name="T28" fmla="*/ 369 w 425"/>
                <a:gd name="T29" fmla="*/ 31 h 678"/>
                <a:gd name="T30" fmla="*/ 348 w 425"/>
                <a:gd name="T31" fmla="*/ 0 h 678"/>
                <a:gd name="T32" fmla="*/ 341 w 425"/>
                <a:gd name="T33" fmla="*/ 24 h 678"/>
                <a:gd name="T34" fmla="*/ 325 w 425"/>
                <a:gd name="T35" fmla="*/ 70 h 678"/>
                <a:gd name="T36" fmla="*/ 285 w 425"/>
                <a:gd name="T37" fmla="*/ 308 h 678"/>
                <a:gd name="T38" fmla="*/ 264 w 425"/>
                <a:gd name="T39" fmla="*/ 407 h 678"/>
                <a:gd name="T40" fmla="*/ 165 w 425"/>
                <a:gd name="T41" fmla="*/ 251 h 678"/>
                <a:gd name="T42" fmla="*/ 89 w 425"/>
                <a:gd name="T43" fmla="*/ 222 h 678"/>
                <a:gd name="T44" fmla="*/ 55 w 425"/>
                <a:gd name="T45" fmla="*/ 274 h 678"/>
                <a:gd name="T46" fmla="*/ 7 w 425"/>
                <a:gd name="T47" fmla="*/ 539 h 678"/>
                <a:gd name="T48" fmla="*/ 6 w 425"/>
                <a:gd name="T49" fmla="*/ 622 h 678"/>
                <a:gd name="T50" fmla="*/ 70 w 425"/>
                <a:gd name="T51" fmla="*/ 666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5" h="678">
                  <a:moveTo>
                    <a:pt x="70" y="666"/>
                  </a:moveTo>
                  <a:cubicBezTo>
                    <a:pt x="91" y="660"/>
                    <a:pt x="97" y="641"/>
                    <a:pt x="102" y="625"/>
                  </a:cubicBezTo>
                  <a:cubicBezTo>
                    <a:pt x="115" y="575"/>
                    <a:pt x="126" y="525"/>
                    <a:pt x="140" y="469"/>
                  </a:cubicBezTo>
                  <a:cubicBezTo>
                    <a:pt x="156" y="511"/>
                    <a:pt x="186" y="537"/>
                    <a:pt x="199" y="577"/>
                  </a:cubicBezTo>
                  <a:cubicBezTo>
                    <a:pt x="206" y="598"/>
                    <a:pt x="211" y="636"/>
                    <a:pt x="248" y="639"/>
                  </a:cubicBezTo>
                  <a:cubicBezTo>
                    <a:pt x="327" y="646"/>
                    <a:pt x="360" y="624"/>
                    <a:pt x="383" y="548"/>
                  </a:cubicBezTo>
                  <a:cubicBezTo>
                    <a:pt x="391" y="523"/>
                    <a:pt x="394" y="497"/>
                    <a:pt x="392" y="470"/>
                  </a:cubicBezTo>
                  <a:cubicBezTo>
                    <a:pt x="391" y="439"/>
                    <a:pt x="386" y="405"/>
                    <a:pt x="395" y="377"/>
                  </a:cubicBezTo>
                  <a:cubicBezTo>
                    <a:pt x="416" y="305"/>
                    <a:pt x="410" y="232"/>
                    <a:pt x="414" y="160"/>
                  </a:cubicBezTo>
                  <a:cubicBezTo>
                    <a:pt x="421" y="144"/>
                    <a:pt x="425" y="127"/>
                    <a:pt x="421" y="110"/>
                  </a:cubicBezTo>
                  <a:cubicBezTo>
                    <a:pt x="408" y="114"/>
                    <a:pt x="424" y="133"/>
                    <a:pt x="408" y="136"/>
                  </a:cubicBezTo>
                  <a:cubicBezTo>
                    <a:pt x="402" y="111"/>
                    <a:pt x="404" y="86"/>
                    <a:pt x="408" y="61"/>
                  </a:cubicBezTo>
                  <a:cubicBezTo>
                    <a:pt x="409" y="55"/>
                    <a:pt x="410" y="49"/>
                    <a:pt x="403" y="47"/>
                  </a:cubicBezTo>
                  <a:cubicBezTo>
                    <a:pt x="396" y="45"/>
                    <a:pt x="388" y="45"/>
                    <a:pt x="385" y="53"/>
                  </a:cubicBezTo>
                  <a:cubicBezTo>
                    <a:pt x="374" y="50"/>
                    <a:pt x="370" y="41"/>
                    <a:pt x="369" y="31"/>
                  </a:cubicBezTo>
                  <a:cubicBezTo>
                    <a:pt x="373" y="14"/>
                    <a:pt x="351" y="14"/>
                    <a:pt x="348" y="0"/>
                  </a:cubicBezTo>
                  <a:cubicBezTo>
                    <a:pt x="346" y="8"/>
                    <a:pt x="344" y="16"/>
                    <a:pt x="341" y="24"/>
                  </a:cubicBezTo>
                  <a:cubicBezTo>
                    <a:pt x="332" y="38"/>
                    <a:pt x="328" y="54"/>
                    <a:pt x="325" y="70"/>
                  </a:cubicBezTo>
                  <a:cubicBezTo>
                    <a:pt x="312" y="149"/>
                    <a:pt x="300" y="229"/>
                    <a:pt x="285" y="308"/>
                  </a:cubicBezTo>
                  <a:cubicBezTo>
                    <a:pt x="279" y="341"/>
                    <a:pt x="278" y="376"/>
                    <a:pt x="264" y="407"/>
                  </a:cubicBezTo>
                  <a:cubicBezTo>
                    <a:pt x="209" y="367"/>
                    <a:pt x="207" y="297"/>
                    <a:pt x="165" y="251"/>
                  </a:cubicBezTo>
                  <a:cubicBezTo>
                    <a:pt x="144" y="228"/>
                    <a:pt x="117" y="220"/>
                    <a:pt x="89" y="222"/>
                  </a:cubicBezTo>
                  <a:cubicBezTo>
                    <a:pt x="61" y="224"/>
                    <a:pt x="57" y="252"/>
                    <a:pt x="55" y="274"/>
                  </a:cubicBezTo>
                  <a:cubicBezTo>
                    <a:pt x="45" y="363"/>
                    <a:pt x="29" y="452"/>
                    <a:pt x="7" y="539"/>
                  </a:cubicBezTo>
                  <a:cubicBezTo>
                    <a:pt x="0" y="566"/>
                    <a:pt x="2" y="595"/>
                    <a:pt x="6" y="622"/>
                  </a:cubicBezTo>
                  <a:cubicBezTo>
                    <a:pt x="14" y="673"/>
                    <a:pt x="22" y="678"/>
                    <a:pt x="70" y="66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 name="Freeform 7"/>
            <p:cNvSpPr>
              <a:spLocks/>
            </p:cNvSpPr>
            <p:nvPr userDrawn="1"/>
          </p:nvSpPr>
          <p:spPr bwMode="auto">
            <a:xfrm>
              <a:off x="3781425" y="1284287"/>
              <a:ext cx="4832350" cy="739775"/>
            </a:xfrm>
            <a:custGeom>
              <a:avLst/>
              <a:gdLst>
                <a:gd name="T0" fmla="*/ 2501 w 2575"/>
                <a:gd name="T1" fmla="*/ 20 h 394"/>
                <a:gd name="T2" fmla="*/ 2494 w 2575"/>
                <a:gd name="T3" fmla="*/ 22 h 394"/>
                <a:gd name="T4" fmla="*/ 2477 w 2575"/>
                <a:gd name="T5" fmla="*/ 22 h 394"/>
                <a:gd name="T6" fmla="*/ 2278 w 2575"/>
                <a:gd name="T7" fmla="*/ 47 h 394"/>
                <a:gd name="T8" fmla="*/ 1713 w 2575"/>
                <a:gd name="T9" fmla="*/ 111 h 394"/>
                <a:gd name="T10" fmla="*/ 1248 w 2575"/>
                <a:gd name="T11" fmla="*/ 152 h 394"/>
                <a:gd name="T12" fmla="*/ 649 w 2575"/>
                <a:gd name="T13" fmla="*/ 207 h 394"/>
                <a:gd name="T14" fmla="*/ 107 w 2575"/>
                <a:gd name="T15" fmla="*/ 272 h 394"/>
                <a:gd name="T16" fmla="*/ 20 w 2575"/>
                <a:gd name="T17" fmla="*/ 296 h 394"/>
                <a:gd name="T18" fmla="*/ 2 w 2575"/>
                <a:gd name="T19" fmla="*/ 318 h 394"/>
                <a:gd name="T20" fmla="*/ 20 w 2575"/>
                <a:gd name="T21" fmla="*/ 335 h 394"/>
                <a:gd name="T22" fmla="*/ 53 w 2575"/>
                <a:gd name="T23" fmla="*/ 352 h 394"/>
                <a:gd name="T24" fmla="*/ 122 w 2575"/>
                <a:gd name="T25" fmla="*/ 385 h 394"/>
                <a:gd name="T26" fmla="*/ 500 w 2575"/>
                <a:gd name="T27" fmla="*/ 352 h 394"/>
                <a:gd name="T28" fmla="*/ 1185 w 2575"/>
                <a:gd name="T29" fmla="*/ 267 h 394"/>
                <a:gd name="T30" fmla="*/ 1483 w 2575"/>
                <a:gd name="T31" fmla="*/ 239 h 394"/>
                <a:gd name="T32" fmla="*/ 2021 w 2575"/>
                <a:gd name="T33" fmla="*/ 171 h 394"/>
                <a:gd name="T34" fmla="*/ 2075 w 2575"/>
                <a:gd name="T35" fmla="*/ 162 h 394"/>
                <a:gd name="T36" fmla="*/ 2134 w 2575"/>
                <a:gd name="T37" fmla="*/ 157 h 394"/>
                <a:gd name="T38" fmla="*/ 2172 w 2575"/>
                <a:gd name="T39" fmla="*/ 150 h 394"/>
                <a:gd name="T40" fmla="*/ 2206 w 2575"/>
                <a:gd name="T41" fmla="*/ 149 h 394"/>
                <a:gd name="T42" fmla="*/ 2234 w 2575"/>
                <a:gd name="T43" fmla="*/ 135 h 394"/>
                <a:gd name="T44" fmla="*/ 2258 w 2575"/>
                <a:gd name="T45" fmla="*/ 128 h 394"/>
                <a:gd name="T46" fmla="*/ 2416 w 2575"/>
                <a:gd name="T47" fmla="*/ 94 h 394"/>
                <a:gd name="T48" fmla="*/ 2448 w 2575"/>
                <a:gd name="T49" fmla="*/ 72 h 394"/>
                <a:gd name="T50" fmla="*/ 2450 w 2575"/>
                <a:gd name="T51" fmla="*/ 71 h 394"/>
                <a:gd name="T52" fmla="*/ 2453 w 2575"/>
                <a:gd name="T53" fmla="*/ 71 h 394"/>
                <a:gd name="T54" fmla="*/ 2475 w 2575"/>
                <a:gd name="T55" fmla="*/ 69 h 394"/>
                <a:gd name="T56" fmla="*/ 2475 w 2575"/>
                <a:gd name="T57" fmla="*/ 63 h 394"/>
                <a:gd name="T58" fmla="*/ 2455 w 2575"/>
                <a:gd name="T59" fmla="*/ 67 h 394"/>
                <a:gd name="T60" fmla="*/ 2463 w 2575"/>
                <a:gd name="T61" fmla="*/ 49 h 394"/>
                <a:gd name="T62" fmla="*/ 2471 w 2575"/>
                <a:gd name="T63" fmla="*/ 50 h 394"/>
                <a:gd name="T64" fmla="*/ 2471 w 2575"/>
                <a:gd name="T65" fmla="*/ 50 h 394"/>
                <a:gd name="T66" fmla="*/ 2516 w 2575"/>
                <a:gd name="T67" fmla="*/ 36 h 394"/>
                <a:gd name="T68" fmla="*/ 2575 w 2575"/>
                <a:gd name="T69" fmla="*/ 15 h 394"/>
                <a:gd name="T70" fmla="*/ 2501 w 2575"/>
                <a:gd name="T71" fmla="*/ 2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75" h="394">
                  <a:moveTo>
                    <a:pt x="2501" y="20"/>
                  </a:moveTo>
                  <a:cubicBezTo>
                    <a:pt x="2499" y="21"/>
                    <a:pt x="2496" y="21"/>
                    <a:pt x="2494" y="22"/>
                  </a:cubicBezTo>
                  <a:cubicBezTo>
                    <a:pt x="2488" y="22"/>
                    <a:pt x="2483" y="22"/>
                    <a:pt x="2477" y="22"/>
                  </a:cubicBezTo>
                  <a:cubicBezTo>
                    <a:pt x="2409" y="18"/>
                    <a:pt x="2344" y="37"/>
                    <a:pt x="2278" y="47"/>
                  </a:cubicBezTo>
                  <a:cubicBezTo>
                    <a:pt x="2091" y="74"/>
                    <a:pt x="1902" y="89"/>
                    <a:pt x="1713" y="111"/>
                  </a:cubicBezTo>
                  <a:cubicBezTo>
                    <a:pt x="1559" y="128"/>
                    <a:pt x="1403" y="134"/>
                    <a:pt x="1248" y="152"/>
                  </a:cubicBezTo>
                  <a:cubicBezTo>
                    <a:pt x="1049" y="174"/>
                    <a:pt x="849" y="186"/>
                    <a:pt x="649" y="207"/>
                  </a:cubicBezTo>
                  <a:cubicBezTo>
                    <a:pt x="468" y="227"/>
                    <a:pt x="287" y="244"/>
                    <a:pt x="107" y="272"/>
                  </a:cubicBezTo>
                  <a:cubicBezTo>
                    <a:pt x="77" y="277"/>
                    <a:pt x="47" y="283"/>
                    <a:pt x="20" y="296"/>
                  </a:cubicBezTo>
                  <a:cubicBezTo>
                    <a:pt x="11" y="301"/>
                    <a:pt x="0" y="306"/>
                    <a:pt x="2" y="318"/>
                  </a:cubicBezTo>
                  <a:cubicBezTo>
                    <a:pt x="3" y="328"/>
                    <a:pt x="12" y="331"/>
                    <a:pt x="20" y="335"/>
                  </a:cubicBezTo>
                  <a:cubicBezTo>
                    <a:pt x="32" y="340"/>
                    <a:pt x="50" y="340"/>
                    <a:pt x="53" y="352"/>
                  </a:cubicBezTo>
                  <a:cubicBezTo>
                    <a:pt x="63" y="394"/>
                    <a:pt x="96" y="387"/>
                    <a:pt x="122" y="385"/>
                  </a:cubicBezTo>
                  <a:cubicBezTo>
                    <a:pt x="248" y="376"/>
                    <a:pt x="374" y="366"/>
                    <a:pt x="500" y="352"/>
                  </a:cubicBezTo>
                  <a:cubicBezTo>
                    <a:pt x="729" y="326"/>
                    <a:pt x="955" y="282"/>
                    <a:pt x="1185" y="267"/>
                  </a:cubicBezTo>
                  <a:cubicBezTo>
                    <a:pt x="1284" y="260"/>
                    <a:pt x="1384" y="251"/>
                    <a:pt x="1483" y="239"/>
                  </a:cubicBezTo>
                  <a:cubicBezTo>
                    <a:pt x="1662" y="218"/>
                    <a:pt x="1842" y="194"/>
                    <a:pt x="2021" y="171"/>
                  </a:cubicBezTo>
                  <a:cubicBezTo>
                    <a:pt x="2039" y="168"/>
                    <a:pt x="2057" y="165"/>
                    <a:pt x="2075" y="162"/>
                  </a:cubicBezTo>
                  <a:cubicBezTo>
                    <a:pt x="2095" y="166"/>
                    <a:pt x="2113" y="148"/>
                    <a:pt x="2134" y="157"/>
                  </a:cubicBezTo>
                  <a:cubicBezTo>
                    <a:pt x="2148" y="161"/>
                    <a:pt x="2162" y="160"/>
                    <a:pt x="2172" y="150"/>
                  </a:cubicBezTo>
                  <a:cubicBezTo>
                    <a:pt x="2184" y="138"/>
                    <a:pt x="2194" y="146"/>
                    <a:pt x="2206" y="149"/>
                  </a:cubicBezTo>
                  <a:cubicBezTo>
                    <a:pt x="2214" y="141"/>
                    <a:pt x="2229" y="150"/>
                    <a:pt x="2234" y="135"/>
                  </a:cubicBezTo>
                  <a:cubicBezTo>
                    <a:pt x="2241" y="129"/>
                    <a:pt x="2256" y="152"/>
                    <a:pt x="2258" y="128"/>
                  </a:cubicBezTo>
                  <a:cubicBezTo>
                    <a:pt x="2310" y="114"/>
                    <a:pt x="2362" y="98"/>
                    <a:pt x="2416" y="94"/>
                  </a:cubicBezTo>
                  <a:cubicBezTo>
                    <a:pt x="2430" y="92"/>
                    <a:pt x="2455" y="105"/>
                    <a:pt x="2448" y="72"/>
                  </a:cubicBezTo>
                  <a:cubicBezTo>
                    <a:pt x="2450" y="71"/>
                    <a:pt x="2450" y="71"/>
                    <a:pt x="2450" y="71"/>
                  </a:cubicBezTo>
                  <a:cubicBezTo>
                    <a:pt x="2453" y="71"/>
                    <a:pt x="2453" y="71"/>
                    <a:pt x="2453" y="71"/>
                  </a:cubicBezTo>
                  <a:cubicBezTo>
                    <a:pt x="2461" y="76"/>
                    <a:pt x="2469" y="77"/>
                    <a:pt x="2475" y="69"/>
                  </a:cubicBezTo>
                  <a:cubicBezTo>
                    <a:pt x="2476" y="68"/>
                    <a:pt x="2476" y="63"/>
                    <a:pt x="2475" y="63"/>
                  </a:cubicBezTo>
                  <a:cubicBezTo>
                    <a:pt x="2468" y="59"/>
                    <a:pt x="2462" y="64"/>
                    <a:pt x="2455" y="67"/>
                  </a:cubicBezTo>
                  <a:cubicBezTo>
                    <a:pt x="2446" y="56"/>
                    <a:pt x="2453" y="52"/>
                    <a:pt x="2463" y="49"/>
                  </a:cubicBezTo>
                  <a:cubicBezTo>
                    <a:pt x="2466" y="50"/>
                    <a:pt x="2468" y="50"/>
                    <a:pt x="2471" y="50"/>
                  </a:cubicBezTo>
                  <a:cubicBezTo>
                    <a:pt x="2471" y="50"/>
                    <a:pt x="2471" y="50"/>
                    <a:pt x="2471" y="50"/>
                  </a:cubicBezTo>
                  <a:cubicBezTo>
                    <a:pt x="2487" y="50"/>
                    <a:pt x="2504" y="50"/>
                    <a:pt x="2516" y="36"/>
                  </a:cubicBezTo>
                  <a:cubicBezTo>
                    <a:pt x="2538" y="36"/>
                    <a:pt x="2551" y="11"/>
                    <a:pt x="2575" y="15"/>
                  </a:cubicBezTo>
                  <a:cubicBezTo>
                    <a:pt x="2549" y="0"/>
                    <a:pt x="2525" y="12"/>
                    <a:pt x="2501"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 name="Freeform 8"/>
            <p:cNvSpPr>
              <a:spLocks noEditPoints="1"/>
            </p:cNvSpPr>
            <p:nvPr userDrawn="1"/>
          </p:nvSpPr>
          <p:spPr bwMode="auto">
            <a:xfrm>
              <a:off x="3929063" y="6350"/>
              <a:ext cx="1911350" cy="1619250"/>
            </a:xfrm>
            <a:custGeom>
              <a:avLst/>
              <a:gdLst>
                <a:gd name="T0" fmla="*/ 47 w 1018"/>
                <a:gd name="T1" fmla="*/ 358 h 862"/>
                <a:gd name="T2" fmla="*/ 51 w 1018"/>
                <a:gd name="T3" fmla="*/ 449 h 862"/>
                <a:gd name="T4" fmla="*/ 70 w 1018"/>
                <a:gd name="T5" fmla="*/ 534 h 862"/>
                <a:gd name="T6" fmla="*/ 182 w 1018"/>
                <a:gd name="T7" fmla="*/ 591 h 862"/>
                <a:gd name="T8" fmla="*/ 210 w 1018"/>
                <a:gd name="T9" fmla="*/ 513 h 862"/>
                <a:gd name="T10" fmla="*/ 403 w 1018"/>
                <a:gd name="T11" fmla="*/ 371 h 862"/>
                <a:gd name="T12" fmla="*/ 332 w 1018"/>
                <a:gd name="T13" fmla="*/ 844 h 862"/>
                <a:gd name="T14" fmla="*/ 395 w 1018"/>
                <a:gd name="T15" fmla="*/ 829 h 862"/>
                <a:gd name="T16" fmla="*/ 514 w 1018"/>
                <a:gd name="T17" fmla="*/ 372 h 862"/>
                <a:gd name="T18" fmla="*/ 586 w 1018"/>
                <a:gd name="T19" fmla="*/ 338 h 862"/>
                <a:gd name="T20" fmla="*/ 588 w 1018"/>
                <a:gd name="T21" fmla="*/ 631 h 862"/>
                <a:gd name="T22" fmla="*/ 588 w 1018"/>
                <a:gd name="T23" fmla="*/ 631 h 862"/>
                <a:gd name="T24" fmla="*/ 609 w 1018"/>
                <a:gd name="T25" fmla="*/ 631 h 862"/>
                <a:gd name="T26" fmla="*/ 609 w 1018"/>
                <a:gd name="T27" fmla="*/ 631 h 862"/>
                <a:gd name="T28" fmla="*/ 692 w 1018"/>
                <a:gd name="T29" fmla="*/ 481 h 862"/>
                <a:gd name="T30" fmla="*/ 843 w 1018"/>
                <a:gd name="T31" fmla="*/ 477 h 862"/>
                <a:gd name="T32" fmla="*/ 978 w 1018"/>
                <a:gd name="T33" fmla="*/ 679 h 862"/>
                <a:gd name="T34" fmla="*/ 996 w 1018"/>
                <a:gd name="T35" fmla="*/ 573 h 862"/>
                <a:gd name="T36" fmla="*/ 946 w 1018"/>
                <a:gd name="T37" fmla="*/ 385 h 862"/>
                <a:gd name="T38" fmla="*/ 907 w 1018"/>
                <a:gd name="T39" fmla="*/ 334 h 862"/>
                <a:gd name="T40" fmla="*/ 753 w 1018"/>
                <a:gd name="T41" fmla="*/ 48 h 862"/>
                <a:gd name="T42" fmla="*/ 666 w 1018"/>
                <a:gd name="T43" fmla="*/ 83 h 862"/>
                <a:gd name="T44" fmla="*/ 673 w 1018"/>
                <a:gd name="T45" fmla="*/ 161 h 862"/>
                <a:gd name="T46" fmla="*/ 582 w 1018"/>
                <a:gd name="T47" fmla="*/ 89 h 862"/>
                <a:gd name="T48" fmla="*/ 486 w 1018"/>
                <a:gd name="T49" fmla="*/ 48 h 862"/>
                <a:gd name="T50" fmla="*/ 426 w 1018"/>
                <a:gd name="T51" fmla="*/ 250 h 862"/>
                <a:gd name="T52" fmla="*/ 276 w 1018"/>
                <a:gd name="T53" fmla="*/ 318 h 862"/>
                <a:gd name="T54" fmla="*/ 281 w 1018"/>
                <a:gd name="T55" fmla="*/ 191 h 862"/>
                <a:gd name="T56" fmla="*/ 279 w 1018"/>
                <a:gd name="T57" fmla="*/ 76 h 862"/>
                <a:gd name="T58" fmla="*/ 171 w 1018"/>
                <a:gd name="T59" fmla="*/ 100 h 862"/>
                <a:gd name="T60" fmla="*/ 59 w 1018"/>
                <a:gd name="T61" fmla="*/ 358 h 862"/>
                <a:gd name="T62" fmla="*/ 725 w 1018"/>
                <a:gd name="T63" fmla="*/ 232 h 862"/>
                <a:gd name="T64" fmla="*/ 779 w 1018"/>
                <a:gd name="T65" fmla="*/ 382 h 862"/>
                <a:gd name="T66" fmla="*/ 697 w 1018"/>
                <a:gd name="T67" fmla="*/ 28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18" h="862">
                  <a:moveTo>
                    <a:pt x="59" y="358"/>
                  </a:moveTo>
                  <a:cubicBezTo>
                    <a:pt x="55" y="358"/>
                    <a:pt x="51" y="357"/>
                    <a:pt x="47" y="358"/>
                  </a:cubicBezTo>
                  <a:cubicBezTo>
                    <a:pt x="29" y="362"/>
                    <a:pt x="8" y="362"/>
                    <a:pt x="2" y="386"/>
                  </a:cubicBezTo>
                  <a:cubicBezTo>
                    <a:pt x="0" y="398"/>
                    <a:pt x="40" y="448"/>
                    <a:pt x="51" y="449"/>
                  </a:cubicBezTo>
                  <a:cubicBezTo>
                    <a:pt x="97" y="456"/>
                    <a:pt x="97" y="456"/>
                    <a:pt x="79" y="502"/>
                  </a:cubicBezTo>
                  <a:cubicBezTo>
                    <a:pt x="75" y="512"/>
                    <a:pt x="70" y="523"/>
                    <a:pt x="70" y="534"/>
                  </a:cubicBezTo>
                  <a:cubicBezTo>
                    <a:pt x="69" y="550"/>
                    <a:pt x="60" y="573"/>
                    <a:pt x="83" y="580"/>
                  </a:cubicBezTo>
                  <a:cubicBezTo>
                    <a:pt x="115" y="590"/>
                    <a:pt x="149" y="598"/>
                    <a:pt x="182" y="591"/>
                  </a:cubicBezTo>
                  <a:cubicBezTo>
                    <a:pt x="196" y="589"/>
                    <a:pt x="208" y="578"/>
                    <a:pt x="208" y="559"/>
                  </a:cubicBezTo>
                  <a:cubicBezTo>
                    <a:pt x="208" y="544"/>
                    <a:pt x="209" y="528"/>
                    <a:pt x="210" y="513"/>
                  </a:cubicBezTo>
                  <a:cubicBezTo>
                    <a:pt x="211" y="482"/>
                    <a:pt x="210" y="443"/>
                    <a:pt x="238" y="427"/>
                  </a:cubicBezTo>
                  <a:cubicBezTo>
                    <a:pt x="286" y="398"/>
                    <a:pt x="343" y="388"/>
                    <a:pt x="403" y="371"/>
                  </a:cubicBezTo>
                  <a:cubicBezTo>
                    <a:pt x="386" y="444"/>
                    <a:pt x="369" y="509"/>
                    <a:pt x="354" y="576"/>
                  </a:cubicBezTo>
                  <a:cubicBezTo>
                    <a:pt x="333" y="664"/>
                    <a:pt x="320" y="753"/>
                    <a:pt x="332" y="844"/>
                  </a:cubicBezTo>
                  <a:cubicBezTo>
                    <a:pt x="334" y="862"/>
                    <a:pt x="350" y="858"/>
                    <a:pt x="351" y="858"/>
                  </a:cubicBezTo>
                  <a:cubicBezTo>
                    <a:pt x="365" y="846"/>
                    <a:pt x="386" y="841"/>
                    <a:pt x="395" y="829"/>
                  </a:cubicBezTo>
                  <a:cubicBezTo>
                    <a:pt x="410" y="808"/>
                    <a:pt x="418" y="781"/>
                    <a:pt x="426" y="756"/>
                  </a:cubicBezTo>
                  <a:cubicBezTo>
                    <a:pt x="463" y="630"/>
                    <a:pt x="490" y="501"/>
                    <a:pt x="514" y="372"/>
                  </a:cubicBezTo>
                  <a:cubicBezTo>
                    <a:pt x="524" y="323"/>
                    <a:pt x="547" y="297"/>
                    <a:pt x="593" y="285"/>
                  </a:cubicBezTo>
                  <a:cubicBezTo>
                    <a:pt x="596" y="304"/>
                    <a:pt x="591" y="322"/>
                    <a:pt x="586" y="338"/>
                  </a:cubicBezTo>
                  <a:cubicBezTo>
                    <a:pt x="566" y="401"/>
                    <a:pt x="553" y="465"/>
                    <a:pt x="558" y="530"/>
                  </a:cubicBezTo>
                  <a:cubicBezTo>
                    <a:pt x="560" y="563"/>
                    <a:pt x="546" y="607"/>
                    <a:pt x="588" y="631"/>
                  </a:cubicBezTo>
                  <a:cubicBezTo>
                    <a:pt x="588" y="631"/>
                    <a:pt x="588" y="631"/>
                    <a:pt x="588" y="631"/>
                  </a:cubicBezTo>
                  <a:cubicBezTo>
                    <a:pt x="588" y="631"/>
                    <a:pt x="588" y="631"/>
                    <a:pt x="588" y="631"/>
                  </a:cubicBezTo>
                  <a:cubicBezTo>
                    <a:pt x="591" y="641"/>
                    <a:pt x="594" y="650"/>
                    <a:pt x="598" y="661"/>
                  </a:cubicBezTo>
                  <a:cubicBezTo>
                    <a:pt x="607" y="651"/>
                    <a:pt x="609" y="642"/>
                    <a:pt x="609" y="631"/>
                  </a:cubicBezTo>
                  <a:cubicBezTo>
                    <a:pt x="607" y="629"/>
                    <a:pt x="604" y="627"/>
                    <a:pt x="602" y="626"/>
                  </a:cubicBezTo>
                  <a:cubicBezTo>
                    <a:pt x="604" y="625"/>
                    <a:pt x="607" y="626"/>
                    <a:pt x="609" y="631"/>
                  </a:cubicBezTo>
                  <a:cubicBezTo>
                    <a:pt x="624" y="577"/>
                    <a:pt x="623" y="519"/>
                    <a:pt x="642" y="463"/>
                  </a:cubicBezTo>
                  <a:cubicBezTo>
                    <a:pt x="658" y="474"/>
                    <a:pt x="674" y="479"/>
                    <a:pt x="692" y="481"/>
                  </a:cubicBezTo>
                  <a:cubicBezTo>
                    <a:pt x="733" y="487"/>
                    <a:pt x="770" y="466"/>
                    <a:pt x="810" y="461"/>
                  </a:cubicBezTo>
                  <a:cubicBezTo>
                    <a:pt x="830" y="459"/>
                    <a:pt x="836" y="462"/>
                    <a:pt x="843" y="477"/>
                  </a:cubicBezTo>
                  <a:cubicBezTo>
                    <a:pt x="865" y="521"/>
                    <a:pt x="881" y="567"/>
                    <a:pt x="890" y="617"/>
                  </a:cubicBezTo>
                  <a:cubicBezTo>
                    <a:pt x="902" y="691"/>
                    <a:pt x="905" y="690"/>
                    <a:pt x="978" y="679"/>
                  </a:cubicBezTo>
                  <a:cubicBezTo>
                    <a:pt x="1013" y="674"/>
                    <a:pt x="1018" y="655"/>
                    <a:pt x="1013" y="627"/>
                  </a:cubicBezTo>
                  <a:cubicBezTo>
                    <a:pt x="1010" y="609"/>
                    <a:pt x="1005" y="590"/>
                    <a:pt x="996" y="573"/>
                  </a:cubicBezTo>
                  <a:cubicBezTo>
                    <a:pt x="971" y="523"/>
                    <a:pt x="959" y="469"/>
                    <a:pt x="943" y="416"/>
                  </a:cubicBezTo>
                  <a:cubicBezTo>
                    <a:pt x="939" y="404"/>
                    <a:pt x="941" y="394"/>
                    <a:pt x="946" y="385"/>
                  </a:cubicBezTo>
                  <a:cubicBezTo>
                    <a:pt x="958" y="363"/>
                    <a:pt x="952" y="345"/>
                    <a:pt x="929" y="342"/>
                  </a:cubicBezTo>
                  <a:cubicBezTo>
                    <a:pt x="920" y="341"/>
                    <a:pt x="913" y="345"/>
                    <a:pt x="907" y="334"/>
                  </a:cubicBezTo>
                  <a:cubicBezTo>
                    <a:pt x="880" y="282"/>
                    <a:pt x="848" y="233"/>
                    <a:pt x="825" y="180"/>
                  </a:cubicBezTo>
                  <a:cubicBezTo>
                    <a:pt x="805" y="134"/>
                    <a:pt x="781" y="90"/>
                    <a:pt x="753" y="48"/>
                  </a:cubicBezTo>
                  <a:cubicBezTo>
                    <a:pt x="749" y="41"/>
                    <a:pt x="743" y="28"/>
                    <a:pt x="735" y="32"/>
                  </a:cubicBezTo>
                  <a:cubicBezTo>
                    <a:pt x="710" y="45"/>
                    <a:pt x="684" y="60"/>
                    <a:pt x="666" y="83"/>
                  </a:cubicBezTo>
                  <a:cubicBezTo>
                    <a:pt x="653" y="100"/>
                    <a:pt x="673" y="112"/>
                    <a:pt x="676" y="127"/>
                  </a:cubicBezTo>
                  <a:cubicBezTo>
                    <a:pt x="678" y="139"/>
                    <a:pt x="696" y="150"/>
                    <a:pt x="673" y="161"/>
                  </a:cubicBezTo>
                  <a:cubicBezTo>
                    <a:pt x="636" y="178"/>
                    <a:pt x="601" y="201"/>
                    <a:pt x="557" y="213"/>
                  </a:cubicBezTo>
                  <a:cubicBezTo>
                    <a:pt x="566" y="170"/>
                    <a:pt x="573" y="129"/>
                    <a:pt x="582" y="89"/>
                  </a:cubicBezTo>
                  <a:cubicBezTo>
                    <a:pt x="592" y="45"/>
                    <a:pt x="584" y="29"/>
                    <a:pt x="539" y="12"/>
                  </a:cubicBezTo>
                  <a:cubicBezTo>
                    <a:pt x="506" y="0"/>
                    <a:pt x="499" y="30"/>
                    <a:pt x="486" y="48"/>
                  </a:cubicBezTo>
                  <a:cubicBezTo>
                    <a:pt x="474" y="64"/>
                    <a:pt x="466" y="83"/>
                    <a:pt x="462" y="103"/>
                  </a:cubicBezTo>
                  <a:cubicBezTo>
                    <a:pt x="450" y="152"/>
                    <a:pt x="438" y="201"/>
                    <a:pt x="426" y="250"/>
                  </a:cubicBezTo>
                  <a:cubicBezTo>
                    <a:pt x="423" y="263"/>
                    <a:pt x="421" y="275"/>
                    <a:pt x="406" y="280"/>
                  </a:cubicBezTo>
                  <a:cubicBezTo>
                    <a:pt x="363" y="292"/>
                    <a:pt x="319" y="305"/>
                    <a:pt x="276" y="318"/>
                  </a:cubicBezTo>
                  <a:cubicBezTo>
                    <a:pt x="255" y="324"/>
                    <a:pt x="252" y="314"/>
                    <a:pt x="255" y="297"/>
                  </a:cubicBezTo>
                  <a:cubicBezTo>
                    <a:pt x="261" y="261"/>
                    <a:pt x="266" y="225"/>
                    <a:pt x="281" y="191"/>
                  </a:cubicBezTo>
                  <a:cubicBezTo>
                    <a:pt x="294" y="161"/>
                    <a:pt x="298" y="130"/>
                    <a:pt x="300" y="99"/>
                  </a:cubicBezTo>
                  <a:cubicBezTo>
                    <a:pt x="301" y="83"/>
                    <a:pt x="297" y="76"/>
                    <a:pt x="279" y="76"/>
                  </a:cubicBezTo>
                  <a:cubicBezTo>
                    <a:pt x="261" y="75"/>
                    <a:pt x="242" y="71"/>
                    <a:pt x="224" y="66"/>
                  </a:cubicBezTo>
                  <a:cubicBezTo>
                    <a:pt x="192" y="57"/>
                    <a:pt x="183" y="72"/>
                    <a:pt x="171" y="100"/>
                  </a:cubicBezTo>
                  <a:cubicBezTo>
                    <a:pt x="143" y="164"/>
                    <a:pt x="145" y="233"/>
                    <a:pt x="126" y="298"/>
                  </a:cubicBezTo>
                  <a:cubicBezTo>
                    <a:pt x="114" y="341"/>
                    <a:pt x="97" y="356"/>
                    <a:pt x="59" y="358"/>
                  </a:cubicBezTo>
                  <a:close/>
                  <a:moveTo>
                    <a:pt x="697" y="282"/>
                  </a:moveTo>
                  <a:cubicBezTo>
                    <a:pt x="703" y="265"/>
                    <a:pt x="715" y="249"/>
                    <a:pt x="725" y="232"/>
                  </a:cubicBezTo>
                  <a:cubicBezTo>
                    <a:pt x="757" y="273"/>
                    <a:pt x="777" y="314"/>
                    <a:pt x="794" y="358"/>
                  </a:cubicBezTo>
                  <a:cubicBezTo>
                    <a:pt x="802" y="378"/>
                    <a:pt x="797" y="383"/>
                    <a:pt x="779" y="382"/>
                  </a:cubicBezTo>
                  <a:cubicBezTo>
                    <a:pt x="774" y="382"/>
                    <a:pt x="769" y="383"/>
                    <a:pt x="764" y="383"/>
                  </a:cubicBezTo>
                  <a:cubicBezTo>
                    <a:pt x="618" y="393"/>
                    <a:pt x="664" y="384"/>
                    <a:pt x="697" y="28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 name="Freeform 9"/>
            <p:cNvSpPr>
              <a:spLocks noEditPoints="1"/>
            </p:cNvSpPr>
            <p:nvPr userDrawn="1"/>
          </p:nvSpPr>
          <p:spPr bwMode="auto">
            <a:xfrm>
              <a:off x="6592888" y="-477838"/>
              <a:ext cx="1638300" cy="1947863"/>
            </a:xfrm>
            <a:custGeom>
              <a:avLst/>
              <a:gdLst>
                <a:gd name="T0" fmla="*/ 14 w 873"/>
                <a:gd name="T1" fmla="*/ 1009 h 1036"/>
                <a:gd name="T2" fmla="*/ 20 w 873"/>
                <a:gd name="T3" fmla="*/ 1026 h 1036"/>
                <a:gd name="T4" fmla="*/ 44 w 873"/>
                <a:gd name="T5" fmla="*/ 1024 h 1036"/>
                <a:gd name="T6" fmla="*/ 118 w 873"/>
                <a:gd name="T7" fmla="*/ 878 h 1036"/>
                <a:gd name="T8" fmla="*/ 151 w 873"/>
                <a:gd name="T9" fmla="*/ 746 h 1036"/>
                <a:gd name="T10" fmla="*/ 167 w 873"/>
                <a:gd name="T11" fmla="*/ 764 h 1036"/>
                <a:gd name="T12" fmla="*/ 280 w 873"/>
                <a:gd name="T13" fmla="*/ 911 h 1036"/>
                <a:gd name="T14" fmla="*/ 435 w 873"/>
                <a:gd name="T15" fmla="*/ 964 h 1036"/>
                <a:gd name="T16" fmla="*/ 466 w 873"/>
                <a:gd name="T17" fmla="*/ 913 h 1036"/>
                <a:gd name="T18" fmla="*/ 696 w 873"/>
                <a:gd name="T19" fmla="*/ 846 h 1036"/>
                <a:gd name="T20" fmla="*/ 762 w 873"/>
                <a:gd name="T21" fmla="*/ 639 h 1036"/>
                <a:gd name="T22" fmla="*/ 639 w 873"/>
                <a:gd name="T23" fmla="*/ 496 h 1036"/>
                <a:gd name="T24" fmla="*/ 650 w 873"/>
                <a:gd name="T25" fmla="*/ 490 h 1036"/>
                <a:gd name="T26" fmla="*/ 676 w 873"/>
                <a:gd name="T27" fmla="*/ 443 h 1036"/>
                <a:gd name="T28" fmla="*/ 650 w 873"/>
                <a:gd name="T29" fmla="*/ 416 h 1036"/>
                <a:gd name="T30" fmla="*/ 650 w 873"/>
                <a:gd name="T31" fmla="*/ 401 h 1036"/>
                <a:gd name="T32" fmla="*/ 766 w 873"/>
                <a:gd name="T33" fmla="*/ 311 h 1036"/>
                <a:gd name="T34" fmla="*/ 837 w 873"/>
                <a:gd name="T35" fmla="*/ 325 h 1036"/>
                <a:gd name="T36" fmla="*/ 837 w 873"/>
                <a:gd name="T37" fmla="*/ 325 h 1036"/>
                <a:gd name="T38" fmla="*/ 863 w 873"/>
                <a:gd name="T39" fmla="*/ 362 h 1036"/>
                <a:gd name="T40" fmla="*/ 858 w 873"/>
                <a:gd name="T41" fmla="*/ 317 h 1036"/>
                <a:gd name="T42" fmla="*/ 861 w 873"/>
                <a:gd name="T43" fmla="*/ 281 h 1036"/>
                <a:gd name="T44" fmla="*/ 677 w 873"/>
                <a:gd name="T45" fmla="*/ 218 h 1036"/>
                <a:gd name="T46" fmla="*/ 613 w 873"/>
                <a:gd name="T47" fmla="*/ 265 h 1036"/>
                <a:gd name="T48" fmla="*/ 474 w 873"/>
                <a:gd name="T49" fmla="*/ 462 h 1036"/>
                <a:gd name="T50" fmla="*/ 446 w 873"/>
                <a:gd name="T51" fmla="*/ 482 h 1036"/>
                <a:gd name="T52" fmla="*/ 227 w 873"/>
                <a:gd name="T53" fmla="*/ 529 h 1036"/>
                <a:gd name="T54" fmla="*/ 204 w 873"/>
                <a:gd name="T55" fmla="*/ 507 h 1036"/>
                <a:gd name="T56" fmla="*/ 256 w 873"/>
                <a:gd name="T57" fmla="*/ 298 h 1036"/>
                <a:gd name="T58" fmla="*/ 306 w 873"/>
                <a:gd name="T59" fmla="*/ 72 h 1036"/>
                <a:gd name="T60" fmla="*/ 256 w 873"/>
                <a:gd name="T61" fmla="*/ 12 h 1036"/>
                <a:gd name="T62" fmla="*/ 217 w 873"/>
                <a:gd name="T63" fmla="*/ 37 h 1036"/>
                <a:gd name="T64" fmla="*/ 173 w 873"/>
                <a:gd name="T65" fmla="*/ 140 h 1036"/>
                <a:gd name="T66" fmla="*/ 88 w 873"/>
                <a:gd name="T67" fmla="*/ 513 h 1036"/>
                <a:gd name="T68" fmla="*/ 57 w 873"/>
                <a:gd name="T69" fmla="*/ 633 h 1036"/>
                <a:gd name="T70" fmla="*/ 14 w 873"/>
                <a:gd name="T71" fmla="*/ 1009 h 1036"/>
                <a:gd name="T72" fmla="*/ 431 w 873"/>
                <a:gd name="T73" fmla="*/ 585 h 1036"/>
                <a:gd name="T74" fmla="*/ 442 w 873"/>
                <a:gd name="T75" fmla="*/ 583 h 1036"/>
                <a:gd name="T76" fmla="*/ 566 w 873"/>
                <a:gd name="T77" fmla="*/ 617 h 1036"/>
                <a:gd name="T78" fmla="*/ 617 w 873"/>
                <a:gd name="T79" fmla="*/ 656 h 1036"/>
                <a:gd name="T80" fmla="*/ 629 w 873"/>
                <a:gd name="T81" fmla="*/ 754 h 1036"/>
                <a:gd name="T82" fmla="*/ 521 w 873"/>
                <a:gd name="T83" fmla="*/ 826 h 1036"/>
                <a:gd name="T84" fmla="*/ 469 w 873"/>
                <a:gd name="T85" fmla="*/ 873 h 1036"/>
                <a:gd name="T86" fmla="*/ 456 w 873"/>
                <a:gd name="T87" fmla="*/ 875 h 1036"/>
                <a:gd name="T88" fmla="*/ 440 w 873"/>
                <a:gd name="T89" fmla="*/ 881 h 1036"/>
                <a:gd name="T90" fmla="*/ 440 w 873"/>
                <a:gd name="T91" fmla="*/ 881 h 1036"/>
                <a:gd name="T92" fmla="*/ 440 w 873"/>
                <a:gd name="T93" fmla="*/ 881 h 1036"/>
                <a:gd name="T94" fmla="*/ 370 w 873"/>
                <a:gd name="T95" fmla="*/ 820 h 1036"/>
                <a:gd name="T96" fmla="*/ 313 w 873"/>
                <a:gd name="T97" fmla="*/ 762 h 1036"/>
                <a:gd name="T98" fmla="*/ 205 w 873"/>
                <a:gd name="T99" fmla="*/ 650 h 1036"/>
                <a:gd name="T100" fmla="*/ 431 w 873"/>
                <a:gd name="T101" fmla="*/ 585 h 1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3" h="1036">
                  <a:moveTo>
                    <a:pt x="14" y="1009"/>
                  </a:moveTo>
                  <a:cubicBezTo>
                    <a:pt x="14" y="1015"/>
                    <a:pt x="9" y="1032"/>
                    <a:pt x="20" y="1026"/>
                  </a:cubicBezTo>
                  <a:cubicBezTo>
                    <a:pt x="29" y="1021"/>
                    <a:pt x="33" y="1036"/>
                    <a:pt x="44" y="1024"/>
                  </a:cubicBezTo>
                  <a:cubicBezTo>
                    <a:pt x="83" y="982"/>
                    <a:pt x="105" y="933"/>
                    <a:pt x="118" y="878"/>
                  </a:cubicBezTo>
                  <a:cubicBezTo>
                    <a:pt x="129" y="836"/>
                    <a:pt x="139" y="793"/>
                    <a:pt x="151" y="746"/>
                  </a:cubicBezTo>
                  <a:cubicBezTo>
                    <a:pt x="159" y="755"/>
                    <a:pt x="164" y="759"/>
                    <a:pt x="167" y="764"/>
                  </a:cubicBezTo>
                  <a:cubicBezTo>
                    <a:pt x="205" y="813"/>
                    <a:pt x="243" y="862"/>
                    <a:pt x="280" y="911"/>
                  </a:cubicBezTo>
                  <a:cubicBezTo>
                    <a:pt x="320" y="964"/>
                    <a:pt x="374" y="978"/>
                    <a:pt x="435" y="964"/>
                  </a:cubicBezTo>
                  <a:cubicBezTo>
                    <a:pt x="460" y="959"/>
                    <a:pt x="488" y="949"/>
                    <a:pt x="466" y="913"/>
                  </a:cubicBezTo>
                  <a:cubicBezTo>
                    <a:pt x="550" y="909"/>
                    <a:pt x="628" y="898"/>
                    <a:pt x="696" y="846"/>
                  </a:cubicBezTo>
                  <a:cubicBezTo>
                    <a:pt x="763" y="796"/>
                    <a:pt x="789" y="719"/>
                    <a:pt x="762" y="639"/>
                  </a:cubicBezTo>
                  <a:cubicBezTo>
                    <a:pt x="741" y="574"/>
                    <a:pt x="691" y="535"/>
                    <a:pt x="639" y="496"/>
                  </a:cubicBezTo>
                  <a:cubicBezTo>
                    <a:pt x="644" y="494"/>
                    <a:pt x="647" y="492"/>
                    <a:pt x="650" y="490"/>
                  </a:cubicBezTo>
                  <a:cubicBezTo>
                    <a:pt x="665" y="478"/>
                    <a:pt x="673" y="460"/>
                    <a:pt x="676" y="443"/>
                  </a:cubicBezTo>
                  <a:cubicBezTo>
                    <a:pt x="679" y="429"/>
                    <a:pt x="671" y="415"/>
                    <a:pt x="650" y="416"/>
                  </a:cubicBezTo>
                  <a:cubicBezTo>
                    <a:pt x="643" y="416"/>
                    <a:pt x="646" y="404"/>
                    <a:pt x="650" y="401"/>
                  </a:cubicBezTo>
                  <a:cubicBezTo>
                    <a:pt x="689" y="371"/>
                    <a:pt x="702" y="310"/>
                    <a:pt x="766" y="311"/>
                  </a:cubicBezTo>
                  <a:cubicBezTo>
                    <a:pt x="791" y="312"/>
                    <a:pt x="813" y="322"/>
                    <a:pt x="837" y="325"/>
                  </a:cubicBezTo>
                  <a:cubicBezTo>
                    <a:pt x="837" y="325"/>
                    <a:pt x="837" y="325"/>
                    <a:pt x="837" y="325"/>
                  </a:cubicBezTo>
                  <a:cubicBezTo>
                    <a:pt x="840" y="341"/>
                    <a:pt x="860" y="345"/>
                    <a:pt x="863" y="362"/>
                  </a:cubicBezTo>
                  <a:cubicBezTo>
                    <a:pt x="870" y="345"/>
                    <a:pt x="868" y="331"/>
                    <a:pt x="858" y="317"/>
                  </a:cubicBezTo>
                  <a:cubicBezTo>
                    <a:pt x="873" y="306"/>
                    <a:pt x="868" y="294"/>
                    <a:pt x="861" y="281"/>
                  </a:cubicBezTo>
                  <a:cubicBezTo>
                    <a:pt x="835" y="230"/>
                    <a:pt x="755" y="177"/>
                    <a:pt x="677" y="218"/>
                  </a:cubicBezTo>
                  <a:cubicBezTo>
                    <a:pt x="653" y="231"/>
                    <a:pt x="632" y="246"/>
                    <a:pt x="613" y="265"/>
                  </a:cubicBezTo>
                  <a:cubicBezTo>
                    <a:pt x="555" y="322"/>
                    <a:pt x="490" y="375"/>
                    <a:pt x="474" y="462"/>
                  </a:cubicBezTo>
                  <a:cubicBezTo>
                    <a:pt x="470" y="480"/>
                    <a:pt x="457" y="478"/>
                    <a:pt x="446" y="482"/>
                  </a:cubicBezTo>
                  <a:cubicBezTo>
                    <a:pt x="374" y="504"/>
                    <a:pt x="301" y="514"/>
                    <a:pt x="227" y="529"/>
                  </a:cubicBezTo>
                  <a:cubicBezTo>
                    <a:pt x="205" y="533"/>
                    <a:pt x="200" y="526"/>
                    <a:pt x="204" y="507"/>
                  </a:cubicBezTo>
                  <a:cubicBezTo>
                    <a:pt x="221" y="437"/>
                    <a:pt x="236" y="367"/>
                    <a:pt x="256" y="298"/>
                  </a:cubicBezTo>
                  <a:cubicBezTo>
                    <a:pt x="277" y="223"/>
                    <a:pt x="288" y="147"/>
                    <a:pt x="306" y="72"/>
                  </a:cubicBezTo>
                  <a:cubicBezTo>
                    <a:pt x="315" y="32"/>
                    <a:pt x="281" y="24"/>
                    <a:pt x="256" y="12"/>
                  </a:cubicBezTo>
                  <a:cubicBezTo>
                    <a:pt x="233" y="0"/>
                    <a:pt x="226" y="24"/>
                    <a:pt x="217" y="37"/>
                  </a:cubicBezTo>
                  <a:cubicBezTo>
                    <a:pt x="194" y="68"/>
                    <a:pt x="181" y="103"/>
                    <a:pt x="173" y="140"/>
                  </a:cubicBezTo>
                  <a:cubicBezTo>
                    <a:pt x="145" y="265"/>
                    <a:pt x="120" y="390"/>
                    <a:pt x="88" y="513"/>
                  </a:cubicBezTo>
                  <a:cubicBezTo>
                    <a:pt x="77" y="553"/>
                    <a:pt x="64" y="591"/>
                    <a:pt x="57" y="633"/>
                  </a:cubicBezTo>
                  <a:cubicBezTo>
                    <a:pt x="35" y="758"/>
                    <a:pt x="0" y="881"/>
                    <a:pt x="14" y="1009"/>
                  </a:cubicBezTo>
                  <a:close/>
                  <a:moveTo>
                    <a:pt x="431" y="585"/>
                  </a:moveTo>
                  <a:cubicBezTo>
                    <a:pt x="435" y="585"/>
                    <a:pt x="439" y="585"/>
                    <a:pt x="442" y="583"/>
                  </a:cubicBezTo>
                  <a:cubicBezTo>
                    <a:pt x="498" y="542"/>
                    <a:pt x="531" y="579"/>
                    <a:pt x="566" y="617"/>
                  </a:cubicBezTo>
                  <a:cubicBezTo>
                    <a:pt x="580" y="633"/>
                    <a:pt x="598" y="647"/>
                    <a:pt x="617" y="656"/>
                  </a:cubicBezTo>
                  <a:cubicBezTo>
                    <a:pt x="666" y="679"/>
                    <a:pt x="659" y="719"/>
                    <a:pt x="629" y="754"/>
                  </a:cubicBezTo>
                  <a:cubicBezTo>
                    <a:pt x="601" y="788"/>
                    <a:pt x="559" y="807"/>
                    <a:pt x="521" y="826"/>
                  </a:cubicBezTo>
                  <a:cubicBezTo>
                    <a:pt x="497" y="838"/>
                    <a:pt x="475" y="843"/>
                    <a:pt x="469" y="873"/>
                  </a:cubicBezTo>
                  <a:cubicBezTo>
                    <a:pt x="469" y="874"/>
                    <a:pt x="461" y="874"/>
                    <a:pt x="456" y="875"/>
                  </a:cubicBezTo>
                  <a:cubicBezTo>
                    <a:pt x="451" y="877"/>
                    <a:pt x="445" y="879"/>
                    <a:pt x="440" y="881"/>
                  </a:cubicBezTo>
                  <a:cubicBezTo>
                    <a:pt x="440" y="881"/>
                    <a:pt x="440" y="881"/>
                    <a:pt x="440" y="881"/>
                  </a:cubicBezTo>
                  <a:cubicBezTo>
                    <a:pt x="440" y="881"/>
                    <a:pt x="440" y="881"/>
                    <a:pt x="440" y="881"/>
                  </a:cubicBezTo>
                  <a:cubicBezTo>
                    <a:pt x="428" y="848"/>
                    <a:pt x="393" y="841"/>
                    <a:pt x="370" y="820"/>
                  </a:cubicBezTo>
                  <a:cubicBezTo>
                    <a:pt x="350" y="802"/>
                    <a:pt x="331" y="783"/>
                    <a:pt x="313" y="762"/>
                  </a:cubicBezTo>
                  <a:cubicBezTo>
                    <a:pt x="280" y="723"/>
                    <a:pt x="241" y="688"/>
                    <a:pt x="205" y="650"/>
                  </a:cubicBezTo>
                  <a:cubicBezTo>
                    <a:pt x="278" y="625"/>
                    <a:pt x="353" y="599"/>
                    <a:pt x="431" y="58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4" name="椭圆 23">
            <a:extLst>
              <a:ext uri="{FF2B5EF4-FFF2-40B4-BE49-F238E27FC236}">
                <a16:creationId xmlns:a16="http://schemas.microsoft.com/office/drawing/2014/main" id="{21872023-1CA1-47EB-A31A-5D94089B2128}"/>
              </a:ext>
            </a:extLst>
          </p:cNvPr>
          <p:cNvSpPr/>
          <p:nvPr/>
        </p:nvSpPr>
        <p:spPr>
          <a:xfrm>
            <a:off x="10128669" y="1735494"/>
            <a:ext cx="1150294" cy="1150294"/>
          </a:xfrm>
          <a:prstGeom prst="ellipse">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2800" dirty="0">
              <a:solidFill>
                <a:schemeClr val="bg1">
                  <a:lumMod val="65000"/>
                </a:schemeClr>
              </a:solidFill>
              <a:latin typeface="Impact" panose="020B0806030902050204" pitchFamily="34" charset="0"/>
            </a:endParaRPr>
          </a:p>
        </p:txBody>
      </p:sp>
      <p:pic>
        <p:nvPicPr>
          <p:cNvPr id="20" name="图片占位符 19" descr="图片包含 建筑物, 户外, 天空&#10;&#10;自动生成的说明">
            <a:extLst>
              <a:ext uri="{FF2B5EF4-FFF2-40B4-BE49-F238E27FC236}">
                <a16:creationId xmlns:a16="http://schemas.microsoft.com/office/drawing/2014/main" id="{C405AC16-DDA1-4E02-BAC5-9E5585B359B0}"/>
              </a:ext>
            </a:extLst>
          </p:cNvPr>
          <p:cNvPicPr>
            <a:picLocks noGrp="1" noChangeAspect="1"/>
          </p:cNvPicPr>
          <p:nvPr>
            <p:ph type="pic" sz="quarter" idx="19"/>
          </p:nvPr>
        </p:nvPicPr>
        <p:blipFill>
          <a:blip r:embed="rId2" cstate="email">
            <a:extLst>
              <a:ext uri="{28A0092B-C50C-407E-A947-70E740481C1C}">
                <a14:useLocalDpi xmlns:a14="http://schemas.microsoft.com/office/drawing/2010/main" val="0"/>
              </a:ext>
            </a:extLst>
          </a:blip>
          <a:srcRect/>
          <a:stretch>
            <a:fillRect/>
          </a:stretch>
        </p:blipFill>
        <p:spPr>
          <a:xfrm>
            <a:off x="143693" y="0"/>
            <a:ext cx="4927057" cy="6866909"/>
          </a:xfrm>
        </p:spPr>
      </p:pic>
      <p:sp>
        <p:nvSpPr>
          <p:cNvPr id="2" name="文本框 1">
            <a:extLst>
              <a:ext uri="{FF2B5EF4-FFF2-40B4-BE49-F238E27FC236}">
                <a16:creationId xmlns:a16="http://schemas.microsoft.com/office/drawing/2014/main" id="{4297BEF2-0C27-71E9-5252-ACAC662C3E5D}"/>
              </a:ext>
            </a:extLst>
          </p:cNvPr>
          <p:cNvSpPr txBox="1"/>
          <p:nvPr/>
        </p:nvSpPr>
        <p:spPr>
          <a:xfrm>
            <a:off x="6832985" y="5247060"/>
            <a:ext cx="2448106" cy="523220"/>
          </a:xfrm>
          <a:prstGeom prst="rect">
            <a:avLst/>
          </a:prstGeom>
          <a:noFill/>
        </p:spPr>
        <p:txBody>
          <a:bodyPr wrap="none" rtlCol="0">
            <a:spAutoFit/>
          </a:bodyPr>
          <a:lstStyle/>
          <a:p>
            <a:r>
              <a:rPr lang="en-US" altLang="zh-CN" sz="2800" b="1" dirty="0"/>
              <a:t>CICC 1003564</a:t>
            </a:r>
          </a:p>
        </p:txBody>
      </p:sp>
      <p:pic>
        <p:nvPicPr>
          <p:cNvPr id="4" name="图片 3">
            <a:extLst>
              <a:ext uri="{FF2B5EF4-FFF2-40B4-BE49-F238E27FC236}">
                <a16:creationId xmlns:a16="http://schemas.microsoft.com/office/drawing/2014/main" id="{183869AB-68A8-65A5-DE78-1C03946E6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2243" y="1948366"/>
            <a:ext cx="1281897" cy="724550"/>
          </a:xfrm>
          <a:prstGeom prst="rect">
            <a:avLst/>
          </a:prstGeom>
        </p:spPr>
      </p:pic>
    </p:spTree>
    <p:extLst>
      <p:ext uri="{BB962C8B-B14F-4D97-AF65-F5344CB8AC3E}">
        <p14:creationId xmlns:p14="http://schemas.microsoft.com/office/powerpoint/2010/main" val="1259043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585</TotalTime>
  <Words>2594</Words>
  <Application>Microsoft Office PowerPoint</Application>
  <PresentationFormat>宽屏</PresentationFormat>
  <Paragraphs>235</Paragraphs>
  <Slides>15</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Alimama ShuHeiTi Bold</vt:lpstr>
      <vt:lpstr>HarmonyOS Sans SC</vt:lpstr>
      <vt:lpstr>HarmonyOS Sans SC Black</vt:lpstr>
      <vt:lpstr>Plus Jakarta Sans</vt:lpstr>
      <vt:lpstr>var(--font-title)</vt:lpstr>
      <vt:lpstr>等线</vt:lpstr>
      <vt:lpstr>等线 Light</vt:lpstr>
      <vt:lpstr>Arial</vt:lpstr>
      <vt:lpstr>Calibri</vt:lpstr>
      <vt:lpstr>Cambria Math</vt:lpstr>
      <vt:lpstr>Courier New</vt:lpstr>
      <vt:lpstr>DM Sans</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lhhisdd@163.com</dc:creator>
  <cp:lastModifiedBy>lhhisdd@163.com</cp:lastModifiedBy>
  <cp:revision>38</cp:revision>
  <dcterms:created xsi:type="dcterms:W3CDTF">2026-07-17T10:10:21Z</dcterms:created>
  <dcterms:modified xsi:type="dcterms:W3CDTF">2026-07-18T05:57:31Z</dcterms:modified>
</cp:coreProperties>
</file>