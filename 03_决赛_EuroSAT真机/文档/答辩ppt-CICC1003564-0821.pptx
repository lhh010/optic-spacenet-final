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7" r:id="rId2"/>
    <p:sldId id="287" r:id="rId3"/>
    <p:sldId id="294" r:id="rId4"/>
    <p:sldId id="295" r:id="rId5"/>
    <p:sldId id="265" r:id="rId6"/>
    <p:sldId id="259" r:id="rId7"/>
    <p:sldId id="290" r:id="rId8"/>
    <p:sldId id="291" r:id="rId9"/>
    <p:sldId id="292" r:id="rId10"/>
    <p:sldId id="261" r:id="rId11"/>
    <p:sldId id="277" r:id="rId12"/>
    <p:sldId id="284" r:id="rId13"/>
    <p:sldId id="275" r:id="rId14"/>
    <p:sldId id="288" r:id="rId15"/>
    <p:sldId id="293" r:id="rId16"/>
    <p:sldId id="282" r:id="rId17"/>
    <p:sldId id="285" r:id="rId18"/>
    <p:sldId id="278" r:id="rId19"/>
    <p:sldId id="279" r:id="rId20"/>
    <p:sldId id="296" r:id="rId21"/>
    <p:sldId id="283" r:id="rId22"/>
    <p:sldId id="281" r:id="rId23"/>
    <p:sldId id="264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EEE"/>
    <a:srgbClr val="0949FF"/>
    <a:srgbClr val="DA6579"/>
    <a:srgbClr val="336600"/>
    <a:srgbClr val="0967FF"/>
    <a:srgbClr val="375F1B"/>
    <a:srgbClr val="000099"/>
    <a:srgbClr val="990033"/>
    <a:srgbClr val="A404CA"/>
    <a:srgbClr val="588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9" autoAdjust="0"/>
    <p:restoredTop sz="91073" autoAdjust="0"/>
  </p:normalViewPr>
  <p:slideViewPr>
    <p:cSldViewPr snapToGrid="0">
      <p:cViewPr>
        <p:scale>
          <a:sx n="80" d="100"/>
          <a:sy n="80" d="100"/>
        </p:scale>
        <p:origin x="1020" y="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60B81-9FB9-463D-887C-E815C92BB131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FD74B1-9578-41F2-9F83-75E9C2DDC1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生图</a:t>
            </a:r>
            <a:r>
              <a:rPr lang="en-US" altLang="zh-CN" dirty="0"/>
              <a:t> Prompt</a:t>
            </a:r>
            <a:r>
              <a:rPr lang="zh-CN" altLang="en-US" dirty="0"/>
              <a:t>：左右对比的两张极简神经网络末端结构示意图，白底、扁平科技风。左侧标"</a:t>
            </a:r>
            <a:r>
              <a:rPr lang="en-US" altLang="zh-CN" dirty="0"/>
              <a:t>FC Head"：</a:t>
            </a:r>
            <a:r>
              <a:rPr lang="zh-CN" altLang="en-US" dirty="0"/>
              <a:t>一个 8×8 网格的特征图方块阵列（16 个通道叠成小摞），被箭头"拉直"成一条长长的竖向一维向量（标注 1024 维），向量连到一个庞大的全连接层——用密集的放射状连线表示 1024 个输入各自连到 256 个神经元，连线密集成一堵墙，再接一个小输出层（10 个节点）。右侧标"</a:t>
            </a:r>
            <a:r>
              <a:rPr lang="en-US" altLang="zh-CN" dirty="0"/>
              <a:t>GAP Head"：</a:t>
            </a:r>
            <a:r>
              <a:rPr lang="zh-CN" altLang="en-US" dirty="0"/>
              <a:t>同样的 8×8 特征图方块摞，每个通道块被一个不透明罩子压缩成一个彩色小方块（表示空间平均），16 个小方块排成一条短向量（128 维），只用稀疏几条线连到 10 个节点的输出层。中间用一个"</a:t>
            </a:r>
            <a:r>
              <a:rPr lang="en-US" altLang="zh-CN" dirty="0"/>
              <a:t>vs"</a:t>
            </a:r>
            <a:r>
              <a:rPr lang="zh-CN" altLang="en-US" dirty="0"/>
              <a:t>或转化箭头分隔。整体色调左暖右冷，强调左侧连接墙厚重、右侧极简。不标任何数字之外的精度/算力信息。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M2（FC head）：Flatten(16×8×8=1024) → Linear(1024,256) → Linear(256,10)，</a:t>
            </a:r>
            <a:r>
              <a:rPr lang="zh-CN" altLang="en-US" dirty="0"/>
              <a:t>头部参数 ≈ 265</a:t>
            </a:r>
            <a:r>
              <a:rPr lang="en-US" altLang="zh-CN" dirty="0"/>
              <a:t>K，</a:t>
            </a:r>
            <a:r>
              <a:rPr lang="zh-CN" altLang="en-US" dirty="0"/>
              <a:t>占整网 268</a:t>
            </a:r>
            <a:r>
              <a:rPr lang="en-US" altLang="zh-CN" dirty="0"/>
              <a:t>K </a:t>
            </a:r>
            <a:r>
              <a:rPr lang="zh-CN" altLang="en-US" dirty="0"/>
              <a:t>的 ~98%；头部 </a:t>
            </a:r>
            <a:r>
              <a:rPr lang="en-US" altLang="zh-CN" dirty="0"/>
              <a:t>MACs ≈ 0.26M，</a:t>
            </a:r>
            <a:r>
              <a:rPr lang="zh-CN" altLang="en-US" dirty="0"/>
              <a:t>占整网 1.05</a:t>
            </a:r>
            <a:r>
              <a:rPr lang="en-US" altLang="zh-CN" dirty="0"/>
              <a:t>M </a:t>
            </a:r>
            <a:r>
              <a:rPr lang="zh-CN" altLang="en-US" dirty="0"/>
              <a:t>的 ~25%。</a:t>
            </a:r>
          </a:p>
          <a:p>
            <a:endParaRPr lang="en-US" altLang="zh-CN" dirty="0"/>
          </a:p>
          <a:p>
            <a:r>
              <a:rPr lang="en-US" altLang="zh-CN" dirty="0"/>
              <a:t>M4（GAP head）：GAP → Linear(96,10)，</a:t>
            </a:r>
            <a:r>
              <a:rPr lang="zh-CN" altLang="en-US" dirty="0"/>
              <a:t>头部参数 970（−99.6%），</a:t>
            </a:r>
            <a:r>
              <a:rPr lang="en-US" altLang="zh-CN" dirty="0"/>
              <a:t>MACs </a:t>
            </a:r>
            <a:r>
              <a:rPr lang="zh-CN" altLang="en-US" dirty="0"/>
              <a:t>可忽略（</a:t>
            </a:r>
            <a:r>
              <a:rPr lang="en-US" altLang="zh-CN" dirty="0"/>
              <a:t>C×10 </a:t>
            </a:r>
            <a:r>
              <a:rPr lang="zh-CN" altLang="en-US" dirty="0"/>
              <a:t>量级）。</a:t>
            </a:r>
          </a:p>
          <a:p>
            <a:endParaRPr lang="en-US" altLang="zh-CN" dirty="0"/>
          </a:p>
          <a:p>
            <a:r>
              <a:rPr lang="zh-CN" altLang="en-US" dirty="0"/>
              <a:t>物理依据：光计算中权重存光阵列"</a:t>
            </a:r>
            <a:r>
              <a:rPr lang="en-US" altLang="zh-CN" dirty="0"/>
              <a:t>params </a:t>
            </a:r>
            <a:r>
              <a:rPr lang="zh-CN" altLang="en-US" dirty="0"/>
              <a:t>接近免费"，真正受限的是 </a:t>
            </a:r>
            <a:r>
              <a:rPr lang="en-US" altLang="zh-CN" dirty="0"/>
              <a:t>activation compute——</a:t>
            </a:r>
            <a:r>
              <a:rPr lang="zh-CN" altLang="en-US" dirty="0"/>
              <a:t>但 </a:t>
            </a:r>
            <a:r>
              <a:rPr lang="en-US" altLang="zh-CN" dirty="0"/>
              <a:t>FC </a:t>
            </a:r>
            <a:r>
              <a:rPr lang="zh-CN" altLang="en-US" dirty="0"/>
              <a:t>头把 1024 维向量当 </a:t>
            </a:r>
            <a:r>
              <a:rPr lang="en-US" altLang="zh-CN" dirty="0"/>
              <a:t>GEMM </a:t>
            </a:r>
            <a:r>
              <a:rPr lang="zh-CN" altLang="en-US" dirty="0"/>
              <a:t>打，既占参数又对精度无贡献；</a:t>
            </a:r>
            <a:r>
              <a:rPr lang="en-US" altLang="zh-CN" dirty="0"/>
              <a:t>GAP </a:t>
            </a:r>
            <a:r>
              <a:rPr lang="zh-CN" altLang="en-US" dirty="0"/>
              <a:t>用一次空间平均把它消掉。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生图</a:t>
            </a:r>
            <a:r>
              <a:rPr lang="en-US" altLang="zh-CN" dirty="0"/>
              <a:t> Prompt: </a:t>
            </a:r>
            <a:r>
              <a:rPr lang="zh-CN" altLang="en-US" dirty="0"/>
              <a:t>四宫格极简示意图，白底扁平科技风，每格展示一种卷积核在"同一张特征图"上的工作方式，顶部各有一个小标题。格一"2×2"：特征图上高亮一个 2×2 小方窗，旁边画出窗内 4 个像素×通道数展平成的短向量进入一个小矩阵块（表示光学 </a:t>
            </a:r>
            <a:r>
              <a:rPr lang="en-US" altLang="zh-CN" dirty="0"/>
              <a:t>GEMM tile），</a:t>
            </a:r>
            <a:r>
              <a:rPr lang="zh-CN" altLang="en-US" dirty="0"/>
              <a:t>向量长度标注为 4</a:t>
            </a:r>
            <a:r>
              <a:rPr lang="en-US" altLang="zh-CN" dirty="0"/>
              <a:t>C。</a:t>
            </a:r>
            <a:r>
              <a:rPr lang="zh-CN" altLang="en-US" dirty="0"/>
              <a:t>格二"3×3"：高亮 3×3 方窗，展平成明显更长的向量（9</a:t>
            </a:r>
            <a:r>
              <a:rPr lang="en-US" altLang="zh-CN" dirty="0"/>
              <a:t>C），</a:t>
            </a:r>
            <a:r>
              <a:rPr lang="zh-CN" altLang="en-US" dirty="0"/>
              <a:t>矩阵块被撑大，用虚线阴影标出展平后浪费/冗余的部分。格三"1×1"：只高亮单个像素点，其通道维拉成一条长度恰为 </a:t>
            </a:r>
            <a:r>
              <a:rPr lang="en-US" altLang="zh-CN" dirty="0"/>
              <a:t>C </a:t>
            </a:r>
            <a:r>
              <a:rPr lang="zh-CN" altLang="en-US" dirty="0"/>
              <a:t>的向量，严丝合缝嵌入一个 8 格宽的小矩阵条（表示与 8×2 </a:t>
            </a:r>
            <a:r>
              <a:rPr lang="en-US" altLang="zh-CN" dirty="0"/>
              <a:t>tile </a:t>
            </a:r>
            <a:r>
              <a:rPr lang="zh-CN" altLang="en-US" dirty="0"/>
              <a:t>完美对齐、零浪费），旁边配一行小方块表示"逐点通道混合"。格四"3×3 </a:t>
            </a:r>
            <a:r>
              <a:rPr lang="en-US" altLang="zh-CN" dirty="0"/>
              <a:t>stride2"：</a:t>
            </a:r>
            <a:r>
              <a:rPr lang="zh-CN" altLang="en-US" dirty="0"/>
              <a:t>特征图上 3×3 方窗以跳步方式滑动（画出步长为 2 的跳跃箭头），输出侧特征图尺寸减半（画出从大方块到半尺寸方块的收缩箭头），强调"下采样与卷积合一"。四格统一配色，仅结构差异可视化，不含算力/精度数字。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等预算对照（</a:t>
            </a:r>
            <a:r>
              <a:rPr lang="en-US" altLang="zh-CN" dirty="0"/>
              <a:t>R2，~1.1–1.4M MACs，</a:t>
            </a:r>
            <a:r>
              <a:rPr lang="zh-CN" altLang="en-US" dirty="0"/>
              <a:t>同 </a:t>
            </a:r>
            <a:r>
              <a:rPr lang="en-US" altLang="zh-CN" dirty="0"/>
              <a:t>QAT </a:t>
            </a:r>
            <a:r>
              <a:rPr lang="zh-CN" altLang="en-US" dirty="0"/>
              <a:t>配方）：</a:t>
            </a:r>
          </a:p>
          <a:p>
            <a:endParaRPr lang="en-US" altLang="zh-CN" dirty="0"/>
          </a:p>
          <a:p>
            <a:r>
              <a:rPr lang="en-US" altLang="zh-CN" dirty="0"/>
              <a:t>kernels	MACs	test</a:t>
            </a:r>
          </a:p>
          <a:p>
            <a:r>
              <a:rPr lang="en-US" altLang="zh-CN" dirty="0"/>
              <a:t>[3,3,1]（G1）	1.41M	93.83%</a:t>
            </a:r>
          </a:p>
          <a:p>
            <a:r>
              <a:rPr lang="en-US" altLang="zh-CN" dirty="0"/>
              <a:t>[1,3,1]（I1）	1.14M	93.85%</a:t>
            </a:r>
          </a:p>
          <a:p>
            <a:r>
              <a:rPr lang="en-US" altLang="zh-CN" dirty="0"/>
              <a:t>[3,1,1]（G2）	1.19M	94.11%</a:t>
            </a:r>
          </a:p>
          <a:p>
            <a:r>
              <a:rPr lang="en-US" altLang="zh-CN" dirty="0"/>
              <a:t>[1,1,1]（H1）	1.21M	94.89%</a:t>
            </a:r>
          </a:p>
          <a:p>
            <a:endParaRPr lang="en-US" altLang="zh-CN" dirty="0"/>
          </a:p>
          <a:p>
            <a:r>
              <a:rPr lang="en-US" altLang="zh-CN" dirty="0"/>
              <a:t>2×2（M2）	1.05M	92.20%（int8）</a:t>
            </a:r>
          </a:p>
          <a:p>
            <a:r>
              <a:rPr lang="en-US" altLang="zh-CN" dirty="0"/>
              <a:t>1×1（J1/M6，v5 160ep）	1.38M	96.30%（QAT clean）/ </a:t>
            </a:r>
            <a:r>
              <a:rPr lang="zh-CN" altLang="en-US" dirty="0"/>
              <a:t>真机 90.6–93.8%</a:t>
            </a:r>
          </a:p>
          <a:p>
            <a:r>
              <a:rPr lang="en-US" altLang="zh-CN" dirty="0"/>
              <a:t>3×3s2 + stem max3（M10，v8）	2.56M	96.66%（QAT）/</a:t>
            </a:r>
            <a:r>
              <a:rPr lang="zh-CN" altLang="en-US" dirty="0"/>
              <a:t>真机 96.40%（</a:t>
            </a:r>
            <a:r>
              <a:rPr lang="en-US" altLang="zh-CN" dirty="0"/>
              <a:t>SOTA）</a:t>
            </a:r>
          </a:p>
          <a:p>
            <a:r>
              <a:rPr lang="zh-CN" altLang="en-US" dirty="0"/>
              <a:t>3×3 全程（</a:t>
            </a:r>
            <a:r>
              <a:rPr lang="en-US" altLang="zh-CN" dirty="0"/>
              <a:t>M4E，v5）	17.04M	97.43%（QAT）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 dirty="0">
                <a:sym typeface="+mn-ea"/>
              </a:rPr>
              <a:t>M4（17M，感受野最大）的真机错误仍集中在 Highway/River 互混——</a:t>
            </a:r>
            <a:r>
              <a:rPr lang="zh-CN" altLang="zh-CN" b="1" dirty="0">
                <a:sym typeface="+mn-ea"/>
              </a:rPr>
              <a:t>线状结构</a:t>
            </a:r>
            <a:r>
              <a:rPr lang="zh-CN" altLang="zh-CN" dirty="0">
                <a:sym typeface="+mn-ea"/>
              </a:rPr>
              <a:t>是噪声下最脆弱一环，堆算力也无法完全消除。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>
                <a:sym typeface="+mn-ea"/>
              </a:rPr>
              <a:t>小算力代价：J1（1.38M，RF 17px）Highway/River F1 差 −3.6/−2.7pt，感受野扩至 49px 可补回 +2.9/+2.3。</a:t>
            </a: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图片占位符 68"/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4927057" cy="6866909"/>
          </a:xfrm>
          <a:custGeom>
            <a:avLst/>
            <a:gdLst>
              <a:gd name="connsiteX0" fmla="*/ 0 w 4927057"/>
              <a:gd name="connsiteY0" fmla="*/ 0 h 6866909"/>
              <a:gd name="connsiteX1" fmla="*/ 4547560 w 4927057"/>
              <a:gd name="connsiteY1" fmla="*/ 0 h 6866909"/>
              <a:gd name="connsiteX2" fmla="*/ 4816571 w 4927057"/>
              <a:gd name="connsiteY2" fmla="*/ 103308 h 6866909"/>
              <a:gd name="connsiteX3" fmla="*/ 4816571 w 4927057"/>
              <a:gd name="connsiteY3" fmla="*/ 613768 h 6866909"/>
              <a:gd name="connsiteX4" fmla="*/ 2331425 w 4927057"/>
              <a:gd name="connsiteY4" fmla="*/ 2971609 h 6866909"/>
              <a:gd name="connsiteX5" fmla="*/ 2331425 w 4927057"/>
              <a:gd name="connsiteY5" fmla="*/ 3475993 h 6866909"/>
              <a:gd name="connsiteX6" fmla="*/ 3843009 w 4927057"/>
              <a:gd name="connsiteY6" fmla="*/ 4916221 h 6866909"/>
              <a:gd name="connsiteX7" fmla="*/ 3843009 w 4927057"/>
              <a:gd name="connsiteY7" fmla="*/ 5420605 h 6866909"/>
              <a:gd name="connsiteX8" fmla="*/ 2433906 w 4927057"/>
              <a:gd name="connsiteY8" fmla="*/ 6763602 h 6866909"/>
              <a:gd name="connsiteX9" fmla="*/ 2164895 w 4927057"/>
              <a:gd name="connsiteY9" fmla="*/ 6866909 h 6866909"/>
              <a:gd name="connsiteX10" fmla="*/ 0 w 4927057"/>
              <a:gd name="connsiteY10" fmla="*/ 6866909 h 6866909"/>
              <a:gd name="connsiteX11" fmla="*/ 0 w 4927057"/>
              <a:gd name="connsiteY11" fmla="*/ 0 h 686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27057" h="6866909">
                <a:moveTo>
                  <a:pt x="0" y="0"/>
                </a:moveTo>
                <a:lnTo>
                  <a:pt x="4547560" y="0"/>
                </a:lnTo>
                <a:cubicBezTo>
                  <a:pt x="4650041" y="0"/>
                  <a:pt x="4746116" y="36462"/>
                  <a:pt x="4816571" y="103308"/>
                </a:cubicBezTo>
                <a:cubicBezTo>
                  <a:pt x="4963886" y="243077"/>
                  <a:pt x="4963886" y="473999"/>
                  <a:pt x="4816571" y="613768"/>
                </a:cubicBezTo>
                <a:cubicBezTo>
                  <a:pt x="4816571" y="613768"/>
                  <a:pt x="4816571" y="613768"/>
                  <a:pt x="2331425" y="2971609"/>
                </a:cubicBezTo>
                <a:cubicBezTo>
                  <a:pt x="2184110" y="3111379"/>
                  <a:pt x="2184110" y="3336224"/>
                  <a:pt x="2331425" y="3475993"/>
                </a:cubicBezTo>
                <a:cubicBezTo>
                  <a:pt x="2331425" y="3475993"/>
                  <a:pt x="2331425" y="3475993"/>
                  <a:pt x="3843009" y="4916221"/>
                </a:cubicBezTo>
                <a:cubicBezTo>
                  <a:pt x="3990324" y="5055990"/>
                  <a:pt x="3990324" y="5280836"/>
                  <a:pt x="3843009" y="5420605"/>
                </a:cubicBezTo>
                <a:cubicBezTo>
                  <a:pt x="3843009" y="5420605"/>
                  <a:pt x="3843009" y="5420605"/>
                  <a:pt x="2433906" y="6763602"/>
                </a:cubicBezTo>
                <a:cubicBezTo>
                  <a:pt x="2363450" y="6830448"/>
                  <a:pt x="2267375" y="6866909"/>
                  <a:pt x="2164895" y="6866909"/>
                </a:cubicBezTo>
                <a:cubicBezTo>
                  <a:pt x="2164895" y="6866909"/>
                  <a:pt x="2164895" y="6866909"/>
                  <a:pt x="0" y="6866909"/>
                </a:cubicBezTo>
                <a:cubicBezTo>
                  <a:pt x="0" y="6866909"/>
                  <a:pt x="0" y="6866909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6" name="任意多边形: 形状 65"/>
          <p:cNvSpPr/>
          <p:nvPr userDrawn="1"/>
        </p:nvSpPr>
        <p:spPr bwMode="auto">
          <a:xfrm>
            <a:off x="0" y="-8909"/>
            <a:ext cx="146229" cy="6866909"/>
          </a:xfrm>
          <a:custGeom>
            <a:avLst/>
            <a:gdLst>
              <a:gd name="connsiteX0" fmla="*/ 0 w 146229"/>
              <a:gd name="connsiteY0" fmla="*/ 0 h 6866909"/>
              <a:gd name="connsiteX1" fmla="*/ 146229 w 146229"/>
              <a:gd name="connsiteY1" fmla="*/ 0 h 6866909"/>
              <a:gd name="connsiteX2" fmla="*/ 146229 w 146229"/>
              <a:gd name="connsiteY2" fmla="*/ 6866909 h 6866909"/>
              <a:gd name="connsiteX3" fmla="*/ 0 w 146229"/>
              <a:gd name="connsiteY3" fmla="*/ 6866909 h 6866909"/>
              <a:gd name="connsiteX4" fmla="*/ 0 w 146229"/>
              <a:gd name="connsiteY4" fmla="*/ 0 h 686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229" h="6866909">
                <a:moveTo>
                  <a:pt x="0" y="0"/>
                </a:moveTo>
                <a:lnTo>
                  <a:pt x="146229" y="0"/>
                </a:lnTo>
                <a:cubicBezTo>
                  <a:pt x="146229" y="6866909"/>
                  <a:pt x="146229" y="6866909"/>
                  <a:pt x="146229" y="6866909"/>
                </a:cubicBezTo>
                <a:lnTo>
                  <a:pt x="0" y="6866909"/>
                </a:lnTo>
                <a:cubicBezTo>
                  <a:pt x="0" y="6866909"/>
                  <a:pt x="0" y="6866909"/>
                  <a:pt x="0" y="0"/>
                </a:cubicBezTo>
                <a:close/>
              </a:path>
            </a:pathLst>
          </a:custGeom>
          <a:solidFill>
            <a:srgbClr val="00AD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65" name="任意多边形: 形状 64"/>
          <p:cNvSpPr/>
          <p:nvPr userDrawn="1"/>
        </p:nvSpPr>
        <p:spPr bwMode="auto">
          <a:xfrm>
            <a:off x="2490525" y="0"/>
            <a:ext cx="2946441" cy="6866909"/>
          </a:xfrm>
          <a:custGeom>
            <a:avLst/>
            <a:gdLst>
              <a:gd name="connsiteX0" fmla="*/ 2253196 w 2946441"/>
              <a:gd name="connsiteY0" fmla="*/ 0 h 6866909"/>
              <a:gd name="connsiteX1" fmla="*/ 2592682 w 2946441"/>
              <a:gd name="connsiteY1" fmla="*/ 0 h 6866909"/>
              <a:gd name="connsiteX2" fmla="*/ 2841680 w 2946441"/>
              <a:gd name="connsiteY2" fmla="*/ 103307 h 6866909"/>
              <a:gd name="connsiteX3" fmla="*/ 2841680 w 2946441"/>
              <a:gd name="connsiteY3" fmla="*/ 613768 h 6866909"/>
              <a:gd name="connsiteX4" fmla="*/ 485308 w 2946441"/>
              <a:gd name="connsiteY4" fmla="*/ 2971609 h 6866909"/>
              <a:gd name="connsiteX5" fmla="*/ 485308 w 2946441"/>
              <a:gd name="connsiteY5" fmla="*/ 3475993 h 6866909"/>
              <a:gd name="connsiteX6" fmla="*/ 1924638 w 2946441"/>
              <a:gd name="connsiteY6" fmla="*/ 4916221 h 6866909"/>
              <a:gd name="connsiteX7" fmla="*/ 1924638 w 2946441"/>
              <a:gd name="connsiteY7" fmla="*/ 5420605 h 6866909"/>
              <a:gd name="connsiteX8" fmla="*/ 588551 w 2946441"/>
              <a:gd name="connsiteY8" fmla="*/ 6763602 h 6866909"/>
              <a:gd name="connsiteX9" fmla="*/ 333479 w 2946441"/>
              <a:gd name="connsiteY9" fmla="*/ 6866909 h 6866909"/>
              <a:gd name="connsiteX10" fmla="*/ 42616 w 2946441"/>
              <a:gd name="connsiteY10" fmla="*/ 6866909 h 6866909"/>
              <a:gd name="connsiteX11" fmla="*/ 0 w 2946441"/>
              <a:gd name="connsiteY11" fmla="*/ 6866909 h 6866909"/>
              <a:gd name="connsiteX12" fmla="*/ 255079 w 2946441"/>
              <a:gd name="connsiteY12" fmla="*/ 6763602 h 6866909"/>
              <a:gd name="connsiteX13" fmla="*/ 1591205 w 2946441"/>
              <a:gd name="connsiteY13" fmla="*/ 5420605 h 6866909"/>
              <a:gd name="connsiteX14" fmla="*/ 1591205 w 2946441"/>
              <a:gd name="connsiteY14" fmla="*/ 4916221 h 6866909"/>
              <a:gd name="connsiteX15" fmla="*/ 151833 w 2946441"/>
              <a:gd name="connsiteY15" fmla="*/ 3475993 h 6866909"/>
              <a:gd name="connsiteX16" fmla="*/ 151833 w 2946441"/>
              <a:gd name="connsiteY16" fmla="*/ 2971609 h 6866909"/>
              <a:gd name="connsiteX17" fmla="*/ 2508274 w 2946441"/>
              <a:gd name="connsiteY17" fmla="*/ 613768 h 6866909"/>
              <a:gd name="connsiteX18" fmla="*/ 2508274 w 2946441"/>
              <a:gd name="connsiteY18" fmla="*/ 103307 h 6866909"/>
              <a:gd name="connsiteX19" fmla="*/ 2253196 w 2946441"/>
              <a:gd name="connsiteY19" fmla="*/ 0 h 686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946441" h="6866909">
                <a:moveTo>
                  <a:pt x="2253196" y="0"/>
                </a:moveTo>
                <a:lnTo>
                  <a:pt x="2592682" y="0"/>
                </a:lnTo>
                <a:cubicBezTo>
                  <a:pt x="2683779" y="0"/>
                  <a:pt x="2774876" y="36461"/>
                  <a:pt x="2841680" y="103307"/>
                </a:cubicBezTo>
                <a:cubicBezTo>
                  <a:pt x="2981362" y="243076"/>
                  <a:pt x="2981362" y="473999"/>
                  <a:pt x="2841680" y="613768"/>
                </a:cubicBezTo>
                <a:cubicBezTo>
                  <a:pt x="2841680" y="613768"/>
                  <a:pt x="2841680" y="613768"/>
                  <a:pt x="485308" y="2971609"/>
                </a:cubicBezTo>
                <a:cubicBezTo>
                  <a:pt x="345626" y="3111378"/>
                  <a:pt x="345626" y="3336224"/>
                  <a:pt x="485308" y="3475993"/>
                </a:cubicBezTo>
                <a:cubicBezTo>
                  <a:pt x="485308" y="3475993"/>
                  <a:pt x="485308" y="3475993"/>
                  <a:pt x="1924638" y="4916221"/>
                </a:cubicBezTo>
                <a:cubicBezTo>
                  <a:pt x="2064320" y="5055990"/>
                  <a:pt x="2064320" y="5280836"/>
                  <a:pt x="1924638" y="5420605"/>
                </a:cubicBezTo>
                <a:cubicBezTo>
                  <a:pt x="1924638" y="5420605"/>
                  <a:pt x="1924638" y="5420605"/>
                  <a:pt x="588551" y="6763602"/>
                </a:cubicBezTo>
                <a:cubicBezTo>
                  <a:pt x="521746" y="6830448"/>
                  <a:pt x="430649" y="6866909"/>
                  <a:pt x="333479" y="6866909"/>
                </a:cubicBezTo>
                <a:cubicBezTo>
                  <a:pt x="333479" y="6866909"/>
                  <a:pt x="333479" y="6866909"/>
                  <a:pt x="42616" y="6866909"/>
                </a:cubicBezTo>
                <a:lnTo>
                  <a:pt x="0" y="6866909"/>
                </a:lnTo>
                <a:cubicBezTo>
                  <a:pt x="97173" y="6866909"/>
                  <a:pt x="188272" y="6830448"/>
                  <a:pt x="255079" y="6763602"/>
                </a:cubicBezTo>
                <a:cubicBezTo>
                  <a:pt x="1591205" y="5420605"/>
                  <a:pt x="1591205" y="5420605"/>
                  <a:pt x="1591205" y="5420605"/>
                </a:cubicBezTo>
                <a:cubicBezTo>
                  <a:pt x="1730891" y="5280836"/>
                  <a:pt x="1730891" y="5055990"/>
                  <a:pt x="1591205" y="4916221"/>
                </a:cubicBezTo>
                <a:cubicBezTo>
                  <a:pt x="151833" y="3475993"/>
                  <a:pt x="151833" y="3475993"/>
                  <a:pt x="151833" y="3475993"/>
                </a:cubicBezTo>
                <a:cubicBezTo>
                  <a:pt x="12147" y="3336224"/>
                  <a:pt x="12147" y="3111378"/>
                  <a:pt x="151833" y="2971609"/>
                </a:cubicBezTo>
                <a:cubicBezTo>
                  <a:pt x="2508274" y="613768"/>
                  <a:pt x="2508274" y="613768"/>
                  <a:pt x="2508274" y="613768"/>
                </a:cubicBezTo>
                <a:cubicBezTo>
                  <a:pt x="2647960" y="473999"/>
                  <a:pt x="2647960" y="243076"/>
                  <a:pt x="2508274" y="103307"/>
                </a:cubicBezTo>
                <a:cubicBezTo>
                  <a:pt x="2441468" y="36461"/>
                  <a:pt x="2350368" y="0"/>
                  <a:pt x="2253196" y="0"/>
                </a:cubicBezTo>
                <a:close/>
              </a:path>
            </a:pathLst>
          </a:custGeom>
          <a:solidFill>
            <a:srgbClr val="00AD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59" name="Freeform 52"/>
          <p:cNvSpPr/>
          <p:nvPr userDrawn="1"/>
        </p:nvSpPr>
        <p:spPr bwMode="auto">
          <a:xfrm>
            <a:off x="3497795" y="6004160"/>
            <a:ext cx="1836635" cy="862751"/>
          </a:xfrm>
          <a:custGeom>
            <a:avLst/>
            <a:gdLst>
              <a:gd name="T0" fmla="*/ 302 w 302"/>
              <a:gd name="T1" fmla="*/ 142 h 142"/>
              <a:gd name="T2" fmla="*/ 173 w 302"/>
              <a:gd name="T3" fmla="*/ 12 h 142"/>
              <a:gd name="T4" fmla="*/ 129 w 302"/>
              <a:gd name="T5" fmla="*/ 12 h 142"/>
              <a:gd name="T6" fmla="*/ 0 w 302"/>
              <a:gd name="T7" fmla="*/ 142 h 142"/>
              <a:gd name="T8" fmla="*/ 302 w 302"/>
              <a:gd name="T9" fmla="*/ 142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2" h="142">
                <a:moveTo>
                  <a:pt x="302" y="142"/>
                </a:moveTo>
                <a:cubicBezTo>
                  <a:pt x="173" y="12"/>
                  <a:pt x="173" y="12"/>
                  <a:pt x="173" y="12"/>
                </a:cubicBezTo>
                <a:cubicBezTo>
                  <a:pt x="161" y="0"/>
                  <a:pt x="142" y="0"/>
                  <a:pt x="129" y="12"/>
                </a:cubicBezTo>
                <a:cubicBezTo>
                  <a:pt x="0" y="142"/>
                  <a:pt x="0" y="142"/>
                  <a:pt x="0" y="142"/>
                </a:cubicBezTo>
                <a:lnTo>
                  <a:pt x="302" y="142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8" name="Freeform 51"/>
          <p:cNvSpPr/>
          <p:nvPr userDrawn="1"/>
        </p:nvSpPr>
        <p:spPr bwMode="auto">
          <a:xfrm>
            <a:off x="8940801" y="-1"/>
            <a:ext cx="1121717" cy="521688"/>
          </a:xfrm>
          <a:custGeom>
            <a:avLst/>
            <a:gdLst>
              <a:gd name="T0" fmla="*/ 0 w 303"/>
              <a:gd name="T1" fmla="*/ 0 h 141"/>
              <a:gd name="T2" fmla="*/ 130 w 303"/>
              <a:gd name="T3" fmla="*/ 129 h 141"/>
              <a:gd name="T4" fmla="*/ 173 w 303"/>
              <a:gd name="T5" fmla="*/ 129 h 141"/>
              <a:gd name="T6" fmla="*/ 303 w 303"/>
              <a:gd name="T7" fmla="*/ 0 h 141"/>
              <a:gd name="T8" fmla="*/ 0 w 303"/>
              <a:gd name="T9" fmla="*/ 0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3" h="141">
                <a:moveTo>
                  <a:pt x="0" y="0"/>
                </a:moveTo>
                <a:cubicBezTo>
                  <a:pt x="130" y="129"/>
                  <a:pt x="130" y="129"/>
                  <a:pt x="130" y="129"/>
                </a:cubicBezTo>
                <a:cubicBezTo>
                  <a:pt x="142" y="141"/>
                  <a:pt x="161" y="141"/>
                  <a:pt x="173" y="129"/>
                </a:cubicBezTo>
                <a:cubicBezTo>
                  <a:pt x="303" y="0"/>
                  <a:pt x="303" y="0"/>
                  <a:pt x="303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0" name="Freeform 53"/>
          <p:cNvSpPr/>
          <p:nvPr userDrawn="1"/>
        </p:nvSpPr>
        <p:spPr bwMode="auto">
          <a:xfrm>
            <a:off x="9417976" y="-1"/>
            <a:ext cx="2774025" cy="3876157"/>
          </a:xfrm>
          <a:custGeom>
            <a:avLst/>
            <a:gdLst>
              <a:gd name="T0" fmla="*/ 23 w 750"/>
              <a:gd name="T1" fmla="*/ 237 h 1048"/>
              <a:gd name="T2" fmla="*/ 243 w 750"/>
              <a:gd name="T3" fmla="*/ 17 h 1048"/>
              <a:gd name="T4" fmla="*/ 285 w 750"/>
              <a:gd name="T5" fmla="*/ 0 h 1048"/>
              <a:gd name="T6" fmla="*/ 750 w 750"/>
              <a:gd name="T7" fmla="*/ 0 h 1048"/>
              <a:gd name="T8" fmla="*/ 750 w 750"/>
              <a:gd name="T9" fmla="*/ 1048 h 1048"/>
              <a:gd name="T10" fmla="*/ 23 w 750"/>
              <a:gd name="T11" fmla="*/ 321 h 1048"/>
              <a:gd name="T12" fmla="*/ 23 w 750"/>
              <a:gd name="T13" fmla="*/ 237 h 1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50" h="1048">
                <a:moveTo>
                  <a:pt x="23" y="237"/>
                </a:moveTo>
                <a:cubicBezTo>
                  <a:pt x="243" y="17"/>
                  <a:pt x="243" y="17"/>
                  <a:pt x="243" y="17"/>
                </a:cubicBezTo>
                <a:cubicBezTo>
                  <a:pt x="254" y="6"/>
                  <a:pt x="269" y="0"/>
                  <a:pt x="285" y="0"/>
                </a:cubicBezTo>
                <a:cubicBezTo>
                  <a:pt x="750" y="0"/>
                  <a:pt x="750" y="0"/>
                  <a:pt x="750" y="0"/>
                </a:cubicBezTo>
                <a:cubicBezTo>
                  <a:pt x="750" y="1048"/>
                  <a:pt x="750" y="1048"/>
                  <a:pt x="750" y="1048"/>
                </a:cubicBezTo>
                <a:cubicBezTo>
                  <a:pt x="23" y="321"/>
                  <a:pt x="23" y="321"/>
                  <a:pt x="23" y="321"/>
                </a:cubicBezTo>
                <a:cubicBezTo>
                  <a:pt x="0" y="298"/>
                  <a:pt x="0" y="260"/>
                  <a:pt x="23" y="237"/>
                </a:cubicBezTo>
                <a:close/>
              </a:path>
            </a:pathLst>
          </a:custGeom>
          <a:solidFill>
            <a:srgbClr val="FFB5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4" name="椭圆 63"/>
          <p:cNvSpPr/>
          <p:nvPr userDrawn="1"/>
        </p:nvSpPr>
        <p:spPr>
          <a:xfrm>
            <a:off x="10062518" y="1675446"/>
            <a:ext cx="1279178" cy="12791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标题 1"/>
          <p:cNvSpPr>
            <a:spLocks noGrp="1"/>
          </p:cNvSpPr>
          <p:nvPr>
            <p:ph type="ctrTitle" hasCustomPrompt="1"/>
          </p:nvPr>
        </p:nvSpPr>
        <p:spPr>
          <a:xfrm>
            <a:off x="4475845" y="2368777"/>
            <a:ext cx="5426076" cy="1621509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Font typeface="Arial" panose="020B060402020209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3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4475845" y="4675013"/>
            <a:ext cx="5426076" cy="310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475846" y="4378742"/>
            <a:ext cx="5426076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C73B0-5CBF-4C2B-913F-C8FC7EDBB2EF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modelscope.cn/datasets/lhh010/EuroSAT_RGB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0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首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00416" y="1492009"/>
            <a:ext cx="104394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rgbClr val="142DA8"/>
                </a:solidFill>
                <a:latin typeface="Times New Roman" panose="02020503050405090304" pitchFamily="18" charset="0"/>
                <a:ea typeface="Alimama ShuHeiTi Bold" charset="-122"/>
              </a:rPr>
              <a:t>决赛成果汇报</a:t>
            </a:r>
            <a:endParaRPr lang="en-US" altLang="zh-CN" sz="5400" dirty="0">
              <a:solidFill>
                <a:srgbClr val="142DA8"/>
              </a:solidFill>
              <a:latin typeface="Times New Roman" panose="02020503050405090304" pitchFamily="18" charset="0"/>
              <a:ea typeface="Alimama ShuHeiTi Bold" charset="-122"/>
            </a:endParaRPr>
          </a:p>
          <a:p>
            <a:pPr algn="ctr"/>
            <a:r>
              <a:rPr lang="zh-CN" altLang="zh-CN" sz="2400" dirty="0">
                <a:solidFill>
                  <a:srgbClr val="142DA8"/>
                </a:solidFill>
                <a:latin typeface="Times New Roman" panose="02020503050405090304" pitchFamily="18" charset="0"/>
                <a:ea typeface="Alimama ShuHeiTi Bold" charset="-122"/>
              </a:rPr>
              <a:t>Optic-SpaceNet</a:t>
            </a:r>
            <a:r>
              <a:rPr lang="en-US" altLang="zh-CN" sz="2400" dirty="0">
                <a:solidFill>
                  <a:srgbClr val="142DA8"/>
                </a:solidFill>
                <a:latin typeface="Times New Roman" panose="02020503050405090304" pitchFamily="18" charset="0"/>
                <a:ea typeface="Alimama ShuHeiTi Bold" charset="-122"/>
              </a:rPr>
              <a:t> · </a:t>
            </a:r>
            <a:r>
              <a:rPr lang="zh-CN" altLang="en-US" sz="2400" dirty="0">
                <a:solidFill>
                  <a:srgbClr val="142DA8"/>
                </a:solidFill>
                <a:latin typeface="Times New Roman" panose="02020503050405090304" pitchFamily="18" charset="0"/>
                <a:ea typeface="Alimama ShuHeiTi Bold" charset="-122"/>
              </a:rPr>
              <a:t>光学</a:t>
            </a:r>
            <a:r>
              <a:rPr lang="en-US" altLang="zh-CN" sz="2400" dirty="0">
                <a:solidFill>
                  <a:srgbClr val="142DA8"/>
                </a:solidFill>
                <a:latin typeface="Times New Roman" panose="02020503050405090304" pitchFamily="18" charset="0"/>
                <a:ea typeface="Alimama ShuHeiTi Bold" charset="-122"/>
              </a:rPr>
              <a:t>CNN</a:t>
            </a:r>
            <a:r>
              <a:rPr lang="zh-CN" altLang="en-US" sz="2400" dirty="0">
                <a:solidFill>
                  <a:srgbClr val="142DA8"/>
                </a:solidFill>
                <a:latin typeface="Times New Roman" panose="02020503050405090304" pitchFamily="18" charset="0"/>
                <a:ea typeface="Alimama ShuHeiTi Bold" charset="-122"/>
              </a:rPr>
              <a:t>在轨加速系统 </a:t>
            </a:r>
            <a:r>
              <a:rPr lang="en-US" altLang="zh-CN" sz="2800" dirty="0">
                <a:solidFill>
                  <a:srgbClr val="142DA8"/>
                </a:solidFill>
                <a:latin typeface="Times New Roman" panose="02020503050405090304" pitchFamily="18" charset="0"/>
                <a:ea typeface="Alimama ShuHeiTi Bold" charset="-122"/>
              </a:rPr>
              <a:t>×</a:t>
            </a:r>
            <a:r>
              <a:rPr lang="en-US" altLang="zh-CN" sz="2400" dirty="0">
                <a:solidFill>
                  <a:srgbClr val="142DA8"/>
                </a:solidFill>
                <a:latin typeface="Times New Roman" panose="02020503050405090304" pitchFamily="18" charset="0"/>
                <a:ea typeface="Alimama ShuHeiTi Bold" charset="-122"/>
              </a:rPr>
              <a:t>  MNIST</a:t>
            </a:r>
          </a:p>
          <a:p>
            <a:pPr algn="ctr"/>
            <a:endParaRPr lang="zh-CN" altLang="zh-CN" sz="4400" dirty="0">
              <a:solidFill>
                <a:srgbClr val="142DA8"/>
              </a:solidFill>
              <a:latin typeface="Times New Roman" panose="02020503050405090304" pitchFamily="18" charset="0"/>
              <a:ea typeface="Alimama ShuHeiTi Bold" charset="-122"/>
            </a:endParaRPr>
          </a:p>
          <a:p>
            <a:pPr algn="ctr"/>
            <a:endParaRPr lang="zh-CN" altLang="en-US" sz="4000" dirty="0">
              <a:solidFill>
                <a:srgbClr val="142DA8"/>
              </a:solidFill>
              <a:latin typeface="Times New Roman" panose="02020503050405090304" pitchFamily="18" charset="0"/>
              <a:ea typeface="Alimama ShuHeiTi Bold" charset="-122"/>
            </a:endParaRPr>
          </a:p>
        </p:txBody>
      </p:sp>
      <p:pic>
        <p:nvPicPr>
          <p:cNvPr id="9" name="图片 8" descr="集创赛黑字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116" y="190417"/>
            <a:ext cx="1296000" cy="1296000"/>
          </a:xfrm>
          <a:prstGeom prst="rect">
            <a:avLst/>
          </a:prstGeom>
        </p:spPr>
      </p:pic>
      <p:sp>
        <p:nvSpPr>
          <p:cNvPr id="14" name="圆角矩形 13"/>
          <p:cNvSpPr/>
          <p:nvPr/>
        </p:nvSpPr>
        <p:spPr>
          <a:xfrm>
            <a:off x="4317999" y="5373950"/>
            <a:ext cx="3404235" cy="539054"/>
          </a:xfrm>
          <a:prstGeom prst="roundRect">
            <a:avLst>
              <a:gd name="adj" fmla="val 50000"/>
            </a:avLst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CICC 1003564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4296000" y="4567603"/>
            <a:ext cx="3600000" cy="553195"/>
            <a:chOff x="4296000" y="3420000"/>
            <a:chExt cx="3600000" cy="553195"/>
          </a:xfrm>
        </p:grpSpPr>
        <p:sp>
          <p:nvSpPr>
            <p:cNvPr id="6" name="圆角矩形 10"/>
            <p:cNvSpPr/>
            <p:nvPr/>
          </p:nvSpPr>
          <p:spPr>
            <a:xfrm>
              <a:off x="4296000" y="3420000"/>
              <a:ext cx="3600000" cy="540000"/>
            </a:xfrm>
            <a:prstGeom prst="roundRect">
              <a:avLst>
                <a:gd name="adj" fmla="val 15518"/>
              </a:avLst>
            </a:prstGeom>
            <a:solidFill>
              <a:schemeClr val="bg1"/>
            </a:solidFill>
            <a:ln w="25400">
              <a:solidFill>
                <a:srgbClr val="142DA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tIns="14414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418965" y="3420110"/>
              <a:ext cx="3354070" cy="5530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000" dirty="0">
                  <a:solidFill>
                    <a:srgbClr val="142DA8"/>
                  </a:solidFill>
                  <a:latin typeface="Times New Roman" panose="02020503050405090304" pitchFamily="18" charset="0"/>
                  <a:ea typeface="HarmonyOS Sans SC Black" panose="00000A00000000000000" charset="-122"/>
                </a:rPr>
                <a:t>曦智科技 命题</a:t>
              </a:r>
            </a:p>
          </p:txBody>
        </p:sp>
      </p:grpSp>
      <p:sp>
        <p:nvSpPr>
          <p:cNvPr id="4" name="Card"/>
          <p:cNvSpPr>
            <a:spLocks noGrp="1"/>
          </p:cNvSpPr>
          <p:nvPr/>
        </p:nvSpPr>
        <p:spPr>
          <a:xfrm>
            <a:off x="1574337" y="3039157"/>
            <a:ext cx="2519884" cy="1302402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60500" y="3006154"/>
            <a:ext cx="2672864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zh-CN" altLang="zh-CN" sz="3600" b="1" i="0" dirty="0">
                <a:solidFill>
                  <a:schemeClr val="accent5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9</a:t>
            </a:r>
            <a:r>
              <a:rPr lang="en-US" altLang="zh-CN" sz="3600" b="1" i="0" dirty="0">
                <a:solidFill>
                  <a:schemeClr val="accent5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6.40</a:t>
            </a:r>
            <a:r>
              <a:rPr lang="zh-CN" altLang="zh-CN" sz="3600" b="1" i="0" dirty="0">
                <a:solidFill>
                  <a:schemeClr val="accent5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%</a:t>
            </a:r>
          </a:p>
          <a:p>
            <a:pPr marL="0" marR="0" indent="0" algn="ctr">
              <a:spcBef>
                <a:spcPts val="450"/>
              </a:spcBef>
              <a:buNone/>
            </a:pPr>
            <a:r>
              <a:rPr lang="en-US" altLang="zh-CN" sz="120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  <a:sym typeface="+mn-ea"/>
              </a:rPr>
              <a:t>1000 </a:t>
            </a:r>
            <a:r>
              <a:rPr lang="zh-CN" altLang="en-US" sz="120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  <a:sym typeface="+mn-ea"/>
              </a:rPr>
              <a:t>样本抽样</a:t>
            </a:r>
            <a:endParaRPr lang="zh-CN" altLang="zh-CN" sz="1200" b="1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0" marR="0" indent="0" algn="ctr">
              <a:spcBef>
                <a:spcPts val="450"/>
              </a:spcBef>
              <a:buNone/>
            </a:pPr>
            <a:r>
              <a:rPr lang="zh-CN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真机准确率</a:t>
            </a:r>
            <a:endParaRPr lang="en-US" altLang="zh-CN" sz="1200" b="0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0" marR="0" indent="0" algn="ctr">
              <a:spcBef>
                <a:spcPts val="450"/>
              </a:spcBef>
              <a:buNone/>
            </a:pP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（全量准确率为</a:t>
            </a:r>
            <a:r>
              <a:rPr lang="en-US" altLang="zh-CN" sz="14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95.33%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）</a:t>
            </a:r>
            <a:endParaRPr lang="zh-CN" altLang="zh-CN" sz="1200" b="0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7" name="Card"/>
          <p:cNvSpPr>
            <a:spLocks noGrp="1"/>
          </p:cNvSpPr>
          <p:nvPr/>
        </p:nvSpPr>
        <p:spPr>
          <a:xfrm>
            <a:off x="4731206" y="3053392"/>
            <a:ext cx="2070671" cy="1284708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517317" y="3006245"/>
            <a:ext cx="2530337" cy="1392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zh-CN" altLang="zh-CN" sz="3600" b="1" i="0" dirty="0">
                <a:solidFill>
                  <a:schemeClr val="accent2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0.36pt</a:t>
            </a:r>
          </a:p>
          <a:p>
            <a:pPr marL="0" marR="0" indent="0" algn="ctr">
              <a:spcBef>
                <a:spcPts val="450"/>
              </a:spcBef>
              <a:buNone/>
            </a:pPr>
            <a:r>
              <a:rPr lang="en-US" altLang="zh-CN" sz="120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  <a:sym typeface="+mn-ea"/>
              </a:rPr>
              <a:t>1000 </a:t>
            </a:r>
            <a:r>
              <a:rPr lang="zh-CN" altLang="en-US" sz="120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  <a:sym typeface="+mn-ea"/>
              </a:rPr>
              <a:t>样本</a:t>
            </a:r>
            <a:r>
              <a:rPr lang="zh-CN" altLang="zh-CN" sz="1200" dirty="0">
                <a:latin typeface="Noto Sans SC" panose="020B0200000000000000" pitchFamily="34" charset="-122"/>
                <a:ea typeface="Noto Sans SC" panose="020B0200000000000000" pitchFamily="34" charset="-122"/>
                <a:sym typeface="+mn-ea"/>
              </a:rPr>
              <a:t>抽样</a:t>
            </a:r>
            <a:endParaRPr lang="zh-CN" altLang="zh-CN" sz="1200" b="1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0" marR="0" indent="0" algn="ctr">
              <a:spcBef>
                <a:spcPts val="450"/>
              </a:spcBef>
              <a:buNone/>
            </a:pPr>
            <a:r>
              <a:rPr lang="zh-CN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上板误差</a:t>
            </a:r>
            <a:endParaRPr lang="en-US" altLang="zh-CN" sz="1200" b="1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ctr">
              <a:spcBef>
                <a:spcPts val="450"/>
              </a:spcBef>
            </a:pPr>
            <a:r>
              <a:rPr lang="zh-CN" altLang="en-US" sz="120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（</a:t>
            </a:r>
            <a:r>
              <a:rPr lang="zh-CN" altLang="zh-CN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全量 </a:t>
            </a:r>
            <a:r>
              <a:rPr lang="zh-CN" altLang="zh-CN" sz="12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−1.43pt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）</a:t>
            </a:r>
            <a:endParaRPr lang="zh-CN" altLang="zh-CN" sz="1200" b="0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1" name="Card"/>
          <p:cNvSpPr>
            <a:spLocks noGrp="1"/>
          </p:cNvSpPr>
          <p:nvPr/>
        </p:nvSpPr>
        <p:spPr>
          <a:xfrm>
            <a:off x="7496184" y="3067791"/>
            <a:ext cx="1777931" cy="1214549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462717" y="3099148"/>
            <a:ext cx="1903977" cy="107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zh-CN" altLang="zh-CN" sz="3600" b="1" i="0" dirty="0">
                <a:solidFill>
                  <a:srgbClr val="00B050"/>
                </a:solidFill>
                <a:effectLst/>
                <a:latin typeface="Poppins" panose="00000500000000000000" pitchFamily="2" charset="0"/>
              </a:rPr>
              <a:t>2.56M</a:t>
            </a:r>
          </a:p>
          <a:p>
            <a:pPr algn="ctr">
              <a:spcBef>
                <a:spcPts val="450"/>
              </a:spcBef>
            </a:pPr>
            <a:r>
              <a:rPr lang="zh-CN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MACs 运算量</a:t>
            </a:r>
            <a:b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</a:br>
            <a: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模型</a:t>
            </a:r>
            <a:r>
              <a:rPr lang="en-US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 M10</a:t>
            </a:r>
          </a:p>
        </p:txBody>
      </p:sp>
      <p:sp>
        <p:nvSpPr>
          <p:cNvPr id="27" name="Card"/>
          <p:cNvSpPr>
            <a:spLocks noGrp="1"/>
          </p:cNvSpPr>
          <p:nvPr/>
        </p:nvSpPr>
        <p:spPr>
          <a:xfrm>
            <a:off x="9876948" y="3078605"/>
            <a:ext cx="1777931" cy="1219363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991425" y="3145677"/>
            <a:ext cx="1609126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DA6579"/>
                </a:solidFill>
                <a:latin typeface="Poppins" panose="00000500000000000000" pitchFamily="2" charset="0"/>
              </a:rPr>
              <a:t>61 </a:t>
            </a:r>
            <a:r>
              <a:rPr lang="zh-CN" altLang="en-US" sz="3600" b="1" dirty="0">
                <a:solidFill>
                  <a:srgbClr val="DA6579"/>
                </a:solidFill>
                <a:latin typeface="Poppins" panose="00000500000000000000" pitchFamily="2" charset="0"/>
              </a:rPr>
              <a:t>倍</a:t>
            </a:r>
            <a:endParaRPr lang="zh-CN" altLang="zh-CN" sz="3600" dirty="0">
              <a:solidFill>
                <a:srgbClr val="DA6579"/>
              </a:solidFill>
              <a:latin typeface="Poppins" panose="00000500000000000000" pitchFamily="2" charset="0"/>
            </a:endParaRPr>
          </a:p>
          <a:p>
            <a:pPr algn="ctr">
              <a:spcBef>
                <a:spcPts val="450"/>
              </a:spcBef>
            </a:pPr>
            <a:r>
              <a:rPr lang="zh-CN" altLang="en-US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推理性能优化</a:t>
            </a:r>
            <a:r>
              <a:rPr lang="zh-CN" altLang="zh-CN" sz="12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 </a:t>
            </a:r>
            <a:endParaRPr lang="en-US" altLang="zh-CN" sz="1200" b="1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ctr">
              <a:spcBef>
                <a:spcPts val="450"/>
              </a:spcBef>
            </a:pPr>
            <a:r>
              <a:rPr lang="en-US" altLang="zh-CN" sz="120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  <a:sym typeface="+mn-ea"/>
              </a:rPr>
              <a:t>M10 </a:t>
            </a:r>
            <a:r>
              <a:rPr lang="zh-CN" altLang="en-US" sz="120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  <a:sym typeface="+mn-ea"/>
              </a:rPr>
              <a:t>相比于</a:t>
            </a:r>
            <a:r>
              <a:rPr lang="en-US" altLang="zh-CN" sz="120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  <a:sym typeface="+mn-ea"/>
              </a:rPr>
              <a:t> M1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18922" y="198831"/>
            <a:ext cx="26228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快速预览</a:t>
            </a:r>
            <a:r>
              <a:rPr lang="en-US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(1/3)</a:t>
            </a:r>
            <a:endParaRPr lang="zh-CN" altLang="zh-CN" sz="3200" b="1" dirty="0">
              <a:solidFill>
                <a:srgbClr val="0061E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1" name="图片 10" descr="集创赛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877772" y="374006"/>
            <a:ext cx="5513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b="1" dirty="0"/>
              <a:t>测量 → 归因 → 建模 → 训练 → 联合设计 → 部署验证</a:t>
            </a:r>
            <a:endParaRPr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2141215" y="2433050"/>
            <a:ext cx="9669785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lnSpc>
                <a:spcPts val="13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zh-CN" b="1" i="0" dirty="0">
                <a:effectLst/>
                <a:latin typeface="-apple-system"/>
              </a:rPr>
              <a:t>真机测量</a:t>
            </a:r>
            <a:r>
              <a:rPr lang="zh-CN" altLang="zh-CN" b="0" i="0" dirty="0">
                <a:effectLst/>
                <a:latin typeface="-apple-system"/>
              </a:rPr>
              <a:t>：固定底噪 4.5 counts ≠ 仿真器 ~1% 相对噪声（E5 三值域配对实验）</a:t>
            </a:r>
          </a:p>
          <a:p>
            <a:pPr marL="342900" marR="0" lvl="0" indent="-342900" algn="l">
              <a:lnSpc>
                <a:spcPts val="130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zh-CN" b="1" i="0" dirty="0">
                <a:effectLst/>
                <a:latin typeface="-apple-system"/>
              </a:rPr>
              <a:t>噪声归因</a:t>
            </a:r>
            <a:r>
              <a:rPr lang="zh-CN" altLang="zh-CN" b="0" i="0" dirty="0">
                <a:effectLst/>
                <a:latin typeface="-apple-system"/>
              </a:rPr>
              <a:t>：三组分结构化（列偏移 4–23% / 列增益 1–3% / δW 21–50%）</a:t>
            </a:r>
            <a:endParaRPr lang="en-US" altLang="zh-CN" dirty="0">
              <a:latin typeface="-apple-system"/>
            </a:endParaRPr>
          </a:p>
          <a:p>
            <a:pPr lvl="1">
              <a:lnSpc>
                <a:spcPts val="1300"/>
              </a:lnSpc>
              <a:spcBef>
                <a:spcPts val="450"/>
              </a:spcBef>
              <a:spcAft>
                <a:spcPts val="1200"/>
              </a:spcAft>
            </a:pPr>
            <a:r>
              <a:rPr lang="zh-CN" altLang="zh-CN" b="0" i="0" dirty="0">
                <a:solidFill>
                  <a:schemeClr val="bg2">
                    <a:lumMod val="75000"/>
                  </a:schemeClr>
                </a:solidFill>
                <a:effectLst/>
                <a:latin typeface="-apple-system"/>
              </a:rPr>
              <a:t>✗</a:t>
            </a:r>
            <a:r>
              <a:rPr lang="zh-CN" altLang="zh-CN" b="0" i="0" dirty="0">
                <a:effectLst/>
                <a:latin typeface="-apple-system"/>
              </a:rPr>
              <a:t> iid 单标量模型被实测否定</a:t>
            </a:r>
          </a:p>
          <a:p>
            <a:pPr marL="342900" marR="0" lvl="0" indent="-342900" algn="l">
              <a:lnSpc>
                <a:spcPts val="130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zh-CN" b="1" i="0" dirty="0">
                <a:effectLst/>
                <a:latin typeface="-apple-system"/>
              </a:rPr>
              <a:t>组分训练</a:t>
            </a:r>
            <a:r>
              <a:rPr lang="zh-CN" altLang="zh-CN" b="0" i="0" dirty="0">
                <a:effectLst/>
                <a:latin typeface="-apple-system"/>
              </a:rPr>
              <a:t>：v8 按批重采样三组分×1.5 余量 </a:t>
            </a:r>
            <a:endParaRPr lang="en-US" altLang="zh-CN" dirty="0">
              <a:latin typeface="-apple-system"/>
            </a:endParaRPr>
          </a:p>
          <a:p>
            <a:pPr lvl="1">
              <a:lnSpc>
                <a:spcPts val="1300"/>
              </a:lnSpc>
              <a:spcBef>
                <a:spcPts val="450"/>
              </a:spcBef>
              <a:spcAft>
                <a:spcPts val="1200"/>
              </a:spcAft>
            </a:pPr>
            <a:r>
              <a:rPr lang="zh-CN" altLang="zh-CN" dirty="0">
                <a:solidFill>
                  <a:schemeClr val="bg2">
                    <a:lumMod val="75000"/>
                  </a:schemeClr>
                </a:solidFill>
                <a:latin typeface="-apple-system"/>
              </a:rPr>
              <a:t>✗</a:t>
            </a:r>
            <a:r>
              <a:rPr lang="zh-CN" altLang="zh-CN" b="0" i="0" dirty="0">
                <a:effectLst/>
                <a:latin typeface="-apple-system"/>
              </a:rPr>
              <a:t> REP 多次投票无效（误差 95% run 间可复现）</a:t>
            </a:r>
          </a:p>
          <a:p>
            <a:pPr marL="342900" marR="0" lvl="0" indent="-342900" algn="l">
              <a:lnSpc>
                <a:spcPts val="130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zh-CN" b="1" i="0" dirty="0">
                <a:effectLst/>
                <a:latin typeface="-apple-system"/>
              </a:rPr>
              <a:t>架构联合设计</a:t>
            </a:r>
            <a:r>
              <a:rPr lang="zh-CN" altLang="zh-CN" b="0" i="0" dirty="0">
                <a:effectLst/>
                <a:latin typeface="-apple-system"/>
              </a:rPr>
              <a:t>：X0 13 臂对照 → conv3s2 家族胜出 </a:t>
            </a:r>
            <a:endParaRPr lang="en-US" altLang="zh-CN" b="0" i="0" dirty="0">
              <a:effectLst/>
              <a:latin typeface="-apple-system"/>
            </a:endParaRPr>
          </a:p>
          <a:p>
            <a:pPr lvl="1">
              <a:lnSpc>
                <a:spcPts val="1300"/>
              </a:lnSpc>
              <a:spcBef>
                <a:spcPts val="450"/>
              </a:spcBef>
              <a:spcAft>
                <a:spcPts val="1200"/>
              </a:spcAft>
            </a:pPr>
            <a:r>
              <a:rPr lang="zh-CN" altLang="zh-CN" dirty="0">
                <a:solidFill>
                  <a:schemeClr val="bg2">
                    <a:lumMod val="75000"/>
                  </a:schemeClr>
                </a:solidFill>
                <a:latin typeface="-apple-system"/>
              </a:rPr>
              <a:t>✗</a:t>
            </a:r>
            <a:r>
              <a:rPr lang="zh-CN" altLang="zh-CN" b="0" i="0" dirty="0">
                <a:effectLst/>
                <a:latin typeface="-apple-system"/>
              </a:rPr>
              <a:t> MaxPool（M7）有偏传播，决定性对照差 12.1pt；3×3 层（M5）δW 不可校准差 2.6pt</a:t>
            </a:r>
          </a:p>
          <a:p>
            <a:pPr marL="342900" marR="0" lvl="0" indent="-342900" algn="l">
              <a:lnSpc>
                <a:spcPts val="130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zh-CN" b="1" i="0" dirty="0">
                <a:effectLst/>
                <a:latin typeface="-apple-system"/>
              </a:rPr>
              <a:t>逐列校准</a:t>
            </a:r>
            <a:r>
              <a:rPr lang="zh-CN" altLang="zh-CN" b="0" i="0" dirty="0">
                <a:effectLst/>
                <a:latin typeface="-apple-system"/>
              </a:rPr>
              <a:t>：ABA 净提升 +1.5pt（92.60→94.60）</a:t>
            </a:r>
            <a:endParaRPr lang="en-US" altLang="zh-CN" b="0" i="0" dirty="0">
              <a:effectLst/>
              <a:latin typeface="-apple-system"/>
            </a:endParaRPr>
          </a:p>
          <a:p>
            <a:pPr lvl="1">
              <a:lnSpc>
                <a:spcPts val="1300"/>
              </a:lnSpc>
              <a:spcBef>
                <a:spcPts val="450"/>
              </a:spcBef>
              <a:spcAft>
                <a:spcPts val="1200"/>
              </a:spcAft>
            </a:pPr>
            <a:r>
              <a:rPr lang="zh-CN" altLang="zh-CN" dirty="0">
                <a:solidFill>
                  <a:schemeClr val="bg2">
                    <a:lumMod val="75000"/>
                  </a:schemeClr>
                </a:solidFill>
                <a:latin typeface="-apple-system"/>
              </a:rPr>
              <a:t>✗ </a:t>
            </a:r>
            <a:r>
              <a:rPr lang="zh-CN" altLang="zh-CN" b="0" i="0" dirty="0">
                <a:effectLst/>
                <a:latin typeface="-apple-system"/>
              </a:rPr>
              <a:t>标量校准 / calib json 跨窗口复用均被否定</a:t>
            </a:r>
          </a:p>
          <a:p>
            <a:pPr marL="342900" marR="0" lvl="0" indent="-342900" algn="l">
              <a:lnSpc>
                <a:spcPts val="130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zh-CN" b="1" i="0" dirty="0">
                <a:effectLst/>
                <a:latin typeface="-apple-system"/>
              </a:rPr>
              <a:t>调度纪律</a:t>
            </a:r>
            <a:r>
              <a:rPr lang="zh-CN" altLang="zh-CN" b="0" i="0" dirty="0">
                <a:effectLst/>
                <a:latin typeface="-apple-system"/>
              </a:rPr>
              <a:t>：20min fresh 校准</a:t>
            </a:r>
            <a:endParaRPr lang="en-US" altLang="zh-CN" b="0" i="0" dirty="0">
              <a:effectLst/>
              <a:latin typeface="-apple-system"/>
            </a:endParaRPr>
          </a:p>
          <a:p>
            <a:pPr lvl="1">
              <a:lnSpc>
                <a:spcPts val="1300"/>
              </a:lnSpc>
              <a:spcBef>
                <a:spcPts val="450"/>
              </a:spcBef>
              <a:spcAft>
                <a:spcPts val="1200"/>
              </a:spcAft>
            </a:pPr>
            <a:r>
              <a:rPr lang="zh-CN" altLang="zh-CN" dirty="0">
                <a:solidFill>
                  <a:schemeClr val="bg2">
                    <a:lumMod val="75000"/>
                  </a:schemeClr>
                </a:solidFill>
                <a:latin typeface="-apple-system"/>
              </a:rPr>
              <a:t>✗</a:t>
            </a:r>
            <a:r>
              <a:rPr lang="zh-CN" altLang="zh-CN" b="0" i="0" dirty="0">
                <a:effectLst/>
                <a:latin typeface="-apple-system"/>
              </a:rPr>
              <a:t> stale 校准 −12.5pt；热崩溃 0% → ≥1h 冷却恢复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itchFamily="2" charset="-122"/>
                <a:ea typeface="宋体" pitchFamily="2" charset="-122"/>
              </a:rPr>
              <a:t>02 / 23</a:t>
            </a:r>
            <a:endParaRPr lang="zh-CN" altLang="en-US" sz="1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  <p:sp>
        <p:nvSpPr>
          <p:cNvPr id="32" name="Card">
            <a:extLst>
              <a:ext uri="{FF2B5EF4-FFF2-40B4-BE49-F238E27FC236}">
                <a16:creationId xmlns:a16="http://schemas.microsoft.com/office/drawing/2014/main" id="{83F69604-0AEF-2ACE-0F2D-6C4AAB3BECC7}"/>
              </a:ext>
            </a:extLst>
          </p:cNvPr>
          <p:cNvSpPr>
            <a:spLocks noGrp="1"/>
          </p:cNvSpPr>
          <p:nvPr/>
        </p:nvSpPr>
        <p:spPr>
          <a:xfrm>
            <a:off x="1311944" y="884351"/>
            <a:ext cx="2519884" cy="1302402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1F13265-68D8-4991-8F38-9DF204EB8181}"/>
              </a:ext>
            </a:extLst>
          </p:cNvPr>
          <p:cNvSpPr txBox="1"/>
          <p:nvPr/>
        </p:nvSpPr>
        <p:spPr>
          <a:xfrm>
            <a:off x="1198107" y="851348"/>
            <a:ext cx="2672864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zh-CN" altLang="zh-CN" sz="3600" b="1" i="0" dirty="0">
                <a:solidFill>
                  <a:schemeClr val="accent5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9</a:t>
            </a:r>
            <a:r>
              <a:rPr lang="en-US" altLang="zh-CN" sz="3600" b="1" i="0" dirty="0">
                <a:solidFill>
                  <a:schemeClr val="accent5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6.40</a:t>
            </a:r>
            <a:r>
              <a:rPr lang="zh-CN" altLang="zh-CN" sz="3600" b="1" i="0" dirty="0">
                <a:solidFill>
                  <a:schemeClr val="accent5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%</a:t>
            </a:r>
          </a:p>
          <a:p>
            <a:pPr marL="0" marR="0" indent="0" algn="ctr">
              <a:spcBef>
                <a:spcPts val="450"/>
              </a:spcBef>
              <a:buNone/>
            </a:pPr>
            <a:r>
              <a:rPr lang="en-US" altLang="zh-CN" sz="120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  <a:sym typeface="+mn-ea"/>
              </a:rPr>
              <a:t>1000 </a:t>
            </a:r>
            <a:r>
              <a:rPr lang="zh-CN" altLang="en-US" sz="120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  <a:sym typeface="+mn-ea"/>
              </a:rPr>
              <a:t>样本抽样</a:t>
            </a:r>
            <a:endParaRPr lang="zh-CN" altLang="zh-CN" sz="1200" b="1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0" marR="0" indent="0" algn="ctr">
              <a:spcBef>
                <a:spcPts val="450"/>
              </a:spcBef>
              <a:buNone/>
            </a:pPr>
            <a:r>
              <a:rPr lang="zh-CN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真机准确率</a:t>
            </a:r>
            <a:endParaRPr lang="en-US" altLang="zh-CN" sz="1200" b="0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0" marR="0" indent="0" algn="ctr">
              <a:spcBef>
                <a:spcPts val="450"/>
              </a:spcBef>
              <a:buNone/>
            </a:pP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（全量准确率为</a:t>
            </a:r>
            <a:r>
              <a:rPr lang="en-US" altLang="zh-CN" sz="14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95.33%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）</a:t>
            </a:r>
            <a:endParaRPr lang="zh-CN" altLang="zh-CN" sz="1200" b="0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36" name="Card">
            <a:extLst>
              <a:ext uri="{FF2B5EF4-FFF2-40B4-BE49-F238E27FC236}">
                <a16:creationId xmlns:a16="http://schemas.microsoft.com/office/drawing/2014/main" id="{9FF61908-B02E-D0FD-6565-DDA9D30B10EB}"/>
              </a:ext>
            </a:extLst>
          </p:cNvPr>
          <p:cNvSpPr>
            <a:spLocks noGrp="1"/>
          </p:cNvSpPr>
          <p:nvPr/>
        </p:nvSpPr>
        <p:spPr>
          <a:xfrm>
            <a:off x="4468813" y="898586"/>
            <a:ext cx="2070671" cy="1284708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C145CA3-B0D4-5BC3-9D47-16B079F63D32}"/>
              </a:ext>
            </a:extLst>
          </p:cNvPr>
          <p:cNvSpPr txBox="1"/>
          <p:nvPr/>
        </p:nvSpPr>
        <p:spPr>
          <a:xfrm>
            <a:off x="4254924" y="851439"/>
            <a:ext cx="2530337" cy="1392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zh-CN" altLang="zh-CN" sz="3600" b="1" i="0" dirty="0">
                <a:solidFill>
                  <a:schemeClr val="accent2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0.36pt</a:t>
            </a:r>
          </a:p>
          <a:p>
            <a:pPr marL="0" marR="0" indent="0" algn="ctr">
              <a:spcBef>
                <a:spcPts val="450"/>
              </a:spcBef>
              <a:buNone/>
            </a:pPr>
            <a:r>
              <a:rPr lang="en-US" altLang="zh-CN" sz="120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  <a:sym typeface="+mn-ea"/>
              </a:rPr>
              <a:t>1000 </a:t>
            </a:r>
            <a:r>
              <a:rPr lang="zh-CN" altLang="en-US" sz="120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  <a:sym typeface="+mn-ea"/>
              </a:rPr>
              <a:t>样本</a:t>
            </a:r>
            <a:r>
              <a:rPr lang="zh-CN" altLang="zh-CN" sz="1200" dirty="0">
                <a:latin typeface="Noto Sans SC" panose="020B0200000000000000" pitchFamily="34" charset="-122"/>
                <a:ea typeface="Noto Sans SC" panose="020B0200000000000000" pitchFamily="34" charset="-122"/>
                <a:sym typeface="+mn-ea"/>
              </a:rPr>
              <a:t>抽样</a:t>
            </a:r>
            <a:endParaRPr lang="zh-CN" altLang="zh-CN" sz="1200" b="1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0" marR="0" indent="0" algn="ctr">
              <a:spcBef>
                <a:spcPts val="450"/>
              </a:spcBef>
              <a:buNone/>
            </a:pPr>
            <a:r>
              <a:rPr lang="zh-CN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上板误差</a:t>
            </a:r>
            <a:endParaRPr lang="en-US" altLang="zh-CN" sz="1200" b="1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ctr">
              <a:spcBef>
                <a:spcPts val="450"/>
              </a:spcBef>
            </a:pPr>
            <a:r>
              <a:rPr lang="zh-CN" altLang="en-US" sz="120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（</a:t>
            </a:r>
            <a:r>
              <a:rPr lang="zh-CN" altLang="zh-CN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全量 </a:t>
            </a:r>
            <a:r>
              <a:rPr lang="zh-CN" altLang="zh-CN" sz="12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−1.43pt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）</a:t>
            </a:r>
            <a:endParaRPr lang="zh-CN" altLang="zh-CN" sz="1200" b="0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0" name="Card">
            <a:extLst>
              <a:ext uri="{FF2B5EF4-FFF2-40B4-BE49-F238E27FC236}">
                <a16:creationId xmlns:a16="http://schemas.microsoft.com/office/drawing/2014/main" id="{8EF43A60-77EE-B40D-4C67-5AF419D52806}"/>
              </a:ext>
            </a:extLst>
          </p:cNvPr>
          <p:cNvSpPr>
            <a:spLocks noGrp="1"/>
          </p:cNvSpPr>
          <p:nvPr/>
        </p:nvSpPr>
        <p:spPr>
          <a:xfrm>
            <a:off x="7233791" y="912985"/>
            <a:ext cx="1777931" cy="1214549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081450A-1CCE-9C46-753F-88FBED6195FC}"/>
              </a:ext>
            </a:extLst>
          </p:cNvPr>
          <p:cNvSpPr txBox="1"/>
          <p:nvPr/>
        </p:nvSpPr>
        <p:spPr>
          <a:xfrm>
            <a:off x="7200324" y="944342"/>
            <a:ext cx="1903977" cy="107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zh-CN" altLang="zh-CN" sz="3600" b="1" i="0" dirty="0">
                <a:solidFill>
                  <a:srgbClr val="00B050"/>
                </a:solidFill>
                <a:effectLst/>
                <a:latin typeface="Poppins" panose="00000500000000000000" pitchFamily="2" charset="0"/>
              </a:rPr>
              <a:t>2.56M</a:t>
            </a:r>
          </a:p>
          <a:p>
            <a:pPr algn="ctr">
              <a:spcBef>
                <a:spcPts val="450"/>
              </a:spcBef>
            </a:pPr>
            <a:r>
              <a:rPr lang="zh-CN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MACs 运算量</a:t>
            </a:r>
            <a:b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</a:br>
            <a: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模型</a:t>
            </a:r>
            <a:r>
              <a:rPr lang="en-US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 M10</a:t>
            </a:r>
          </a:p>
        </p:txBody>
      </p:sp>
      <p:sp>
        <p:nvSpPr>
          <p:cNvPr id="45" name="Card">
            <a:extLst>
              <a:ext uri="{FF2B5EF4-FFF2-40B4-BE49-F238E27FC236}">
                <a16:creationId xmlns:a16="http://schemas.microsoft.com/office/drawing/2014/main" id="{76978C4C-59CC-E8E1-173A-4AC56EB8F89C}"/>
              </a:ext>
            </a:extLst>
          </p:cNvPr>
          <p:cNvSpPr>
            <a:spLocks noGrp="1"/>
          </p:cNvSpPr>
          <p:nvPr/>
        </p:nvSpPr>
        <p:spPr>
          <a:xfrm>
            <a:off x="9614555" y="923799"/>
            <a:ext cx="1777931" cy="1219363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C3E0B7B-7EE3-A7EB-D122-D9B35056ABF4}"/>
              </a:ext>
            </a:extLst>
          </p:cNvPr>
          <p:cNvSpPr txBox="1"/>
          <p:nvPr/>
        </p:nvSpPr>
        <p:spPr>
          <a:xfrm>
            <a:off x="9729032" y="990871"/>
            <a:ext cx="1609126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DA6579"/>
                </a:solidFill>
                <a:latin typeface="Poppins" panose="00000500000000000000" pitchFamily="2" charset="0"/>
              </a:rPr>
              <a:t>61 </a:t>
            </a:r>
            <a:r>
              <a:rPr lang="zh-CN" altLang="en-US" sz="3600" b="1" dirty="0">
                <a:solidFill>
                  <a:srgbClr val="DA6579"/>
                </a:solidFill>
                <a:latin typeface="Poppins" panose="00000500000000000000" pitchFamily="2" charset="0"/>
              </a:rPr>
              <a:t>倍</a:t>
            </a:r>
            <a:endParaRPr lang="zh-CN" altLang="zh-CN" sz="3600" dirty="0">
              <a:solidFill>
                <a:srgbClr val="DA6579"/>
              </a:solidFill>
              <a:latin typeface="Poppins" panose="00000500000000000000" pitchFamily="2" charset="0"/>
            </a:endParaRPr>
          </a:p>
          <a:p>
            <a:pPr algn="ctr">
              <a:spcBef>
                <a:spcPts val="450"/>
              </a:spcBef>
            </a:pPr>
            <a:r>
              <a:rPr lang="zh-CN" altLang="en-US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推理性能优化</a:t>
            </a:r>
            <a:r>
              <a:rPr lang="zh-CN" altLang="zh-CN" sz="12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 </a:t>
            </a:r>
            <a:endParaRPr lang="en-US" altLang="zh-CN" sz="1200" b="1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ctr">
              <a:spcBef>
                <a:spcPts val="450"/>
              </a:spcBef>
            </a:pPr>
            <a:r>
              <a:rPr lang="en-US" altLang="zh-CN" sz="120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  <a:sym typeface="+mn-ea"/>
              </a:rPr>
              <a:t>M10 </a:t>
            </a:r>
            <a:r>
              <a:rPr lang="zh-CN" altLang="en-US" sz="120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  <a:sym typeface="+mn-ea"/>
              </a:rPr>
              <a:t>相比于</a:t>
            </a:r>
            <a:r>
              <a:rPr lang="en-US" altLang="zh-CN" sz="120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  <a:sym typeface="+mn-ea"/>
              </a:rPr>
              <a:t> M1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7" y="959482"/>
            <a:ext cx="12192000" cy="48768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18922" y="198831"/>
            <a:ext cx="26228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快速预览</a:t>
            </a:r>
            <a:r>
              <a:rPr lang="en-US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(2/3)</a:t>
            </a:r>
            <a:endParaRPr lang="zh-CN" altLang="zh-CN" sz="3200" b="1" dirty="0">
              <a:solidFill>
                <a:srgbClr val="0061E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1" name="图片 10" descr="集创赛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7" name="箭头: 右 6"/>
          <p:cNvSpPr/>
          <p:nvPr/>
        </p:nvSpPr>
        <p:spPr>
          <a:xfrm rot="11326064">
            <a:off x="2864783" y="3164767"/>
            <a:ext cx="500049" cy="185144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341756" y="3156753"/>
            <a:ext cx="161099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b="1" i="0" dirty="0">
                <a:effectLst/>
                <a:latin typeface="-apple-system"/>
              </a:rPr>
              <a:t>M10 · 2.56M </a:t>
            </a:r>
          </a:p>
          <a:p>
            <a:r>
              <a:rPr lang="zh-CN" altLang="zh-CN" sz="1200" b="1" i="0" dirty="0">
                <a:effectLst/>
                <a:latin typeface="-apple-system"/>
              </a:rPr>
              <a:t> 真机 96.40%</a:t>
            </a:r>
            <a:r>
              <a:rPr lang="en-US" altLang="zh-CN" sz="1200" b="1" i="0" dirty="0">
                <a:effectLst/>
                <a:latin typeface="-apple-system"/>
              </a:rPr>
              <a:t> (1k)</a:t>
            </a:r>
            <a:r>
              <a:rPr lang="zh-CN" altLang="zh-CN" sz="1200" b="1" i="0" dirty="0">
                <a:effectLst/>
                <a:latin typeface="-apple-system"/>
              </a:rPr>
              <a:t> 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2319804" y="4165362"/>
            <a:ext cx="132293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b="0" i="0" dirty="0">
                <a:effectLst/>
                <a:latin typeface="-apple-system"/>
              </a:rPr>
              <a:t>M9 · 1.52M </a:t>
            </a:r>
          </a:p>
          <a:p>
            <a:r>
              <a:rPr lang="zh-CN" altLang="zh-CN" sz="1200" b="0" i="0" dirty="0">
                <a:effectLst/>
                <a:latin typeface="-apple-system"/>
              </a:rPr>
              <a:t>真机 94.43% </a:t>
            </a:r>
            <a:endParaRPr lang="zh-CN" altLang="en-US" dirty="0"/>
          </a:p>
        </p:txBody>
      </p:sp>
      <p:sp>
        <p:nvSpPr>
          <p:cNvPr id="25" name="箭头: 右 24"/>
          <p:cNvSpPr/>
          <p:nvPr/>
        </p:nvSpPr>
        <p:spPr>
          <a:xfrm rot="12863920">
            <a:off x="1857483" y="3906978"/>
            <a:ext cx="886926" cy="125476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2453333" y="5829513"/>
            <a:ext cx="81293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i="0" dirty="0">
                <a:effectLst/>
                <a:latin typeface="-apple-system"/>
              </a:rPr>
              <a:t> </a:t>
            </a:r>
            <a:r>
              <a:rPr lang="zh-CN" altLang="zh-CN" sz="1600" b="0" i="0" dirty="0">
                <a:effectLst/>
                <a:latin typeface="-apple-system"/>
              </a:rPr>
              <a:t>QAT clean（R1–R8）· v8（M5–M10）· </a:t>
            </a:r>
            <a:r>
              <a:rPr lang="zh-CN" altLang="zh-CN" sz="1600" i="0" dirty="0">
                <a:effectLst/>
                <a:latin typeface="-apple-system"/>
              </a:rPr>
              <a:t>真机全量 5400（★）</a:t>
            </a:r>
            <a:endParaRPr lang="en-US" altLang="zh-CN" sz="1600" i="0" dirty="0">
              <a:effectLst/>
              <a:latin typeface="-apple-system"/>
            </a:endParaRPr>
          </a:p>
          <a:p>
            <a:r>
              <a:rPr lang="zh-CN" altLang="zh-CN" sz="2400" b="0" i="0" dirty="0">
                <a:solidFill>
                  <a:srgbClr val="00B050"/>
                </a:solidFill>
                <a:effectLst/>
                <a:latin typeface="-apple-system"/>
              </a:rPr>
              <a:t>★</a:t>
            </a:r>
            <a:r>
              <a:rPr lang="zh-CN" altLang="zh-CN" sz="1600" b="0" i="0" dirty="0">
                <a:effectLst/>
                <a:latin typeface="-apple-system"/>
              </a:rPr>
              <a:t> = 2026-08-17 收官</a:t>
            </a:r>
            <a:r>
              <a:rPr lang="en-US" altLang="zh-CN" sz="1600" b="0" i="0" dirty="0">
                <a:effectLst/>
                <a:latin typeface="-apple-system"/>
              </a:rPr>
              <a:t>        </a:t>
            </a:r>
            <a:r>
              <a:rPr lang="zh-CN" altLang="zh-CN" sz="1600" b="0" i="0" dirty="0">
                <a:effectLst/>
                <a:latin typeface="-apple-system"/>
              </a:rPr>
              <a:t> M10 · 2.56M · </a:t>
            </a:r>
            <a:r>
              <a:rPr lang="zh-CN" altLang="zh-CN" sz="1600" b="1" i="0" dirty="0">
                <a:effectLst/>
                <a:latin typeface="-apple-system"/>
              </a:rPr>
              <a:t>95.33%</a:t>
            </a:r>
            <a:r>
              <a:rPr lang="zh-CN" altLang="zh-CN" sz="1600" b="0" i="0" dirty="0">
                <a:effectLst/>
                <a:latin typeface="-apple-system"/>
              </a:rPr>
              <a:t> ｜ M9 · 1.52M · </a:t>
            </a:r>
            <a:r>
              <a:rPr lang="zh-CN" altLang="zh-CN" sz="1600" b="1" i="0" dirty="0">
                <a:effectLst/>
                <a:latin typeface="-apple-system"/>
              </a:rPr>
              <a:t>94.43%</a:t>
            </a:r>
            <a:r>
              <a:rPr lang="zh-CN" altLang="zh-CN" sz="1600" b="0" i="0" dirty="0">
                <a:effectLst/>
                <a:latin typeface="-apple-system"/>
              </a:rPr>
              <a:t>（≤2M 预算内冠军）</a:t>
            </a:r>
            <a:endParaRPr lang="zh-CN" altLang="en-US" sz="2400" dirty="0"/>
          </a:p>
        </p:txBody>
      </p:sp>
      <p:sp>
        <p:nvSpPr>
          <p:cNvPr id="32" name="文本框 31"/>
          <p:cNvSpPr txBox="1"/>
          <p:nvPr/>
        </p:nvSpPr>
        <p:spPr>
          <a:xfrm>
            <a:off x="4982166" y="506447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各模型帕累托图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6456045" y="3491230"/>
            <a:ext cx="12446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i="0" dirty="0">
                <a:effectLst/>
                <a:latin typeface="-apple-system"/>
              </a:rPr>
              <a:t>M4 </a:t>
            </a:r>
            <a:r>
              <a:rPr lang="en-US" altLang="zh-CN" sz="1200" i="0" dirty="0">
                <a:effectLst/>
                <a:latin typeface="-apple-system"/>
              </a:rPr>
              <a:t>·</a:t>
            </a:r>
            <a:r>
              <a:rPr lang="zh-CN" altLang="zh-CN" sz="1200" i="0" dirty="0">
                <a:effectLst/>
                <a:latin typeface="-apple-system"/>
              </a:rPr>
              <a:t> </a:t>
            </a:r>
            <a:r>
              <a:rPr lang="en-US" altLang="zh-CN" sz="1200" i="0" dirty="0">
                <a:effectLst/>
                <a:latin typeface="-apple-system"/>
              </a:rPr>
              <a:t>1</a:t>
            </a:r>
            <a:r>
              <a:rPr lang="zh-CN" altLang="zh-CN" sz="1200" i="0" dirty="0">
                <a:effectLst/>
                <a:latin typeface="-apple-system"/>
              </a:rPr>
              <a:t>7M</a:t>
            </a:r>
          </a:p>
          <a:p>
            <a:r>
              <a:rPr lang="zh-CN" altLang="zh-CN" sz="1200" i="0" dirty="0">
                <a:effectLst/>
                <a:latin typeface="-apple-system"/>
              </a:rPr>
              <a:t>真机</a:t>
            </a:r>
            <a:r>
              <a:rPr lang="en-US" altLang="zh-CN" sz="1200" i="0" dirty="0">
                <a:effectLst/>
                <a:latin typeface="-apple-system"/>
              </a:rPr>
              <a:t> </a:t>
            </a:r>
            <a:r>
              <a:rPr lang="zh-CN" altLang="zh-CN" sz="1200" dirty="0">
                <a:effectLst/>
                <a:latin typeface="-apple-system"/>
                <a:sym typeface="+mn-ea"/>
              </a:rPr>
              <a:t>94.19%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itchFamily="2" charset="-122"/>
                <a:ea typeface="宋体" pitchFamily="2" charset="-122"/>
              </a:rPr>
              <a:t>03 / 23</a:t>
            </a:r>
            <a:endParaRPr lang="zh-CN" altLang="en-US" sz="1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18922" y="198831"/>
            <a:ext cx="26228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快速预览</a:t>
            </a:r>
            <a:r>
              <a:rPr lang="en-US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(3/3)</a:t>
            </a:r>
            <a:endParaRPr lang="zh-CN" altLang="zh-CN" sz="3200" b="1" dirty="0">
              <a:solidFill>
                <a:srgbClr val="0061E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1" name="图片 10" descr="集创赛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726" y="1170351"/>
            <a:ext cx="6369844" cy="4157161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88118" y="1530488"/>
            <a:ext cx="5923613" cy="32504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512050" y="5400040"/>
            <a:ext cx="347535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面向硬件进行算法优化，</a:t>
            </a:r>
          </a:p>
          <a:p>
            <a:r>
              <a:rPr lang="zh-CN" altLang="en-US" sz="2400" dirty="0"/>
              <a:t>真机表现迭代提升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067069" y="5314147"/>
            <a:ext cx="2215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上板精度</a:t>
            </a:r>
            <a:r>
              <a:rPr lang="en-US" altLang="zh-CN" sz="2000" b="1" dirty="0"/>
              <a:t>Pareto</a:t>
            </a:r>
            <a:r>
              <a:rPr lang="zh-CN" altLang="en-US" sz="2000" b="1" dirty="0"/>
              <a:t>图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643673" y="4779286"/>
            <a:ext cx="3882019" cy="44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100" b="1" i="0" dirty="0">
                <a:effectLst/>
                <a:latin typeface="-apple-system"/>
              </a:rPr>
              <a:t>各阶段均为真机实测（n=1000，同窗口校准口径）</a:t>
            </a:r>
            <a:endParaRPr lang="en-US" altLang="zh-CN" sz="1100" b="1" i="0" dirty="0">
              <a:effectLst/>
              <a:latin typeface="-apple-system"/>
            </a:endParaRPr>
          </a:p>
          <a:p>
            <a:r>
              <a:rPr lang="zh-CN" altLang="zh-CN" sz="1100" b="1" i="0" dirty="0">
                <a:effectLst/>
                <a:latin typeface="-apple-system"/>
              </a:rPr>
              <a:t>最终全量 5400 张收官：M10 95.33% / M9 94.43%</a:t>
            </a:r>
            <a:endParaRPr lang="zh-CN" altLang="en-US" sz="1600" dirty="0"/>
          </a:p>
        </p:txBody>
      </p:sp>
      <p:sp>
        <p:nvSpPr>
          <p:cNvPr id="5" name="文本框 4"/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itchFamily="2" charset="-122"/>
                <a:ea typeface="宋体" pitchFamily="2" charset="-122"/>
              </a:rPr>
              <a:t>04 / 23</a:t>
            </a:r>
            <a:endParaRPr lang="zh-CN" altLang="en-US" sz="1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06934" y="2367517"/>
            <a:ext cx="3962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⭐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174905" y="2733550"/>
            <a:ext cx="269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18922" y="198831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在轨遥感计算的结构性困境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949810" y="4938381"/>
            <a:ext cx="4217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* </a:t>
            </a:r>
            <a:r>
              <a:rPr lang="zh-CN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光计算核心芯片抗 SEU 辐射能力强，但外围的 DAC/ADC、FPGA 等电气模块仍需辅以常规宇航加固措施。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5347096" y="1013569"/>
          <a:ext cx="6251669" cy="3672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2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4397">
                <a:tc>
                  <a:txBody>
                    <a:bodyPr/>
                    <a:lstStyle/>
                    <a:p>
                      <a:r>
                        <a:rPr lang="zh-CN" altLang="zh-CN" sz="2000" b="1" i="0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评价指标</a:t>
                      </a:r>
                      <a:endParaRPr lang="zh-CN" altLang="en-US" sz="2000" b="0" dirty="0"/>
                    </a:p>
                  </a:txBody>
                  <a:tcPr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000" b="1" i="0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电子计算 (GPU/ASIC)</a:t>
                      </a:r>
                      <a:endParaRPr lang="zh-CN" altLang="en-US" sz="2000" b="0" dirty="0"/>
                    </a:p>
                  </a:txBody>
                  <a:tcPr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000" b="1" i="0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光学计算核 (Gazelle)</a:t>
                      </a:r>
                      <a:endParaRPr lang="zh-CN" altLang="en-US" sz="2000" b="0" dirty="0"/>
                    </a:p>
                  </a:txBody>
                  <a:tcPr>
                    <a:solidFill>
                      <a:srgbClr val="006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397">
                <a:tc>
                  <a:txBody>
                    <a:bodyPr/>
                    <a:lstStyle/>
                    <a:p>
                      <a:r>
                        <a:rPr lang="zh-CN" altLang="zh-CN" sz="2000" b="1" i="0" kern="1200" dirty="0">
                          <a:solidFill>
                            <a:srgbClr val="1815B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功耗与散热需求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高</a:t>
                      </a:r>
                      <a:endParaRPr lang="zh-CN" altLang="en-US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低</a:t>
                      </a:r>
                      <a:endParaRPr lang="zh-CN" altLang="en-US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2834">
                <a:tc>
                  <a:txBody>
                    <a:bodyPr/>
                    <a:lstStyle/>
                    <a:p>
                      <a:r>
                        <a:rPr lang="zh-CN" altLang="zh-CN" sz="2000" b="1" i="0" kern="1200" dirty="0">
                          <a:solidFill>
                            <a:srgbClr val="1815B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单粒子翻转 (SEU)</a:t>
                      </a:r>
                      <a:endParaRPr lang="zh-CN" altLang="en-US" sz="20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高发 (需复杂冗余纠错)</a:t>
                      </a:r>
                      <a:endParaRPr lang="zh-CN" altLang="en-US" sz="20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天然免疫</a:t>
                      </a:r>
                      <a:endParaRPr lang="zh-CN" altLang="en-US" sz="20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201">
                <a:tc>
                  <a:txBody>
                    <a:bodyPr/>
                    <a:lstStyle/>
                    <a:p>
                      <a:r>
                        <a:rPr lang="zh-CN" altLang="zh-CN" sz="2000" b="1" i="0" kern="1200" dirty="0">
                          <a:solidFill>
                            <a:srgbClr val="1815B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计算延迟</a:t>
                      </a:r>
                      <a:endParaRPr lang="zh-CN" altLang="en-US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受寄存器、总线带宽限制</a:t>
                      </a:r>
                      <a:endParaRPr lang="zh-CN" altLang="en-US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光速波分/并行相干运算</a:t>
                      </a:r>
                      <a:endParaRPr lang="zh-CN" altLang="en-US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35">
                <a:tc>
                  <a:txBody>
                    <a:bodyPr/>
                    <a:lstStyle/>
                    <a:p>
                      <a:r>
                        <a:rPr lang="zh-CN" altLang="zh-CN" sz="2000" b="1" i="0" kern="1200" dirty="0">
                          <a:solidFill>
                            <a:srgbClr val="1815B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太空退化寿命</a:t>
                      </a:r>
                      <a:endParaRPr lang="zh-CN" altLang="en-US" sz="20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电学老化、寿命5-10年</a:t>
                      </a:r>
                      <a:endParaRPr lang="zh-CN" altLang="en-US" sz="20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无电偏置老化、寿命&gt;10年</a:t>
                      </a:r>
                      <a:endParaRPr lang="zh-CN" altLang="en-US" sz="20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48" y="1446974"/>
            <a:ext cx="4648711" cy="30991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1" name="图片 10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8829" y="5174897"/>
            <a:ext cx="74922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800" dirty="0"/>
              <a:t>光计算优势：</a:t>
            </a:r>
            <a:r>
              <a:rPr lang="zh-CN" altLang="zh-CN" sz="2800" b="1" dirty="0"/>
              <a:t>低功耗</a:t>
            </a:r>
            <a:r>
              <a:rPr lang="zh-CN" altLang="zh-CN" sz="2800" dirty="0"/>
              <a:t>、</a:t>
            </a:r>
            <a:r>
              <a:rPr lang="zh-CN" altLang="zh-CN" sz="2800" b="1" dirty="0"/>
              <a:t>高吞吐</a:t>
            </a:r>
            <a:r>
              <a:rPr lang="zh-CN" altLang="zh-CN" sz="2800" dirty="0"/>
              <a:t>矩阵乘法；光学器件</a:t>
            </a:r>
            <a:r>
              <a:rPr lang="zh-CN" altLang="zh-CN" sz="2800" b="1" dirty="0"/>
              <a:t>无电荷存储态</a:t>
            </a:r>
            <a:r>
              <a:rPr lang="zh-CN" altLang="zh-CN" sz="2800" dirty="0"/>
              <a:t>，在</a:t>
            </a:r>
            <a:r>
              <a:rPr lang="zh-CN" altLang="en-US" sz="2800" dirty="0"/>
              <a:t>太空环境</a:t>
            </a:r>
            <a:r>
              <a:rPr lang="zh-CN" altLang="zh-CN" sz="2800" dirty="0"/>
              <a:t>有潜在优势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itchFamily="2" charset="-122"/>
                <a:ea typeface="宋体" pitchFamily="2" charset="-122"/>
              </a:rPr>
              <a:t>05 / 23</a:t>
            </a:r>
            <a:endParaRPr lang="zh-CN" altLang="en-US" sz="1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485915" y="2409570"/>
            <a:ext cx="5552940" cy="251464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79704" y="191813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遥感数据集与十类地物分类任务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193" y="738079"/>
            <a:ext cx="7043576" cy="52014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297680" y="6048460"/>
            <a:ext cx="7105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数据集：</a:t>
            </a:r>
            <a:r>
              <a:rPr lang="en-US" altLang="en-US" dirty="0">
                <a:hlinkClick r:id="rId4" action="ppaction://hlinkfile"/>
              </a:rPr>
              <a:t>https://www.modelscope.cn/datasets/lhh010/EuroSAT_RGB</a:t>
            </a:r>
            <a:endParaRPr lang="en-US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6" name="图片 5" descr="集创赛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itchFamily="2" charset="-122"/>
                <a:ea typeface="宋体" pitchFamily="2" charset="-122"/>
              </a:rPr>
              <a:t>06 / 23</a:t>
            </a:r>
            <a:endParaRPr lang="zh-CN" altLang="en-US" sz="1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4" name="图片 13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95" y="1589405"/>
            <a:ext cx="9742805" cy="44837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85997" y="971984"/>
            <a:ext cx="3002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基线模型架构回顾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210801" y="3234377"/>
            <a:ext cx="18578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2x2</a:t>
            </a:r>
            <a:r>
              <a:rPr lang="zh-CN" altLang="en-US" sz="2000" dirty="0"/>
              <a:t>卷积 和 </a:t>
            </a:r>
            <a:r>
              <a:rPr lang="en-US" altLang="zh-CN" sz="2000" dirty="0"/>
              <a:t>fc1</a:t>
            </a:r>
          </a:p>
          <a:p>
            <a:r>
              <a:rPr lang="en-US" altLang="zh-CN" sz="1200" dirty="0"/>
              <a:t> </a:t>
            </a:r>
          </a:p>
          <a:p>
            <a:r>
              <a:rPr lang="zh-CN" altLang="en-US" sz="2000" dirty="0"/>
              <a:t>贡献了大部分计算量</a:t>
            </a:r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64481" y="206187"/>
            <a:ext cx="67633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架构</a:t>
            </a:r>
            <a:r>
              <a:rPr lang="zh-CN" altLang="en-US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探索</a:t>
            </a:r>
            <a:r>
              <a:rPr lang="zh-CN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：MACs 预算下的最优结构</a:t>
            </a:r>
          </a:p>
          <a:p>
            <a:endParaRPr lang="zh-CN" altLang="zh-CN" sz="3200" b="1" dirty="0">
              <a:solidFill>
                <a:srgbClr val="0061E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itchFamily="2" charset="-122"/>
                <a:ea typeface="宋体" pitchFamily="2" charset="-122"/>
              </a:rPr>
              <a:t>07 / 23</a:t>
            </a:r>
            <a:endParaRPr lang="zh-CN" altLang="en-US" sz="1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4" name="图片 13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pic>
        <p:nvPicPr>
          <p:cNvPr id="10" name="图片 9" descr="042fd411-face-43ec-a00a-710e89f17edb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65619" y="1030824"/>
            <a:ext cx="9223780" cy="525186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0354" y="3354069"/>
            <a:ext cx="14852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260K MACs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0310495" y="3354069"/>
            <a:ext cx="14852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~10K MACs</a:t>
            </a:r>
          </a:p>
          <a:p>
            <a:endParaRPr lang="en-US" altLang="zh-CN" sz="2000" dirty="0"/>
          </a:p>
          <a:p>
            <a:r>
              <a:rPr lang="zh-CN" altLang="en-US" sz="2000" dirty="0"/>
              <a:t>无精度变化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64481" y="206187"/>
            <a:ext cx="67633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架构</a:t>
            </a:r>
            <a:r>
              <a:rPr lang="zh-CN" altLang="en-US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探索</a:t>
            </a:r>
            <a:r>
              <a:rPr lang="zh-CN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：MACs 预算下的最优结构</a:t>
            </a:r>
          </a:p>
          <a:p>
            <a:endParaRPr lang="zh-CN" altLang="zh-CN" sz="3200" b="1" dirty="0">
              <a:solidFill>
                <a:srgbClr val="0061E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itchFamily="2" charset="-122"/>
                <a:ea typeface="宋体" pitchFamily="2" charset="-122"/>
              </a:rPr>
              <a:t>08 / 23</a:t>
            </a:r>
            <a:endParaRPr lang="zh-CN" altLang="en-US" sz="1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4" name="图片 13" descr="集创赛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336624" y="1807675"/>
            <a:ext cx="17379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硬件对齐</a:t>
            </a:r>
          </a:p>
          <a:p>
            <a:r>
              <a:rPr lang="zh-CN" altLang="en-US" sz="2000" dirty="0"/>
              <a:t>计算量中等</a:t>
            </a:r>
          </a:p>
          <a:p>
            <a:r>
              <a:rPr lang="zh-CN" altLang="en-US" sz="2000" dirty="0"/>
              <a:t>算法表现较差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987148" y="1423063"/>
            <a:ext cx="19438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计算量大</a:t>
            </a:r>
            <a:r>
              <a:rPr lang="en-US" altLang="zh-CN" sz="2000" dirty="0"/>
              <a:t> (~20M MACs)</a:t>
            </a:r>
          </a:p>
          <a:p>
            <a:endParaRPr lang="zh-CN" altLang="en-US" sz="2000" dirty="0"/>
          </a:p>
          <a:p>
            <a:r>
              <a:rPr lang="zh-CN" altLang="en-US" sz="2000" dirty="0"/>
              <a:t>算法表现最好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36624" y="4472915"/>
            <a:ext cx="18729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计算量小</a:t>
            </a:r>
            <a:r>
              <a:rPr lang="en-US" altLang="zh-CN" sz="2000" dirty="0"/>
              <a:t> </a:t>
            </a:r>
          </a:p>
          <a:p>
            <a:r>
              <a:rPr lang="en-US" altLang="zh-CN" sz="2000" dirty="0"/>
              <a:t>(~1M MACs)</a:t>
            </a:r>
          </a:p>
          <a:p>
            <a:endParaRPr lang="zh-CN" altLang="en-US" sz="2000" dirty="0"/>
          </a:p>
          <a:p>
            <a:r>
              <a:rPr lang="zh-CN" altLang="en-US" sz="2000" dirty="0"/>
              <a:t>算法表现中等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327131" y="4561823"/>
            <a:ext cx="19970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计算量略大</a:t>
            </a:r>
            <a:r>
              <a:rPr lang="en-US" altLang="zh-CN" sz="2000" dirty="0"/>
              <a:t> (~3M MACs)</a:t>
            </a:r>
          </a:p>
          <a:p>
            <a:endParaRPr lang="zh-CN" altLang="en-US" sz="2000" dirty="0"/>
          </a:p>
          <a:p>
            <a:r>
              <a:rPr lang="zh-CN" altLang="en-US" sz="2000" dirty="0"/>
              <a:t>算法表现较好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64481" y="206187"/>
            <a:ext cx="67633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架构</a:t>
            </a:r>
            <a:r>
              <a:rPr lang="zh-CN" altLang="en-US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探索</a:t>
            </a:r>
            <a:r>
              <a:rPr lang="zh-CN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：MACs 预算下的最优结构</a:t>
            </a:r>
          </a:p>
          <a:p>
            <a:endParaRPr lang="zh-CN" altLang="zh-CN" sz="3200" b="1" dirty="0">
              <a:solidFill>
                <a:srgbClr val="0061E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5552" y="3713463"/>
            <a:ext cx="11530208" cy="56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itchFamily="2" charset="-122"/>
                <a:ea typeface="宋体" pitchFamily="2" charset="-122"/>
              </a:rPr>
              <a:t>09 / 23</a:t>
            </a:r>
            <a:endParaRPr lang="zh-CN" altLang="en-US" sz="1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  <p:sp>
        <p:nvSpPr>
          <p:cNvPr id="9" name="矩形 8"/>
          <p:cNvSpPr/>
          <p:nvPr/>
        </p:nvSpPr>
        <p:spPr>
          <a:xfrm>
            <a:off x="5830083" y="801665"/>
            <a:ext cx="63413" cy="5793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B5A53A2-DDF2-9ABB-388E-D668D05A8246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64659" y="998876"/>
            <a:ext cx="3835597" cy="225436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87C5A70-F758-D7F5-CF30-CDBC903A2137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59910" y="990938"/>
            <a:ext cx="4134062" cy="2711589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CA75BFB-5DD0-DB84-ECB2-F6AF4422016F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24865" y="3890566"/>
            <a:ext cx="3473629" cy="208290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4B8CDA56-E66D-A645-CA66-74A0DBF1463D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93496" y="3965710"/>
            <a:ext cx="4496031" cy="20638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4481" y="206187"/>
            <a:ext cx="5063490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错分样本分析</a:t>
            </a:r>
            <a:endParaRPr lang="en-US" altLang="zh-CN" sz="3200" b="1" dirty="0">
              <a:solidFill>
                <a:srgbClr val="0061E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4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——</a:t>
            </a:r>
            <a:r>
              <a:rPr lang="zh-CN" altLang="en-US" sz="24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以线状结构</a:t>
            </a:r>
            <a:r>
              <a:rPr lang="zh-CN" altLang="zh-CN" sz="24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Highway / River</a:t>
            </a:r>
            <a:r>
              <a:rPr lang="zh-CN" altLang="en-US" sz="24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为例</a:t>
            </a:r>
            <a:endParaRPr lang="zh-CN" altLang="zh-CN" sz="2400" b="1" dirty="0">
              <a:solidFill>
                <a:srgbClr val="0061E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0" name="图片 9" descr="集创赛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239" y="1281854"/>
            <a:ext cx="3806602" cy="386341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7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150" y="390650"/>
            <a:ext cx="5526882" cy="56961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itchFamily="2" charset="-122"/>
                <a:ea typeface="宋体" pitchFamily="2" charset="-122"/>
              </a:rPr>
              <a:t>10 / 23</a:t>
            </a:r>
            <a:endParaRPr lang="zh-CN" altLang="en-US" sz="1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045811"/>
              </p:ext>
            </p:extLst>
          </p:nvPr>
        </p:nvGraphicFramePr>
        <p:xfrm>
          <a:off x="1977895" y="5277529"/>
          <a:ext cx="3602906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感受野大小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Highway/River 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RF=17px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-3.6/-2.7pt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RF=49px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+2.9/+2.3pt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64481" y="206187"/>
            <a:ext cx="67633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架构</a:t>
            </a:r>
            <a:r>
              <a:rPr lang="zh-CN" altLang="en-US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探索</a:t>
            </a:r>
            <a:r>
              <a:rPr lang="zh-CN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：MACs 预算下的最优结构</a:t>
            </a:r>
          </a:p>
          <a:p>
            <a:endParaRPr lang="zh-CN" altLang="zh-CN" sz="3200" b="1" dirty="0">
              <a:solidFill>
                <a:srgbClr val="0061E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0" name="图片 9" descr="集创赛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313725" y="5546060"/>
            <a:ext cx="37179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200" dirty="0"/>
              <a:t>*M8 跑批位于器件连续使用 20 h 后的窗口缓降时段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60330" y="5455303"/>
            <a:ext cx="79716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dirty="0"/>
              <a:t>M10 以 1/61 于 M1 的 MACs 取得 95.33%；M9 以 1/103 的 MACs 取得 94.43%，且 M9/M10（conv3s2 家族）构成 v8 噪声口径下的帕累托前沿（1.5-2.6M 甜点区间）。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048442" y="911816"/>
          <a:ext cx="10387821" cy="4415732"/>
        </p:xfrm>
        <a:graphic>
          <a:graphicData uri="http://schemas.openxmlformats.org/drawingml/2006/table">
            <a:tbl>
              <a:tblPr/>
              <a:tblGrid>
                <a:gridCol w="721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8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5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9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6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657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8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>
                          <a:solidFill>
                            <a:schemeClr val="bg1"/>
                          </a:solidFill>
                        </a:rPr>
                        <a:t>模型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>
                          <a:solidFill>
                            <a:schemeClr val="bg1"/>
                          </a:solidFill>
                        </a:rPr>
                        <a:t>架构要点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>
                          <a:solidFill>
                            <a:schemeClr val="bg1"/>
                          </a:solidFill>
                        </a:rPr>
                        <a:t>MACs/张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>
                          <a:solidFill>
                            <a:schemeClr val="bg1"/>
                          </a:solidFill>
                        </a:rPr>
                        <a:t>训练 test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</a:rPr>
                        <a:t>真机全量 5400</a:t>
                      </a:r>
                      <a:endParaRPr lang="zh-CN" sz="1600" dirty="0">
                        <a:solidFill>
                          <a:schemeClr val="bg1"/>
                        </a:solidFill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>
                          <a:solidFill>
                            <a:schemeClr val="bg1"/>
                          </a:solidFill>
                        </a:rPr>
                        <a:t>干净参考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>
                          <a:solidFill>
                            <a:schemeClr val="bg1"/>
                          </a:solidFill>
                        </a:rPr>
                        <a:t>gap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4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/>
                        <a:t>M1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大参数基准 VGG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/>
                        <a:t>156.6M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97.98（v4.1 val）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20/20 = 100%（板端抽样 n=20，全量不可行）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97.87（QAT int8 val）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/>
                        <a:t>+2.1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/>
                        <a:t>M4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全 3×3 + GAP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/>
                        <a:t>17.0M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96.17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94.19%（5086/5400）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95.74（同量化 numpy，5170/5400）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/>
                        <a:t>−1.55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/>
                        <a:t>M5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含 3×3 双卷积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/>
                        <a:t>5.31M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96.65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90.17%（4869/5400）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~96.5（同量化 numpy）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/>
                        <a:t>−6.3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/>
                        <a:t>M6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全 1×1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/>
                        <a:t>1.38M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95.22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92.78%（5010/5400）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~95.5（同量化 numpy）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/>
                        <a:t>−2.7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34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/>
                        <a:t>M7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超窄 C0=12 + MaxPool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/>
                        <a:t>0.86M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94.98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81.72%（板端 [0:1800]，架构不匹配暂停）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~95.0（v8 test）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/>
                        <a:t>−13.3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/>
                        <a:t>M8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1×1 + stem k5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/>
                        <a:t>2.16M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96.26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87.78%*（4740/5400）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~95.8（同量化 numpy）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/>
                        <a:t>−8.0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0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b="1"/>
                        <a:t>M9</a:t>
                      </a:r>
                      <a:endParaRPr lang="zh-CN" sz="16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w0.75 + conv3s2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b="1"/>
                        <a:t>1.52M</a:t>
                      </a:r>
                      <a:endParaRPr lang="zh-CN" sz="16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95.87/95.69</a:t>
                      </a:r>
                      <a:endParaRPr lang="en-US" altLang="zh-CN" sz="1600" dirty="0"/>
                    </a:p>
                    <a:p>
                      <a:pPr>
                        <a:buNone/>
                      </a:pPr>
                      <a:r>
                        <a:rPr lang="zh-CN" sz="1600" dirty="0"/>
                        <a:t>（双 seed）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 dirty="0"/>
                        <a:t>94.43%</a:t>
                      </a:r>
                      <a:r>
                        <a:rPr lang="zh-CN" sz="1600" dirty="0"/>
                        <a:t>（</a:t>
                      </a:r>
                      <a:r>
                        <a:rPr lang="en-US" altLang="zh-CN" sz="1600" dirty="0"/>
                        <a:t>5099</a:t>
                      </a:r>
                      <a:r>
                        <a:rPr lang="zh-CN" sz="1600" dirty="0"/>
                        <a:t>/5400 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95.87（GPU QAT，部署 seed42）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b="1" dirty="0"/>
                        <a:t>−1.44</a:t>
                      </a:r>
                      <a:endParaRPr lang="zh-CN" sz="16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0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b="1" dirty="0"/>
                        <a:t>M10</a:t>
                      </a:r>
                      <a:endParaRPr lang="zh-CN" sz="16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conv3s2 + stem max3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b="1" dirty="0"/>
                        <a:t>2.56M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96.76/96.56</a:t>
                      </a:r>
                      <a:endParaRPr lang="en-US" altLang="zh-CN" sz="1600" dirty="0"/>
                    </a:p>
                    <a:p>
                      <a:pPr>
                        <a:buNone/>
                      </a:pPr>
                      <a:r>
                        <a:rPr lang="zh-CN" sz="1600" dirty="0"/>
                        <a:t>（双 seed）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 dirty="0"/>
                        <a:t>95.33%</a:t>
                      </a:r>
                      <a:r>
                        <a:rPr lang="zh-CN" sz="1600" dirty="0"/>
                        <a:t>（</a:t>
                      </a:r>
                      <a:r>
                        <a:rPr lang="en-US" altLang="zh-CN" sz="1600" dirty="0"/>
                        <a:t>5148</a:t>
                      </a:r>
                      <a:r>
                        <a:rPr lang="zh-CN" sz="1600" dirty="0"/>
                        <a:t>/5400 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96.76（GPU QAT，部署 seed42）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b="1" dirty="0"/>
                        <a:t>−1.43</a:t>
                      </a:r>
                      <a:endParaRPr lang="zh-CN" sz="16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itchFamily="2" charset="-122"/>
                <a:ea typeface="宋体" pitchFamily="2" charset="-122"/>
              </a:rPr>
              <a:t>11 / 23</a:t>
            </a:r>
            <a:endParaRPr lang="zh-CN" altLang="en-US" sz="1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4481" y="206187"/>
            <a:ext cx="67633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架构</a:t>
            </a:r>
            <a:r>
              <a:rPr lang="zh-CN" altLang="en-US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探索</a:t>
            </a:r>
            <a:r>
              <a:rPr lang="zh-CN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：MACs 预算下的最优结构</a:t>
            </a:r>
          </a:p>
          <a:p>
            <a:endParaRPr lang="zh-CN" altLang="zh-CN" sz="3200" b="1" dirty="0">
              <a:solidFill>
                <a:srgbClr val="0061E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0" name="图片 9" descr="集创赛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itchFamily="2" charset="-122"/>
                <a:ea typeface="宋体" pitchFamily="2" charset="-122"/>
              </a:rPr>
              <a:t>12 / 23</a:t>
            </a:r>
            <a:endParaRPr lang="zh-CN" altLang="en-US" sz="1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3" y="1226513"/>
            <a:ext cx="12192000" cy="4876800"/>
          </a:xfrm>
          <a:prstGeom prst="rect">
            <a:avLst/>
          </a:prstGeom>
        </p:spPr>
      </p:pic>
      <p:sp>
        <p:nvSpPr>
          <p:cNvPr id="7" name="箭头: 右 6"/>
          <p:cNvSpPr/>
          <p:nvPr/>
        </p:nvSpPr>
        <p:spPr>
          <a:xfrm rot="11326064">
            <a:off x="2820942" y="3426838"/>
            <a:ext cx="500049" cy="185144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256752" y="3389808"/>
            <a:ext cx="161099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i="0" dirty="0">
                <a:effectLst/>
                <a:latin typeface="-apple-system"/>
              </a:rPr>
              <a:t> </a:t>
            </a:r>
            <a:r>
              <a:rPr lang="zh-CN" altLang="zh-CN" sz="1200" b="1" i="0" dirty="0">
                <a:effectLst/>
                <a:latin typeface="-apple-system"/>
              </a:rPr>
              <a:t>M10 · 2.56M </a:t>
            </a:r>
            <a:endParaRPr lang="en-US" altLang="zh-CN" sz="1200" b="1" i="0" dirty="0">
              <a:effectLst/>
              <a:latin typeface="-apple-system"/>
            </a:endParaRPr>
          </a:p>
          <a:p>
            <a:r>
              <a:rPr lang="zh-CN" altLang="zh-CN" sz="1200" b="1" i="0" dirty="0">
                <a:effectLst/>
                <a:latin typeface="-apple-system"/>
              </a:rPr>
              <a:t>真机 96.40%</a:t>
            </a:r>
            <a:r>
              <a:rPr lang="en-US" altLang="zh-CN" sz="1200" b="1" i="0" dirty="0">
                <a:effectLst/>
                <a:latin typeface="-apple-system"/>
              </a:rPr>
              <a:t> (1k)</a:t>
            </a:r>
            <a:r>
              <a:rPr lang="zh-CN" altLang="zh-CN" sz="1200" b="1" i="0" dirty="0">
                <a:effectLst/>
                <a:latin typeface="-apple-system"/>
              </a:rPr>
              <a:t> 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2237338" y="4439150"/>
            <a:ext cx="132293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b="0" i="0" dirty="0">
                <a:effectLst/>
                <a:latin typeface="-apple-system"/>
              </a:rPr>
              <a:t>M9 · 1.52M </a:t>
            </a:r>
          </a:p>
          <a:p>
            <a:r>
              <a:rPr lang="zh-CN" altLang="zh-CN" sz="1200" b="0" i="0" dirty="0">
                <a:effectLst/>
                <a:latin typeface="-apple-system"/>
              </a:rPr>
              <a:t>真机 94.43% </a:t>
            </a:r>
            <a:endParaRPr lang="zh-CN" altLang="en-US" dirty="0"/>
          </a:p>
        </p:txBody>
      </p:sp>
      <p:sp>
        <p:nvSpPr>
          <p:cNvPr id="25" name="箭头: 右 24"/>
          <p:cNvSpPr/>
          <p:nvPr/>
        </p:nvSpPr>
        <p:spPr>
          <a:xfrm rot="12863920">
            <a:off x="1793875" y="4150156"/>
            <a:ext cx="886926" cy="125476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384483" y="3752519"/>
            <a:ext cx="12446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i="0" dirty="0">
                <a:effectLst/>
                <a:latin typeface="-apple-system"/>
              </a:rPr>
              <a:t>M4 </a:t>
            </a:r>
            <a:r>
              <a:rPr lang="en-US" altLang="zh-CN" sz="1200" i="0" dirty="0">
                <a:effectLst/>
                <a:latin typeface="-apple-system"/>
              </a:rPr>
              <a:t>·</a:t>
            </a:r>
            <a:r>
              <a:rPr lang="zh-CN" altLang="zh-CN" sz="1200" i="0" dirty="0">
                <a:effectLst/>
                <a:latin typeface="-apple-system"/>
              </a:rPr>
              <a:t> </a:t>
            </a:r>
            <a:r>
              <a:rPr lang="en-US" altLang="zh-CN" sz="1200" i="0" dirty="0">
                <a:effectLst/>
                <a:latin typeface="-apple-system"/>
              </a:rPr>
              <a:t>1</a:t>
            </a:r>
            <a:r>
              <a:rPr lang="zh-CN" altLang="zh-CN" sz="1200" i="0" dirty="0">
                <a:effectLst/>
                <a:latin typeface="-apple-system"/>
              </a:rPr>
              <a:t>7M</a:t>
            </a:r>
          </a:p>
          <a:p>
            <a:r>
              <a:rPr lang="zh-CN" altLang="zh-CN" sz="1200" i="0" dirty="0">
                <a:effectLst/>
                <a:latin typeface="-apple-system"/>
              </a:rPr>
              <a:t>真机</a:t>
            </a:r>
            <a:r>
              <a:rPr lang="en-US" altLang="zh-CN" sz="1200" i="0" dirty="0">
                <a:effectLst/>
                <a:latin typeface="-apple-system"/>
              </a:rPr>
              <a:t> </a:t>
            </a:r>
            <a:r>
              <a:rPr lang="zh-CN" altLang="zh-CN" sz="1200" dirty="0">
                <a:effectLst/>
                <a:latin typeface="-apple-system"/>
                <a:sym typeface="+mn-ea"/>
              </a:rPr>
              <a:t>94.19%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80028" y="231454"/>
            <a:ext cx="541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仿真器 vs Gazelle</a:t>
            </a:r>
            <a:r>
              <a:rPr lang="en-US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真机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4" name="图片 13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6922256" y="1372844"/>
          <a:ext cx="4956580" cy="3926397"/>
        </p:xfrm>
        <a:graphic>
          <a:graphicData uri="http://schemas.openxmlformats.org/drawingml/2006/table">
            <a:tbl>
              <a:tblPr/>
              <a:tblGrid>
                <a:gridCol w="1464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1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455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600" b="1" i="0" cap="all" dirty="0">
                          <a:solidFill>
                            <a:srgbClr val="FFFFFF"/>
                          </a:solidFill>
                          <a:effectLst/>
                          <a:latin typeface="Plus Jakarta Sans"/>
                        </a:rPr>
                        <a:t>物理属性</a:t>
                      </a:r>
                    </a:p>
                  </a:txBody>
                  <a:tcPr marL="101600" marR="101600" marT="76200" marB="76200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600" b="1" i="0" cap="all" dirty="0">
                          <a:solidFill>
                            <a:srgbClr val="FFFFFF"/>
                          </a:solidFill>
                          <a:effectLst/>
                          <a:latin typeface="Plus Jakarta Sans"/>
                        </a:rPr>
                        <a:t>数值</a:t>
                      </a:r>
                    </a:p>
                  </a:txBody>
                  <a:tcPr marL="101600" marR="101600" marT="76200" marB="76200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600" b="1" i="0" cap="all" dirty="0">
                          <a:solidFill>
                            <a:srgbClr val="FFFFFF"/>
                          </a:solidFill>
                          <a:effectLst/>
                          <a:latin typeface="Plus Jakarta Sans"/>
                        </a:rPr>
                        <a:t>物理约束 / 工程学影响</a:t>
                      </a:r>
                    </a:p>
                  </a:txBody>
                  <a:tcPr marL="101600" marR="101600" marT="76200" marB="76200" anchor="ctr">
                    <a:solidFill>
                      <a:srgbClr val="006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600" b="1" i="0" dirty="0">
                          <a:solidFill>
                            <a:srgbClr val="1815B0"/>
                          </a:solidFill>
                          <a:effectLst/>
                          <a:latin typeface="Plus Jakarta Sans"/>
                        </a:rPr>
                        <a:t>物理计算 Tile</a:t>
                      </a:r>
                      <a:endParaRPr lang="zh-CN" sz="1600" b="0" i="0" dirty="0">
                        <a:solidFill>
                          <a:schemeClr val="tx1"/>
                        </a:solidFill>
                        <a:effectLst/>
                        <a:latin typeface="Plus Jakarta Sans"/>
                      </a:endParaRPr>
                    </a:p>
                  </a:txBody>
                  <a:tcPr marL="101600" marR="101600" marT="69850" marB="69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600" b="1" i="0" dirty="0">
                          <a:solidFill>
                            <a:schemeClr val="tx1"/>
                          </a:solidFill>
                          <a:effectLst/>
                          <a:latin typeface="Courier New" panose="02070409020205090404" pitchFamily="49" charset="0"/>
                        </a:rPr>
                        <a:t>8×2</a:t>
                      </a:r>
                      <a:r>
                        <a:rPr lang="zh-CN" sz="16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 </a:t>
                      </a:r>
                      <a:endParaRPr lang="en-US" altLang="zh-CN" sz="1600" b="0" i="0" dirty="0">
                        <a:solidFill>
                          <a:schemeClr val="tx1"/>
                        </a:solidFill>
                        <a:effectLst/>
                        <a:latin typeface="Plus Jakarta Sans"/>
                      </a:endParaRPr>
                    </a:p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6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(k=8, n=2)</a:t>
                      </a:r>
                    </a:p>
                  </a:txBody>
                  <a:tcPr marL="101600" marR="101600" marT="69850" marB="69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6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卷积乘加展平后长度必须被 8 整除，否则硬件必须补零闲置</a:t>
                      </a:r>
                    </a:p>
                  </a:txBody>
                  <a:tcPr marL="101600" marR="101600" marT="69850" marB="69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600" b="1" i="0" dirty="0">
                          <a:solidFill>
                            <a:srgbClr val="1815B0"/>
                          </a:solidFill>
                          <a:effectLst/>
                          <a:latin typeface="Plus Jakarta Sans"/>
                        </a:rPr>
                        <a:t>原生支持精度</a:t>
                      </a:r>
                      <a:endParaRPr lang="zh-CN" sz="1600" b="0" i="0" dirty="0">
                        <a:solidFill>
                          <a:schemeClr val="tx1"/>
                        </a:solidFill>
                        <a:effectLst/>
                        <a:latin typeface="Plus Jakarta Sans"/>
                      </a:endParaRP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600" b="1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8-bit</a:t>
                      </a:r>
                      <a:r>
                        <a:rPr lang="zh-CN" sz="16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 激活 / </a:t>
                      </a:r>
                      <a:endParaRPr lang="en-US" altLang="zh-CN" sz="1600" b="0" i="0" dirty="0">
                        <a:solidFill>
                          <a:schemeClr val="tx1"/>
                        </a:solidFill>
                        <a:effectLst/>
                        <a:latin typeface="Plus Jakarta Sans"/>
                      </a:endParaRPr>
                    </a:p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600" b="1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8-bit</a:t>
                      </a:r>
                      <a:r>
                        <a:rPr lang="zh-CN" sz="16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 权重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6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支持 </a:t>
                      </a:r>
                      <a:r>
                        <a:rPr lang="zh-CN" sz="1600" b="0" i="0" dirty="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INT8 GEMM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altLang="en-US" sz="1600" b="1" i="0" kern="1200" dirty="0">
                          <a:solidFill>
                            <a:srgbClr val="1815B0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运算速率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" altLang="zh-CN" sz="16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2.6MOPs</a:t>
                      </a:r>
                      <a:endParaRPr lang="es-ES" altLang="zh-CN" sz="2000" b="0" i="0" u="none" strike="noStrike" kern="1200" baseline="0" dirty="0">
                        <a:solidFill>
                          <a:schemeClr val="tx1"/>
                        </a:solidFill>
                        <a:latin typeface="Times New Roman" panose="02020503050405090304" pitchFamily="18" charset="0"/>
                        <a:ea typeface="+mn-ea"/>
                        <a:cs typeface="Times New Roman" panose="02020503050405090304" pitchFamily="18" charset="0"/>
                      </a:endParaRP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375"/>
                        </a:spcBef>
                        <a:buNone/>
                      </a:pPr>
                      <a:r>
                        <a:rPr lang="zh-CN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算力总容量极其有限，要求工程上必须采用极度轻量化的网络结构</a:t>
                      </a:r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以避免大量计算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375"/>
                        </a:spcBef>
                        <a:buNone/>
                      </a:pPr>
                      <a:r>
                        <a:rPr lang="zh-CN" altLang="en-US" sz="1600" b="1" i="0" kern="1200" dirty="0">
                          <a:solidFill>
                            <a:srgbClr val="1815B0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存在物理噪声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" altLang="zh-CN" sz="1600" b="1" i="0" kern="1200" dirty="0">
                          <a:solidFill>
                            <a:schemeClr val="tx1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 -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375"/>
                        </a:spcBef>
                        <a:buNone/>
                      </a:pPr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深网络可能会导致准确率明显下降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" y="1608645"/>
            <a:ext cx="6909583" cy="345479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itchFamily="2" charset="-122"/>
                <a:ea typeface="宋体" pitchFamily="2" charset="-122"/>
              </a:rPr>
              <a:t>13 / 23</a:t>
            </a:r>
            <a:endParaRPr lang="zh-CN" altLang="en-US" sz="1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80028" y="231454"/>
            <a:ext cx="541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仿真器 vs Gazelle</a:t>
            </a:r>
            <a:r>
              <a:rPr lang="en-US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真机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4" name="图片 13" descr="集创赛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277899" y="4170437"/>
          <a:ext cx="9260601" cy="2011680"/>
        </p:xfrm>
        <a:graphic>
          <a:graphicData uri="http://schemas.openxmlformats.org/drawingml/2006/table">
            <a:tbl>
              <a:tblPr/>
              <a:tblGrid>
                <a:gridCol w="1703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4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2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>
                          <a:solidFill>
                            <a:schemeClr val="bg1"/>
                          </a:solidFill>
                        </a:rPr>
                        <a:t>赛题仿真器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>
                          <a:solidFill>
                            <a:schemeClr val="bg1"/>
                          </a:solidFill>
                        </a:rPr>
                        <a:t>真机实测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噪声与信号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噪声强度是信号的比例（~1%）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噪声强度是固定值（σ_total ≈ 4.5 counts），几乎与输入无关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随机性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同一输入传入两次，噪声不一致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同一输入传入两次，噪声</a:t>
                      </a:r>
                      <a:r>
                        <a:rPr lang="en-US" altLang="zh-CN" sz="1800" dirty="0"/>
                        <a:t> 95% </a:t>
                      </a:r>
                      <a:r>
                        <a:rPr lang="zh-CN" altLang="en-US" sz="1800" dirty="0"/>
                        <a:t>一致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空间结构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全局一个标量噪声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每一列独立的偏移、增益，另有逐元素权重扰动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60461" y="105342"/>
            <a:ext cx="2636445" cy="16984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34"/>
          <a:stretch>
            <a:fillRect/>
          </a:stretch>
        </p:blipFill>
        <p:spPr>
          <a:xfrm>
            <a:off x="84754" y="1453262"/>
            <a:ext cx="7055938" cy="255139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4" t="4651" r="24735" b="6076"/>
          <a:stretch>
            <a:fillRect/>
          </a:stretch>
        </p:blipFill>
        <p:spPr>
          <a:xfrm>
            <a:off x="7055938" y="401563"/>
            <a:ext cx="4880230" cy="384036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itchFamily="2" charset="-122"/>
                <a:ea typeface="宋体" pitchFamily="2" charset="-122"/>
              </a:rPr>
              <a:t>14 / 23</a:t>
            </a:r>
            <a:endParaRPr lang="zh-CN" altLang="en-US" sz="1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4481" y="206187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噪声归因与组分训练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0" name="图片 9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itchFamily="2" charset="-122"/>
                <a:ea typeface="宋体" pitchFamily="2" charset="-122"/>
              </a:rPr>
              <a:t>15 / 23</a:t>
            </a:r>
            <a:endParaRPr lang="zh-CN" altLang="en-US" sz="1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2" t="10110" r="1972" b="3007"/>
          <a:stretch>
            <a:fillRect/>
          </a:stretch>
        </p:blipFill>
        <p:spPr>
          <a:xfrm>
            <a:off x="1778875" y="919817"/>
            <a:ext cx="8803760" cy="5308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rd"/>
          <p:cNvSpPr>
            <a:spLocks noGrp="1"/>
          </p:cNvSpPr>
          <p:nvPr/>
        </p:nvSpPr>
        <p:spPr>
          <a:xfrm>
            <a:off x="394616" y="2440365"/>
            <a:ext cx="4617843" cy="3451071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9" name="图片 8" descr="集创赛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64546" y="304205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模型部署与</a:t>
            </a:r>
            <a:r>
              <a:rPr lang="zh-CN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逐列校准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clrChange>
              <a:clrFrom>
                <a:srgbClr val="FFFEFE"/>
              </a:clrFrom>
              <a:clrTo>
                <a:srgbClr val="FFFEFE">
                  <a:alpha val="0"/>
                </a:srgbClr>
              </a:clrTo>
            </a:clrChange>
          </a:blip>
          <a:srcRect t="39911" b="26542"/>
          <a:stretch>
            <a:fillRect/>
          </a:stretch>
        </p:blipFill>
        <p:spPr>
          <a:xfrm>
            <a:off x="938644" y="1080241"/>
            <a:ext cx="10671366" cy="11325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33104" y="2511302"/>
            <a:ext cx="4362753" cy="3380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750"/>
              </a:spcAft>
              <a:buNone/>
            </a:pPr>
            <a:r>
              <a:rPr lang="zh-CN" altLang="zh-CN" sz="24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同窗口逐列校准 (Col Calib)</a:t>
            </a:r>
          </a:p>
          <a:p>
            <a:pPr marL="342900" marR="0" lvl="0" indent="-342900" algn="l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zh-CN" altLang="zh-CN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标定原理：</a:t>
            </a:r>
            <a:r>
              <a:rPr lang="zh-CN" altLang="zh-CN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 推理前输入已知探测向量，测量每列当前零点与增益，并在推理硬件指令中逐列修正。</a:t>
            </a:r>
          </a:p>
          <a:p>
            <a:pPr marL="342900" marR="0" lvl="0" indent="-342900" algn="l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zh-CN" altLang="zh-CN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ABA 对照实验：</a:t>
            </a:r>
            <a:r>
              <a:rPr lang="zh-CN" altLang="zh-CN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 标量 92.60% → 逐列 94.60% → 标量复测 93.60%，逐列校准净提升 </a:t>
            </a:r>
            <a:r>
              <a:rPr lang="zh-CN" altLang="zh-CN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+1.5pt</a:t>
            </a:r>
            <a:r>
              <a:rPr lang="zh-CN" altLang="zh-CN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。</a:t>
            </a:r>
          </a:p>
          <a:p>
            <a:pPr marL="342900" marR="0" lvl="0" indent="-342900" algn="l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zh-CN" altLang="zh-CN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时间敏感性：</a:t>
            </a:r>
            <a:r>
              <a:rPr lang="zh-CN" altLang="zh-CN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 列偏差存在跨窗口漂移，校准与跑批必须在同一窗口背靠背完成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0947" y="2599759"/>
            <a:ext cx="6320682" cy="345974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itchFamily="2" charset="-122"/>
                <a:ea typeface="宋体" pitchFamily="2" charset="-122"/>
              </a:rPr>
              <a:t>16 / 23</a:t>
            </a:r>
            <a:endParaRPr lang="zh-CN" altLang="en-US" sz="1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ard"/>
          <p:cNvSpPr>
            <a:spLocks noGrp="1"/>
          </p:cNvSpPr>
          <p:nvPr/>
        </p:nvSpPr>
        <p:spPr>
          <a:xfrm>
            <a:off x="123327" y="1298898"/>
            <a:ext cx="6097022" cy="3923615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3" name="Card"/>
          <p:cNvSpPr>
            <a:spLocks noGrp="1"/>
          </p:cNvSpPr>
          <p:nvPr/>
        </p:nvSpPr>
        <p:spPr>
          <a:xfrm>
            <a:off x="6441712" y="423447"/>
            <a:ext cx="5579988" cy="5431167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4481" y="206187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热漂移与上板工程规则</a:t>
            </a:r>
            <a:endParaRPr lang="zh-CN" altLang="zh-CN" sz="3200" b="1" dirty="0">
              <a:solidFill>
                <a:srgbClr val="0061E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0" name="图片 9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64481" y="1355017"/>
            <a:ext cx="60970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i="0" dirty="0">
                <a:effectLst/>
                <a:latin typeface="Plus Jakarta Sans"/>
              </a:rPr>
              <a:t>热漂移定量证据</a:t>
            </a:r>
            <a:endParaRPr lang="zh-CN" altLang="en-US" sz="4000" dirty="0"/>
          </a:p>
        </p:txBody>
      </p:sp>
      <p:sp>
        <p:nvSpPr>
          <p:cNvPr id="9" name="文本框 8"/>
          <p:cNvSpPr txBox="1"/>
          <p:nvPr/>
        </p:nvSpPr>
        <p:spPr>
          <a:xfrm>
            <a:off x="170300" y="2208428"/>
            <a:ext cx="609702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dirty="0"/>
              <a:t>fresh 校准下连续跑批段序精度 </a:t>
            </a:r>
            <a:r>
              <a:rPr lang="zh-CN" altLang="zh-CN" b="1" dirty="0"/>
              <a:t>95.0 → 93.5 → 93.5 → 92.0</a:t>
            </a:r>
            <a:r>
              <a:rPr lang="zh-CN" altLang="zh-CN" dirty="0"/>
              <a:t>（~2h 窗口内缓降）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zh-CN" altLang="zh-CN" dirty="0"/>
              <a:t>stale 校准（超 20 min 未重校）</a:t>
            </a:r>
            <a:r>
              <a:rPr lang="zh-CN" altLang="zh-CN" b="1" dirty="0"/>
              <a:t>82.5%（−12.5pt）</a:t>
            </a:r>
            <a:r>
              <a:rPr lang="zh-CN" altLang="zh-CN" dirty="0"/>
              <a:t> → 同批 fresh 重跑 </a:t>
            </a:r>
            <a:r>
              <a:rPr lang="zh-CN" altLang="zh-CN" b="1" dirty="0"/>
              <a:t>92.5%（+10pt）</a:t>
            </a:r>
            <a:endParaRPr lang="en-US" altLang="zh-CN" b="1" dirty="0"/>
          </a:p>
          <a:p>
            <a:pPr>
              <a:buNone/>
            </a:pPr>
            <a:endParaRPr lang="zh-CN" altLang="zh-CN" dirty="0"/>
          </a:p>
          <a:p>
            <a:pPr lvl="0"/>
            <a:r>
              <a:rPr lang="zh-CN" altLang="zh-CN" dirty="0"/>
              <a:t>连续工作 ~2h 后器件 </a:t>
            </a:r>
            <a:r>
              <a:rPr lang="zh-CN" altLang="zh-CN" b="1" dirty="0"/>
              <a:t>0% 输出崩溃</a:t>
            </a:r>
            <a:r>
              <a:rPr lang="zh-CN" altLang="zh-CN" dirty="0"/>
              <a:t>（两次独立复现）</a:t>
            </a:r>
            <a:endParaRPr lang="en-US" altLang="zh-CN" dirty="0"/>
          </a:p>
          <a:p>
            <a:pPr lvl="0"/>
            <a:endParaRPr lang="zh-CN" altLang="zh-CN" dirty="0"/>
          </a:p>
          <a:p>
            <a:pPr lvl="0"/>
            <a:r>
              <a:rPr lang="zh-CN" altLang="zh-CN" dirty="0"/>
              <a:t>列校准参数跨窗口漂移：留出改善 w1 </a:t>
            </a:r>
            <a:r>
              <a:rPr lang="zh-CN" altLang="zh-CN" b="1" dirty="0"/>
              <a:t>−24.4%</a:t>
            </a:r>
            <a:r>
              <a:rPr lang="zh-CN" altLang="zh-CN" dirty="0"/>
              <a:t> → w2 </a:t>
            </a:r>
            <a:r>
              <a:rPr lang="zh-CN" altLang="zh-CN" b="1" dirty="0"/>
              <a:t>−7.8%</a:t>
            </a:r>
            <a:r>
              <a:rPr lang="zh-CN" altLang="zh-CN" dirty="0"/>
              <a:t> → 校准不可跨窗口复用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088157" y="543267"/>
            <a:ext cx="24501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b="1" dirty="0"/>
              <a:t>上板规则卡片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570217" y="1170350"/>
            <a:ext cx="5579988" cy="4639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/>
              <a:t>  </a:t>
            </a:r>
            <a:r>
              <a:rPr lang="en-US" altLang="zh-CN" sz="2400" dirty="0"/>
              <a:t> </a:t>
            </a:r>
            <a:r>
              <a:rPr lang="zh-CN" altLang="zh-CN" sz="2400" dirty="0"/>
              <a:t>放行判据</a:t>
            </a:r>
            <a:r>
              <a:rPr lang="zh-CN" altLang="zh-CN" dirty="0"/>
              <a:t>（每次开窗必查，四项全过）：</a:t>
            </a:r>
            <a:endParaRPr lang="en-US" altLang="zh-CN" dirty="0"/>
          </a:p>
          <a:p>
            <a:pPr lvl="0">
              <a:spcAft>
                <a:spcPts val="900"/>
              </a:spcAft>
            </a:pP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✔️</a:t>
            </a:r>
            <a:r>
              <a:rPr lang="zh-CN" altLang="zh-CN" b="1" dirty="0"/>
              <a:t>EBR 动态范围</a:t>
            </a:r>
            <a:r>
              <a:rPr lang="zh-CN" altLang="zh-CN" dirty="0"/>
              <a:t>： EBR ≥ 8 (实测 9.77/9.84 通过)</a:t>
            </a:r>
          </a:p>
          <a:p>
            <a:pPr lvl="0">
              <a:spcAft>
                <a:spcPts val="900"/>
              </a:spcAft>
            </a:pPr>
            <a:r>
              <a:rPr lang="zh-CN" altLang="en-US" dirty="0"/>
              <a:t>✔️</a:t>
            </a:r>
            <a:r>
              <a:rPr lang="zh-CN" altLang="zh-CN" b="1" dirty="0"/>
              <a:t>残差偏差控制</a:t>
            </a:r>
            <a:r>
              <a:rPr lang="zh-CN" altLang="zh-CN" dirty="0"/>
              <a:t>： error_std 偏差 &lt; ±2%</a:t>
            </a:r>
          </a:p>
          <a:p>
            <a:pPr lvl="0">
              <a:spcAft>
                <a:spcPts val="900"/>
              </a:spcAft>
            </a:pPr>
            <a:r>
              <a:rPr lang="zh-CN" altLang="en-US" dirty="0"/>
              <a:t>✔️ </a:t>
            </a:r>
            <a:r>
              <a:rPr lang="zh-CN" altLang="zh-CN" b="1" dirty="0"/>
              <a:t>MNIST Canary 校验</a:t>
            </a:r>
            <a:r>
              <a:rPr lang="zh-CN" altLang="zh-CN" dirty="0"/>
              <a:t>： Canary 精度 gap </a:t>
            </a:r>
            <a:r>
              <a:rPr lang="en-US" altLang="zh-CN" dirty="0"/>
              <a:t>&lt; 0.50</a:t>
            </a:r>
            <a:r>
              <a:rPr lang="zh-CN" altLang="zh-CN" dirty="0"/>
              <a:t>pt (C2 实测 0.10pt)</a:t>
            </a:r>
          </a:p>
          <a:p>
            <a:pPr lvl="0">
              <a:spcAft>
                <a:spcPts val="900"/>
              </a:spcAft>
            </a:pPr>
            <a:r>
              <a:rPr lang="zh-CN" altLang="en-US" dirty="0"/>
              <a:t>✔️ </a:t>
            </a:r>
            <a:r>
              <a:rPr lang="zh-CN" altLang="zh-CN" b="1" dirty="0"/>
              <a:t>Mini-run 采样对齐</a:t>
            </a:r>
            <a:r>
              <a:rPr lang="zh-CN" altLang="zh-CN" dirty="0"/>
              <a:t>： 200 样本预跑一致性验证</a:t>
            </a:r>
            <a:endParaRPr lang="en-US" altLang="zh-CN" dirty="0"/>
          </a:p>
          <a:p>
            <a:pPr lvl="0">
              <a:spcAft>
                <a:spcPts val="900"/>
              </a:spcAft>
            </a:pPr>
            <a:endParaRPr lang="zh-CN" altLang="zh-CN" dirty="0"/>
          </a:p>
          <a:p>
            <a:pPr marL="342900" lvl="0" indent="-342900">
              <a:buFont typeface="Arial" panose="020B0604020202090204" pitchFamily="34" charset="0"/>
              <a:buChar char="•"/>
            </a:pPr>
            <a:r>
              <a:rPr lang="zh-CN" altLang="zh-CN" dirty="0"/>
              <a:t>调度纪律：单次调用（含校准）&lt;30 min；两次调用间冷却 ≥</a:t>
            </a:r>
            <a:r>
              <a:rPr lang="en-US" altLang="zh-CN" dirty="0"/>
              <a:t>5</a:t>
            </a:r>
            <a:r>
              <a:rPr lang="zh-CN" altLang="zh-CN" dirty="0"/>
              <a:t> min；每 2 段窗口间冷却 20–30 min；0% 崩溃 → 冷却 ≥1h + fresh compass_cali 恢复</a:t>
            </a:r>
            <a:endParaRPr lang="en-US" altLang="zh-CN" dirty="0"/>
          </a:p>
          <a:p>
            <a:pPr marL="342900" lvl="0" indent="-342900">
              <a:buFont typeface="Arial" panose="020B0604020202090204" pitchFamily="34" charset="0"/>
              <a:buChar char="•"/>
            </a:pPr>
            <a:endParaRPr lang="zh-CN" altLang="zh-CN" dirty="0"/>
          </a:p>
          <a:p>
            <a:pPr marL="342900" lvl="0" indent="-342900">
              <a:buFont typeface="Arial" panose="020B0604020202090204" pitchFamily="34" charset="0"/>
              <a:buChar char="•"/>
            </a:pPr>
            <a:r>
              <a:rPr lang="zh-CN" altLang="zh-CN" dirty="0"/>
              <a:t>校准纪律：连续跑批每 ~20 min 背靠背 fresh 校准；校准与跑批必须同窗口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355040" y="5980280"/>
            <a:ext cx="7384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000" b="1" dirty="0"/>
              <a:t>所有对外精度数字均为“新鲜校准 + 同窗口”口径，可复现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itchFamily="2" charset="-122"/>
                <a:ea typeface="宋体" pitchFamily="2" charset="-122"/>
              </a:rPr>
              <a:t>17 / 23</a:t>
            </a:r>
            <a:endParaRPr lang="zh-CN" altLang="en-US" sz="1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4481" y="20618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上板精度图</a:t>
            </a:r>
            <a:endParaRPr lang="zh-CN" altLang="zh-CN" sz="3200" b="1" dirty="0">
              <a:solidFill>
                <a:srgbClr val="0061E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0" name="图片 9" descr="集创赛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456" y="614072"/>
            <a:ext cx="9448923" cy="61666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itchFamily="2" charset="-122"/>
                <a:ea typeface="宋体" pitchFamily="2" charset="-122"/>
              </a:rPr>
              <a:t>18 / 23</a:t>
            </a:r>
            <a:endParaRPr lang="zh-CN" altLang="en-US" sz="1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4481" y="206187"/>
            <a:ext cx="394779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架构与硬件联合设计 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0" name="图片 9" descr="集创赛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430" y="1675903"/>
            <a:ext cx="4740646" cy="3803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750"/>
              </a:spcAft>
              <a:buNone/>
            </a:pPr>
            <a:r>
              <a:rPr lang="zh-CN" altLang="zh-CN" sz="24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噪声环境下的 Pareto 反转现象</a:t>
            </a:r>
          </a:p>
          <a:p>
            <a:pPr marL="342900" marR="0" lvl="0" indent="-342900" algn="l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zh-CN" altLang="zh-CN" sz="16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软件 vs 物理噪声口径：</a:t>
            </a:r>
            <a:r>
              <a:rPr lang="zh-CN" altLang="zh-CN" sz="16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 无噪声下 rf_s2k3 (96.93%) &gt; w200 (96.39%)；但在 QAT 噪声代理下，</a:t>
            </a:r>
            <a:r>
              <a:rPr lang="zh-CN" altLang="zh-CN" sz="16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w200 (96.74%) 完成反超</a:t>
            </a:r>
            <a:r>
              <a:rPr lang="zh-CN" altLang="zh-CN" sz="16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。</a:t>
            </a:r>
          </a:p>
          <a:p>
            <a:pPr marL="342900" marR="0" lvl="0" indent="-342900" algn="l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zh-CN" altLang="zh-CN" sz="16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反转原因分析：</a:t>
            </a:r>
            <a:r>
              <a:rPr lang="zh-CN" altLang="zh-CN" sz="16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 3×3 卷积 im2col 展平 (k=9) 暴露更多列噪声（残差是 1×1 的 2.5–3 倍）。</a:t>
            </a:r>
          </a:p>
          <a:p>
            <a:pPr marL="342900" marR="0" lvl="0" indent="-342900" algn="l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zh-CN" altLang="zh-CN" sz="16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GAP 作用局限：</a:t>
            </a:r>
            <a:r>
              <a:rPr lang="zh-CN" altLang="zh-CN" sz="16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 空间平均可滤除 i.i.d 快噪声 (1/</a:t>
            </a:r>
            <a:r>
              <a:rPr lang="en-US" altLang="zh-CN" sz="16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sqrt(</a:t>
            </a:r>
            <a:r>
              <a:rPr lang="zh-CN" altLang="zh-CN" sz="16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N</a:t>
            </a:r>
            <a:r>
              <a:rPr lang="en-US" altLang="zh-CN" sz="16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)</a:t>
            </a:r>
            <a:r>
              <a:rPr lang="zh-CN" altLang="zh-CN" sz="16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 抑制)，但无法滤除同通道共享的列结构偏差。</a:t>
            </a:r>
          </a:p>
          <a:p>
            <a:pPr marL="342900" marR="0" lvl="0" indent="-342900" algn="l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zh-CN" altLang="zh-CN" sz="16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M10 创新设计：</a:t>
            </a:r>
            <a:r>
              <a:rPr lang="zh-CN" altLang="zh-CN" sz="16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 使用 conv3s2 替代 Patchify 完成下采样，</a:t>
            </a:r>
            <a:r>
              <a:rPr lang="zh-CN" altLang="zh-CN" sz="2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兼顾感受野扩展与列噪声控制</a:t>
            </a:r>
            <a:r>
              <a:rPr lang="zh-CN" altLang="zh-CN" sz="16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055" y="1680115"/>
            <a:ext cx="7683795" cy="5011172"/>
          </a:xfrm>
          <a:prstGeom prst="rect">
            <a:avLst/>
          </a:prstGeom>
        </p:spPr>
      </p:pic>
      <p:sp>
        <p:nvSpPr>
          <p:cNvPr id="7" name="箭头: 右 6"/>
          <p:cNvSpPr/>
          <p:nvPr/>
        </p:nvSpPr>
        <p:spPr>
          <a:xfrm rot="7895948">
            <a:off x="7432747" y="2322445"/>
            <a:ext cx="524539" cy="170944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itchFamily="2" charset="-122"/>
                <a:ea typeface="宋体" pitchFamily="2" charset="-122"/>
              </a:rPr>
              <a:t>19 / 23</a:t>
            </a:r>
            <a:endParaRPr lang="zh-CN" altLang="en-US" sz="1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816540" y="72892"/>
          <a:ext cx="5766095" cy="1582673"/>
        </p:xfrm>
        <a:graphic>
          <a:graphicData uri="http://schemas.openxmlformats.org/drawingml/2006/table">
            <a:tbl>
              <a:tblPr/>
              <a:tblGrid>
                <a:gridCol w="1255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0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6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2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dirty="0">
                          <a:solidFill>
                            <a:schemeClr val="bg2"/>
                          </a:solidFill>
                          <a:effectLst/>
                        </a:rPr>
                        <a:t>模型</a:t>
                      </a:r>
                      <a:endParaRPr lang="zh-CN" sz="160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dirty="0">
                          <a:solidFill>
                            <a:schemeClr val="bg2"/>
                          </a:solidFill>
                          <a:effectLst/>
                        </a:rPr>
                        <a:t>特点</a:t>
                      </a:r>
                      <a:endParaRPr lang="zh-CN" sz="160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600" dirty="0">
                          <a:solidFill>
                            <a:schemeClr val="bg2"/>
                          </a:solidFill>
                          <a:effectLst/>
                        </a:rPr>
                        <a:t>无噪声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600" dirty="0">
                          <a:solidFill>
                            <a:schemeClr val="bg2"/>
                          </a:solidFill>
                          <a:effectLst/>
                        </a:rPr>
                        <a:t>噪声口径（v8）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600" dirty="0">
                          <a:solidFill>
                            <a:schemeClr val="tx1"/>
                          </a:solidFill>
                          <a:effectLst/>
                        </a:rPr>
                        <a:t>rf_s2k3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4.52M MACs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zh-CN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 dirty="0">
                          <a:solidFill>
                            <a:schemeClr val="tx1"/>
                          </a:solidFill>
                          <a:effectLst/>
                        </a:rPr>
                        <a:t>感受野</a:t>
                      </a:r>
                      <a:r>
                        <a:rPr lang="zh-CN" sz="1600" dirty="0">
                          <a:solidFill>
                            <a:schemeClr val="tx1"/>
                          </a:solidFill>
                          <a:effectLst/>
                        </a:rPr>
                        <a:t>（3×3 层）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 dirty="0">
                          <a:solidFill>
                            <a:schemeClr val="tx1"/>
                          </a:solidFill>
                          <a:effectLst/>
                        </a:rPr>
                        <a:t>96.93</a:t>
                      </a:r>
                      <a:r>
                        <a:rPr lang="zh-CN" sz="1600" dirty="0">
                          <a:solidFill>
                            <a:schemeClr val="tx1"/>
                          </a:solidFill>
                          <a:effectLst/>
                        </a:rPr>
                        <a:t> ✓ 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solidFill>
                            <a:schemeClr val="tx1"/>
                          </a:solidFill>
                          <a:effectLst/>
                        </a:rPr>
                        <a:t>96.39 ✗ 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9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" altLang="zh-CN" sz="1600" dirty="0">
                          <a:solidFill>
                            <a:schemeClr val="tx1"/>
                          </a:solidFill>
                          <a:effectLst/>
                        </a:rPr>
                        <a:t>W</a:t>
                      </a:r>
                      <a:r>
                        <a:rPr lang="zh-CN" sz="1600" dirty="0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4.62M MACs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zh-CN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 dirty="0">
                          <a:solidFill>
                            <a:schemeClr val="tx1"/>
                          </a:solidFill>
                          <a:effectLst/>
                        </a:rPr>
                        <a:t>宽度</a:t>
                      </a:r>
                      <a:r>
                        <a:rPr lang="zh-CN" sz="1600" dirty="0">
                          <a:solidFill>
                            <a:schemeClr val="tx1"/>
                          </a:solidFill>
                          <a:effectLst/>
                        </a:rPr>
                        <a:t>（更多通道）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solidFill>
                            <a:schemeClr val="tx1"/>
                          </a:solidFill>
                          <a:effectLst/>
                        </a:rPr>
                        <a:t>96.39 ✗ 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 dirty="0">
                          <a:solidFill>
                            <a:schemeClr val="tx1"/>
                          </a:solidFill>
                          <a:effectLst/>
                        </a:rPr>
                        <a:t>96.74</a:t>
                      </a:r>
                      <a:r>
                        <a:rPr lang="zh-CN" sz="1600" dirty="0">
                          <a:solidFill>
                            <a:schemeClr val="tx1"/>
                          </a:solidFill>
                          <a:effectLst/>
                        </a:rPr>
                        <a:t> ✓ 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4481" y="206187"/>
            <a:ext cx="394779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架构与硬件联合设计 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0" name="图片 9" descr="集创赛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60562" y="3074712"/>
            <a:ext cx="3081293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solidFill>
                  <a:srgbClr val="336600"/>
                </a:solidFill>
              </a:rPr>
              <a:t> </a:t>
            </a:r>
            <a:r>
              <a:rPr lang="zh-CN" altLang="zh-CN" sz="4000" b="1" dirty="0">
                <a:solidFill>
                  <a:srgbClr val="336600"/>
                </a:solidFill>
                <a:cs typeface="Times New Roman" panose="02020503050405090304" pitchFamily="18" charset="0"/>
              </a:rPr>
              <a:t>M</a:t>
            </a:r>
            <a:r>
              <a:rPr lang="en-US" altLang="zh-CN" sz="4000" b="1" dirty="0" err="1">
                <a:solidFill>
                  <a:srgbClr val="336600"/>
                </a:solidFill>
                <a:cs typeface="Times New Roman" panose="02020503050405090304" pitchFamily="18" charset="0"/>
              </a:rPr>
              <a:t>odel</a:t>
            </a:r>
            <a:r>
              <a:rPr lang="en-US" altLang="zh-CN" sz="4000" b="1" dirty="0">
                <a:solidFill>
                  <a:srgbClr val="336600"/>
                </a:solidFill>
                <a:cs typeface="Times New Roman" panose="02020503050405090304" pitchFamily="18" charset="0"/>
              </a:rPr>
              <a:t> 10</a:t>
            </a:r>
            <a:endParaRPr lang="en-US" altLang="zh-CN" sz="3600" b="1" dirty="0">
              <a:solidFill>
                <a:srgbClr val="336600"/>
              </a:solidFill>
              <a:cs typeface="Times New Roman" panose="02020503050405090304" pitchFamily="18" charset="0"/>
            </a:endParaRPr>
          </a:p>
          <a:p>
            <a:r>
              <a:rPr lang="zh-CN" altLang="zh-CN" b="1" dirty="0"/>
              <a:t>Stem 3×3 (s=2) + MaxPool </a:t>
            </a:r>
            <a:endParaRPr lang="en-US" altLang="zh-CN" b="1" dirty="0"/>
          </a:p>
          <a:p>
            <a:r>
              <a:rPr lang="zh-CN" altLang="zh-CN" b="1" dirty="0"/>
              <a:t>→ conv3s2 下采样 </a:t>
            </a:r>
            <a:endParaRPr lang="en-US" altLang="zh-CN" b="1" dirty="0"/>
          </a:p>
          <a:p>
            <a:r>
              <a:rPr lang="zh-CN" altLang="zh-CN" b="1" dirty="0"/>
              <a:t>→ 1×1 Stages </a:t>
            </a:r>
            <a:endParaRPr lang="en-US" altLang="zh-CN" b="1" dirty="0"/>
          </a:p>
          <a:p>
            <a:r>
              <a:rPr lang="zh-CN" altLang="zh-CN" b="1" dirty="0"/>
              <a:t>→ GAP</a:t>
            </a:r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itchFamily="2" charset="-122"/>
                <a:ea typeface="宋体" pitchFamily="2" charset="-122"/>
              </a:rPr>
              <a:t>20 / 23</a:t>
            </a:r>
            <a:endParaRPr lang="zh-CN" altLang="en-US" sz="1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150" y="498574"/>
            <a:ext cx="8660914" cy="577394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93855" y="60433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dirty="0"/>
              <a:t>3×3 只放在下采样位置，主体全</a:t>
            </a:r>
            <a:r>
              <a:rPr lang="zh-CN" altLang="en-US" dirty="0"/>
              <a:t>部</a:t>
            </a:r>
            <a:r>
              <a:rPr lang="zh-CN" altLang="zh-CN" dirty="0"/>
              <a:t> 1×1，GAP 收尾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9" name="图片 8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18922" y="196941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最终成果总结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78391" y="363959"/>
            <a:ext cx="8911810" cy="4890179"/>
          </a:xfrm>
          <a:prstGeom prst="rect">
            <a:avLst/>
          </a:prstGeom>
        </p:spPr>
      </p:pic>
      <p:sp>
        <p:nvSpPr>
          <p:cNvPr id="3" name="Card"/>
          <p:cNvSpPr>
            <a:spLocks noGrp="1"/>
          </p:cNvSpPr>
          <p:nvPr/>
        </p:nvSpPr>
        <p:spPr>
          <a:xfrm>
            <a:off x="287119" y="5407257"/>
            <a:ext cx="2900384" cy="1253802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4572" y="5394174"/>
            <a:ext cx="3076464" cy="1359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zh-CN" altLang="zh-CN" sz="3600" b="1" i="0" dirty="0">
                <a:solidFill>
                  <a:schemeClr val="accent5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9</a:t>
            </a:r>
            <a:r>
              <a:rPr lang="en-US" altLang="zh-CN" sz="3600" b="1" i="0" dirty="0">
                <a:solidFill>
                  <a:schemeClr val="accent5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6.40</a:t>
            </a:r>
            <a:r>
              <a:rPr lang="zh-CN" altLang="zh-CN" sz="3600" b="1" i="0" dirty="0">
                <a:solidFill>
                  <a:schemeClr val="accent5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%</a:t>
            </a:r>
          </a:p>
          <a:p>
            <a:pPr marL="0" marR="0" indent="0" algn="ctr">
              <a:spcBef>
                <a:spcPts val="450"/>
              </a:spcBef>
              <a:buNone/>
            </a:pPr>
            <a:r>
              <a:rPr lang="zh-CN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M10 真机准确率</a:t>
            </a:r>
            <a:b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</a:br>
            <a: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EuroSAT 10类测试集</a:t>
            </a:r>
            <a:r>
              <a:rPr lang="en-US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 1000</a:t>
            </a:r>
            <a:r>
              <a:rPr lang="zh-CN" altLang="en-US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样本</a:t>
            </a:r>
            <a:endParaRPr lang="en-US" altLang="zh-CN" sz="1200" b="0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0" marR="0" indent="0" algn="ctr">
              <a:spcBef>
                <a:spcPts val="450"/>
              </a:spcBef>
              <a:buNone/>
            </a:pP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（全量</a:t>
            </a:r>
            <a:r>
              <a:rPr lang="en-US" altLang="zh-CN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5400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张的真机准确率为</a:t>
            </a:r>
            <a:r>
              <a:rPr lang="en-US" altLang="zh-CN" sz="14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95.33%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）</a:t>
            </a:r>
            <a:endParaRPr lang="zh-CN" altLang="zh-CN" sz="1200" b="0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2" name="Card"/>
          <p:cNvSpPr>
            <a:spLocks noGrp="1"/>
          </p:cNvSpPr>
          <p:nvPr/>
        </p:nvSpPr>
        <p:spPr>
          <a:xfrm>
            <a:off x="3506346" y="5411378"/>
            <a:ext cx="2267939" cy="1236768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260880" y="5389447"/>
            <a:ext cx="2771396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zh-CN" altLang="zh-CN" sz="3600" b="1" i="0" dirty="0">
                <a:solidFill>
                  <a:schemeClr val="accent2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0.36pt</a:t>
            </a:r>
          </a:p>
          <a:p>
            <a:pPr marL="0" marR="0" indent="0" algn="ctr">
              <a:spcBef>
                <a:spcPts val="450"/>
              </a:spcBef>
              <a:buNone/>
            </a:pPr>
            <a:r>
              <a:rPr lang="zh-CN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hw-GPU 极小差距</a:t>
            </a:r>
            <a:endParaRPr lang="en-US" altLang="zh-CN" sz="1200" b="1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ctr">
              <a:spcBef>
                <a:spcPts val="450"/>
              </a:spcBef>
            </a:pPr>
            <a:r>
              <a:rPr lang="zh-CN" altLang="en-US" sz="120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（</a:t>
            </a:r>
            <a:r>
              <a:rPr lang="en-US" altLang="zh-CN" sz="120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1000</a:t>
            </a:r>
            <a:r>
              <a:rPr lang="zh-CN" altLang="en-US" sz="120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样本</a:t>
            </a:r>
            <a:r>
              <a:rPr lang="zh-CN" altLang="zh-CN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抽样；全量 </a:t>
            </a:r>
            <a:r>
              <a:rPr lang="zh-CN" altLang="zh-CN" sz="12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−1.43pt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）</a:t>
            </a:r>
            <a:b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</a:br>
            <a: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硬件</a:t>
            </a:r>
            <a:r>
              <a:rPr lang="zh-CN" altLang="en-US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净</a:t>
            </a:r>
            <a: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损失仅 9/1000 样本</a:t>
            </a:r>
          </a:p>
        </p:txBody>
      </p:sp>
      <p:sp>
        <p:nvSpPr>
          <p:cNvPr id="18" name="Card"/>
          <p:cNvSpPr>
            <a:spLocks noGrp="1"/>
          </p:cNvSpPr>
          <p:nvPr/>
        </p:nvSpPr>
        <p:spPr>
          <a:xfrm>
            <a:off x="6153413" y="5410144"/>
            <a:ext cx="1777931" cy="1169227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19946" y="5441501"/>
            <a:ext cx="1903977" cy="1172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zh-CN" altLang="zh-CN" sz="3600" b="1" i="0" dirty="0">
                <a:solidFill>
                  <a:srgbClr val="00B050"/>
                </a:solidFill>
                <a:effectLst/>
                <a:latin typeface="Poppins" panose="00000500000000000000" pitchFamily="2" charset="0"/>
              </a:rPr>
              <a:t>2.56M</a:t>
            </a:r>
          </a:p>
          <a:p>
            <a:pPr algn="ctr">
              <a:spcBef>
                <a:spcPts val="450"/>
              </a:spcBef>
            </a:pPr>
            <a:r>
              <a:rPr lang="en-US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M10  </a:t>
            </a:r>
            <a:r>
              <a:rPr lang="zh-CN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MACs 运算量</a:t>
            </a:r>
            <a:b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</a:br>
            <a:r>
              <a:rPr lang="en-US" altLang="zh-CN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1/61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 </a:t>
            </a:r>
            <a:r>
              <a:rPr lang="en-US" altLang="zh-CN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Model1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的计算量</a:t>
            </a:r>
            <a:endParaRPr lang="zh-CN" altLang="zh-CN" sz="1200" b="0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5" name="Card"/>
          <p:cNvSpPr>
            <a:spLocks noGrp="1"/>
          </p:cNvSpPr>
          <p:nvPr/>
        </p:nvSpPr>
        <p:spPr>
          <a:xfrm>
            <a:off x="8278082" y="5405331"/>
            <a:ext cx="2868465" cy="1242816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351459" y="5469714"/>
            <a:ext cx="2721710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DA6579"/>
                </a:solidFill>
                <a:latin typeface="Poppins" panose="00000500000000000000" pitchFamily="2" charset="0"/>
              </a:rPr>
              <a:t>1/103</a:t>
            </a:r>
            <a:r>
              <a:rPr lang="zh-CN" altLang="en-US" sz="3600" dirty="0">
                <a:solidFill>
                  <a:srgbClr val="DA6579"/>
                </a:solidFill>
                <a:latin typeface="Poppins" panose="00000500000000000000" pitchFamily="2" charset="0"/>
              </a:rPr>
              <a:t>算力</a:t>
            </a:r>
            <a:endParaRPr lang="zh-CN" altLang="zh-CN" sz="3600" dirty="0">
              <a:solidFill>
                <a:srgbClr val="DA6579"/>
              </a:solidFill>
              <a:latin typeface="Poppins" panose="00000500000000000000" pitchFamily="2" charset="0"/>
            </a:endParaRPr>
          </a:p>
          <a:p>
            <a:pPr algn="ctr">
              <a:spcBef>
                <a:spcPts val="450"/>
              </a:spcBef>
            </a:pPr>
            <a:r>
              <a:rPr lang="en-US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M9  </a:t>
            </a:r>
            <a:r>
              <a:rPr lang="zh-CN" altLang="en-US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全</a:t>
            </a:r>
            <a:r>
              <a:rPr lang="zh-CN" altLang="en-US" sz="12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量</a:t>
            </a:r>
            <a:r>
              <a:rPr lang="zh-CN" altLang="zh-CN" sz="12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94.43% </a:t>
            </a:r>
            <a:endParaRPr lang="en-US" altLang="zh-CN" sz="1200" b="1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ctr">
              <a:spcBef>
                <a:spcPts val="450"/>
              </a:spcBef>
            </a:pPr>
            <a:r>
              <a:rPr lang="zh-CN" altLang="zh-CN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≤2M 预算冠军，双 seed 95.87/95.69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3584270" y="5137569"/>
            <a:ext cx="73854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b="1" i="0" dirty="0">
                <a:effectLst/>
                <a:latin typeface="-apple-system"/>
              </a:rPr>
              <a:t>各阶段均为真机实测（n=1000，同窗口校准口径）；最终全量 5400 张收官：M10 95.33% / M9 94.43%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itchFamily="2" charset="-122"/>
                <a:ea typeface="宋体" pitchFamily="2" charset="-122"/>
              </a:rPr>
              <a:t>21 / 23</a:t>
            </a:r>
            <a:endParaRPr lang="zh-CN" altLang="en-US" sz="1400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9" name="图片 8" descr="集创赛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64546" y="304205"/>
            <a:ext cx="40589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MNIST </a:t>
            </a:r>
            <a:r>
              <a:rPr lang="zh-CN" altLang="en-US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真机部署结果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51"/>
            <a:ext cx="8343014" cy="49729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8127937" y="579770"/>
                <a:ext cx="4125433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Arial" panose="020B0604020202090204" pitchFamily="34" charset="0"/>
                  <a:buChar char="•"/>
                </a:pPr>
                <a:r>
                  <a:rPr lang="zh-CN" altLang="zh-CN" sz="2000" b="1" dirty="0">
                    <a:effectLst/>
                  </a:rPr>
                  <a:t>链路无损</a:t>
                </a:r>
                <a:r>
                  <a:rPr lang="zh-CN" altLang="zh-CN" sz="2000" dirty="0">
                    <a:effectLst/>
                  </a:rPr>
                  <a:t>：硬件与理想软件路径精度偏差 </a:t>
                </a:r>
                <a14:m>
                  <m:oMath xmlns:m="http://schemas.openxmlformats.org/officeDocument/2006/math">
                    <m:r>
                      <a:rPr lang="zh-CN" altLang="en-US" sz="200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zh-CN" altLang="en-US" sz="2000" i="0">
                        <a:latin typeface="Cambria Math" panose="02040503050406030204" pitchFamily="18" charset="0"/>
                      </a:rPr>
                      <m:t>0.1</m:t>
                    </m:r>
                    <m:r>
                      <m:rPr>
                        <m:nor/>
                      </m:rPr>
                      <a:rPr lang="zh-CN" altLang="en-US" sz="2000" i="0">
                        <a:latin typeface="DejaVu Math TeX Gyre" panose="02000503000000000000" charset="0"/>
                      </a:rPr>
                      <m:t>pt</m:t>
                    </m:r>
                  </m:oMath>
                </a14:m>
                <a:r>
                  <a:rPr lang="zh-CN" altLang="zh-CN" sz="2000" dirty="0">
                    <a:effectLst/>
                  </a:rPr>
                  <a:t>（总体硬件路径无明显信息损失）。</a:t>
                </a:r>
              </a:p>
              <a:p>
                <a:pPr marL="342900" lvl="0" indent="-342900">
                  <a:buFont typeface="Arial" panose="020B0604020202090204" pitchFamily="34" charset="0"/>
                  <a:buChar char="•"/>
                </a:pPr>
                <a:r>
                  <a:rPr lang="zh-CN" altLang="zh-CN" sz="2000" b="1" dirty="0">
                    <a:effectLst/>
                  </a:rPr>
                  <a:t>算力充足</a:t>
                </a:r>
                <a:r>
                  <a:rPr lang="zh-CN" altLang="zh-CN" sz="2000" dirty="0">
                    <a:effectLst/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sz="200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zh-CN" altLang="en-US" sz="2000" i="0">
                        <a:latin typeface="Cambria Math" panose="02040503050406030204" pitchFamily="18" charset="0"/>
                      </a:rPr>
                      <m:t>,000</m:t>
                    </m:r>
                    <m:r>
                      <m:rPr>
                        <m:nor/>
                      </m:rPr>
                      <a:rPr lang="zh-CN" altLang="en-US" sz="2000" i="0">
                        <a:latin typeface="DejaVu Math TeX Gyre" panose="02000503000000000000" charset="0"/>
                      </a:rPr>
                      <m:t>张</m:t>
                    </m:r>
                    <m:r>
                      <a:rPr lang="zh-CN" altLang="en-US" sz="2000" i="0">
                        <a:latin typeface="Cambria Math" panose="02040503050406030204" pitchFamily="18" charset="0"/>
                      </a:rPr>
                      <m:t>×3</m:t>
                    </m:r>
                    <m:r>
                      <m:rPr>
                        <m:nor/>
                      </m:rPr>
                      <a:rPr lang="zh-CN" altLang="en-US" sz="2000" i="0">
                        <a:latin typeface="DejaVu Math TeX Gyre" panose="02000503000000000000" charset="0"/>
                      </a:rPr>
                      <m:t>层</m:t>
                    </m:r>
                  </m:oMath>
                </a14:m>
                <a:r>
                  <a:rPr lang="zh-CN" altLang="zh-CN" sz="2000" dirty="0">
                    <a:effectLst/>
                  </a:rPr>
                  <a:t> 全光计算推理仅耗时 </a:t>
                </a:r>
                <a:r>
                  <a:rPr lang="en-US" altLang="zh-CN" sz="2000" b="1" dirty="0"/>
                  <a:t>~</a:t>
                </a:r>
                <a:r>
                  <a:rPr lang="zh-CN" altLang="zh-CN" sz="2000" b="1" dirty="0">
                    <a:effectLst/>
                  </a:rPr>
                  <a:t>4 分钟</a:t>
                </a:r>
                <a:r>
                  <a:rPr lang="zh-CN" altLang="zh-CN" sz="2000" dirty="0">
                    <a:effectLst/>
                  </a:rPr>
                  <a:t>，真机算力支持高频次迭代。</a:t>
                </a:r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7937" y="579770"/>
                <a:ext cx="4125433" cy="1938992"/>
              </a:xfrm>
              <a:prstGeom prst="rect">
                <a:avLst/>
              </a:prstGeom>
              <a:blipFill rotWithShape="1">
                <a:blip r:embed="rId5"/>
                <a:stretch>
                  <a:fillRect l="-14" t="-1" r="10" b="-20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/>
          <p:cNvSpPr txBox="1"/>
          <p:nvPr/>
        </p:nvSpPr>
        <p:spPr>
          <a:xfrm>
            <a:off x="8127936" y="2774534"/>
            <a:ext cx="412543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b="1" dirty="0"/>
              <a:t>先校准再谈精度</a:t>
            </a:r>
            <a:r>
              <a:rPr lang="zh-CN" altLang="zh-CN" dirty="0"/>
              <a:t>：EBR 5.08→9.74（compass_cali）后，硬件准确率从 12.10%（≈随机）→ 94.85%；EBR≥8 成为所有上板的放行判据</a:t>
            </a:r>
            <a:endParaRPr lang="en-US" altLang="zh-CN" dirty="0"/>
          </a:p>
          <a:p>
            <a:pPr>
              <a:buNone/>
            </a:pPr>
            <a:endParaRPr lang="zh-CN" altLang="zh-CN" dirty="0"/>
          </a:p>
          <a:p>
            <a:pPr lvl="0"/>
            <a:r>
              <a:rPr lang="zh-CN" altLang="zh-CN" b="1" dirty="0"/>
              <a:t>小数值必须放大</a:t>
            </a:r>
            <a:r>
              <a:rPr lang="zh-CN" altLang="zh-CN" dirty="0"/>
              <a:t>：光计算噪声是绝对量级（~4-5 counts 底噪），输入/权重用 scale ×16 顶满 8-bit 值域（uint4 仅占 ~6% 量程会被噪声淹没）</a:t>
            </a:r>
            <a:endParaRPr lang="en-US" altLang="zh-CN" dirty="0"/>
          </a:p>
          <a:p>
            <a:pPr lvl="0"/>
            <a:endParaRPr lang="zh-CN" altLang="zh-CN" dirty="0"/>
          </a:p>
          <a:p>
            <a:pPr lvl="0"/>
            <a:r>
              <a:rPr lang="zh-CN" altLang="zh-CN" b="1" dirty="0"/>
              <a:t>SDK 副作用规避</a:t>
            </a:r>
            <a:r>
              <a:rPr lang="zh-CN" altLang="zh-CN" dirty="0"/>
              <a:t>：compass_sdk 篡改 sys.argv → 部署脚本一律环境变量传参；sudo 清空环境 → </a:t>
            </a:r>
            <a:r>
              <a:rPr lang="zh-CN" altLang="zh-CN" dirty="0">
                <a:latin typeface="Courier New" panose="02070409020205090404" pitchFamily="49" charset="0"/>
              </a:rPr>
              <a:t>sudo env VAR=...</a:t>
            </a:r>
            <a:endParaRPr lang="zh-CN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itchFamily="2" charset="-122"/>
                <a:ea typeface="宋体" pitchFamily="2" charset="-122"/>
              </a:rPr>
              <a:t>22 / 23</a:t>
            </a:r>
            <a:endParaRPr lang="zh-CN" altLang="en-US" sz="1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964446" y="1356258"/>
            <a:ext cx="5789541" cy="3170265"/>
            <a:chOff x="2855913" y="-477838"/>
            <a:chExt cx="5757862" cy="2501900"/>
          </a:xfrm>
          <a:solidFill>
            <a:schemeClr val="accent3"/>
          </a:solidFill>
        </p:grpSpPr>
        <p:sp>
          <p:nvSpPr>
            <p:cNvPr id="10" name="Freeform 5"/>
            <p:cNvSpPr/>
            <p:nvPr userDrawn="1"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Freeform 6"/>
            <p:cNvSpPr/>
            <p:nvPr userDrawn="1"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4" name="椭圆 23"/>
          <p:cNvSpPr/>
          <p:nvPr/>
        </p:nvSpPr>
        <p:spPr>
          <a:xfrm>
            <a:off x="10128669" y="1735494"/>
            <a:ext cx="1150294" cy="115029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zh-CN" sz="2800" dirty="0">
              <a:solidFill>
                <a:schemeClr val="bg1">
                  <a:lumMod val="65000"/>
                </a:schemeClr>
              </a:solidFill>
              <a:latin typeface="Impact" panose="020B0806030902050204" pitchFamily="34" charset="0"/>
            </a:endParaRPr>
          </a:p>
        </p:txBody>
      </p:sp>
      <p:pic>
        <p:nvPicPr>
          <p:cNvPr id="20" name="图片占位符 19" descr="图片包含 建筑物, 户外, 天空&#10;&#10;自动生成的说明"/>
          <p:cNvPicPr>
            <a:picLocks noGrp="1" noChangeAspect="1"/>
          </p:cNvPicPr>
          <p:nvPr>
            <p:ph type="pic" sz="quarter" idx="19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3693" y="0"/>
            <a:ext cx="4927057" cy="6866909"/>
          </a:xfrm>
        </p:spPr>
      </p:pic>
      <p:sp>
        <p:nvSpPr>
          <p:cNvPr id="2" name="文本框 1"/>
          <p:cNvSpPr txBox="1"/>
          <p:nvPr/>
        </p:nvSpPr>
        <p:spPr>
          <a:xfrm>
            <a:off x="6832985" y="5247060"/>
            <a:ext cx="24481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CICC 1003564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243" y="1948366"/>
            <a:ext cx="1281897" cy="7245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27*90"/>
  <p:tag name="TABLE_ENDDRAG_RECT" val="470*363*327*9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5501</Words>
  <Application>Microsoft Office PowerPoint</Application>
  <PresentationFormat>宽屏</PresentationFormat>
  <Paragraphs>370</Paragraphs>
  <Slides>23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-apple-system</vt:lpstr>
      <vt:lpstr>DejaVu Math TeX Gyre</vt:lpstr>
      <vt:lpstr>Noto Sans SC</vt:lpstr>
      <vt:lpstr>Plus Jakarta Sans</vt:lpstr>
      <vt:lpstr>等线</vt:lpstr>
      <vt:lpstr>等线 Light</vt:lpstr>
      <vt:lpstr>宋体</vt:lpstr>
      <vt:lpstr>Arial</vt:lpstr>
      <vt:lpstr>Cambria Math</vt:lpstr>
      <vt:lpstr>Courier New</vt:lpstr>
      <vt:lpstr>Impact</vt:lpstr>
      <vt:lpstr>Poppins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lhhisdd@163.com</dc:creator>
  <cp:lastModifiedBy>lhhisdd@163.com</cp:lastModifiedBy>
  <cp:revision>256</cp:revision>
  <dcterms:created xsi:type="dcterms:W3CDTF">2026-08-21T07:06:51Z</dcterms:created>
  <dcterms:modified xsi:type="dcterms:W3CDTF">2026-08-21T09:47:46Z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A6C0C40C329808B5FCD3876AFCEBF9F4_43</vt:lpwstr>
  </property>
</Properties>
</file>