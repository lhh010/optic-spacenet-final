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7" r:id="rId2"/>
    <p:sldId id="287" r:id="rId3"/>
    <p:sldId id="294" r:id="rId4"/>
    <p:sldId id="295" r:id="rId5"/>
    <p:sldId id="265" r:id="rId6"/>
    <p:sldId id="259" r:id="rId7"/>
    <p:sldId id="275" r:id="rId8"/>
    <p:sldId id="288" r:id="rId9"/>
    <p:sldId id="290" r:id="rId10"/>
    <p:sldId id="291" r:id="rId11"/>
    <p:sldId id="292" r:id="rId12"/>
    <p:sldId id="277" r:id="rId13"/>
    <p:sldId id="284" r:id="rId14"/>
    <p:sldId id="261" r:id="rId15"/>
    <p:sldId id="293" r:id="rId16"/>
    <p:sldId id="282" r:id="rId17"/>
    <p:sldId id="285" r:id="rId18"/>
    <p:sldId id="278" r:id="rId19"/>
    <p:sldId id="279" r:id="rId20"/>
    <p:sldId id="296" r:id="rId21"/>
    <p:sldId id="283" r:id="rId22"/>
    <p:sldId id="281" r:id="rId23"/>
    <p:sldId id="26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EE"/>
    <a:srgbClr val="0949FF"/>
    <a:srgbClr val="DA6579"/>
    <a:srgbClr val="336600"/>
    <a:srgbClr val="0967FF"/>
    <a:srgbClr val="375F1B"/>
    <a:srgbClr val="000099"/>
    <a:srgbClr val="990033"/>
    <a:srgbClr val="A404CA"/>
    <a:srgbClr val="588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1073" autoAdjust="0"/>
  </p:normalViewPr>
  <p:slideViewPr>
    <p:cSldViewPr snapToGrid="0">
      <p:cViewPr>
        <p:scale>
          <a:sx n="90" d="100"/>
          <a:sy n="90" d="100"/>
        </p:scale>
        <p:origin x="6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hhisdd@163.com" userId="2506bc780afbb998" providerId="LiveId" clId="{68026A53-0B08-4D3B-8D84-A965C5E49912}"/>
    <pc:docChg chg="modSld">
      <pc:chgData name="lhhisdd@163.com" userId="2506bc780afbb998" providerId="LiveId" clId="{68026A53-0B08-4D3B-8D84-A965C5E49912}" dt="2026-07-19T14:50:03.164" v="3" actId="2711"/>
      <pc:docMkLst>
        <pc:docMk/>
      </pc:docMkLst>
      <pc:sldChg chg="modSp mod">
        <pc:chgData name="lhhisdd@163.com" userId="2506bc780afbb998" providerId="LiveId" clId="{68026A53-0B08-4D3B-8D84-A965C5E49912}" dt="2026-07-19T14:50:03.164" v="3" actId="2711"/>
        <pc:sldMkLst>
          <pc:docMk/>
          <pc:sldMk cId="0" sldId="265"/>
        </pc:sldMkLst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111" creationId="{00000000-0000-0000-0000-000000000000}"/>
          </ac:spMkLst>
        </pc:spChg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1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60B81-9FB9-463D-887C-E815C92BB13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D74B1-9578-41F2-9F83-75E9C2DDC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76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4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817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生图</a:t>
            </a:r>
            <a:r>
              <a:rPr lang="en-US" altLang="zh-CN" dirty="0"/>
              <a:t> Prompt</a:t>
            </a:r>
            <a:r>
              <a:rPr lang="zh-CN" altLang="en-US" dirty="0"/>
              <a:t>：左右对比的两张极简神经网络末端结构示意图，白底、扁平科技风。左侧标"</a:t>
            </a:r>
            <a:r>
              <a:rPr lang="en-US" altLang="zh-CN" dirty="0"/>
              <a:t>FC Head"：</a:t>
            </a:r>
            <a:r>
              <a:rPr lang="zh-CN" altLang="en-US" dirty="0"/>
              <a:t>一个 8×8 网格的特征图方块阵列（16 个通道叠成小摞），被箭头"拉直"成一条长长的竖向一维向量（标注 1024 维），向量连到一个庞大的全连接层——用密集的放射状连线表示 1024 个输入各自连到 256 个神经元，连线密集成一堵墙，再接一个小输出层（10 个节点）。右侧标"</a:t>
            </a:r>
            <a:r>
              <a:rPr lang="en-US" altLang="zh-CN" dirty="0"/>
              <a:t>GAP Head"：</a:t>
            </a:r>
            <a:r>
              <a:rPr lang="zh-CN" altLang="en-US" dirty="0"/>
              <a:t>同样的 8×8 特征图方块摞，每个通道块被一个不透明罩子压缩成一个彩色小方块（表示空间平均），16 个小方块排成一条短向量（128 维），只用稀疏几条线连到 10 个节点的输出层。中间用一个"</a:t>
            </a:r>
            <a:r>
              <a:rPr lang="en-US" altLang="zh-CN" dirty="0"/>
              <a:t>vs"</a:t>
            </a:r>
            <a:r>
              <a:rPr lang="zh-CN" altLang="en-US" dirty="0"/>
              <a:t>或转化箭头分隔。整体色调左暖右冷，强调左侧连接墙厚重、右侧极简。不标任何数字之外的精度/算力信息。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M2（FC head）：Flatten(16×8×8=1024) → Linear(1024,256) → Linear(256,10)，</a:t>
            </a:r>
            <a:r>
              <a:rPr lang="zh-CN" altLang="en-US" dirty="0"/>
              <a:t>头部参数 ≈ 265</a:t>
            </a:r>
            <a:r>
              <a:rPr lang="en-US" altLang="zh-CN" dirty="0"/>
              <a:t>K，</a:t>
            </a:r>
            <a:r>
              <a:rPr lang="zh-CN" altLang="en-US" dirty="0"/>
              <a:t>占整网 268</a:t>
            </a:r>
            <a:r>
              <a:rPr lang="en-US" altLang="zh-CN" dirty="0"/>
              <a:t>K </a:t>
            </a:r>
            <a:r>
              <a:rPr lang="zh-CN" altLang="en-US" dirty="0"/>
              <a:t>的 ~98%；头部 </a:t>
            </a:r>
            <a:r>
              <a:rPr lang="en-US" altLang="zh-CN" dirty="0"/>
              <a:t>MACs ≈ 0.26M，</a:t>
            </a:r>
            <a:r>
              <a:rPr lang="zh-CN" altLang="en-US" dirty="0"/>
              <a:t>占整网 1.05</a:t>
            </a:r>
            <a:r>
              <a:rPr lang="en-US" altLang="zh-CN" dirty="0"/>
              <a:t>M </a:t>
            </a:r>
            <a:r>
              <a:rPr lang="zh-CN" altLang="en-US" dirty="0"/>
              <a:t>的 ~25%。</a:t>
            </a:r>
          </a:p>
          <a:p>
            <a:endParaRPr lang="en-US" altLang="zh-CN" dirty="0"/>
          </a:p>
          <a:p>
            <a:r>
              <a:rPr lang="en-US" altLang="zh-CN" dirty="0"/>
              <a:t>M4（GAP head）：GAP → Linear(96,10)，</a:t>
            </a:r>
            <a:r>
              <a:rPr lang="zh-CN" altLang="en-US" dirty="0"/>
              <a:t>头部参数 970（−99.6%），</a:t>
            </a:r>
            <a:r>
              <a:rPr lang="en-US" altLang="zh-CN" dirty="0"/>
              <a:t>MACs </a:t>
            </a:r>
            <a:r>
              <a:rPr lang="zh-CN" altLang="en-US" dirty="0"/>
              <a:t>可忽略（</a:t>
            </a:r>
            <a:r>
              <a:rPr lang="en-US" altLang="zh-CN" dirty="0"/>
              <a:t>C×10 </a:t>
            </a:r>
            <a:r>
              <a:rPr lang="zh-CN" altLang="en-US" dirty="0"/>
              <a:t>量级）。</a:t>
            </a:r>
          </a:p>
          <a:p>
            <a:endParaRPr lang="en-US" altLang="zh-CN" dirty="0"/>
          </a:p>
          <a:p>
            <a:r>
              <a:rPr lang="zh-CN" altLang="en-US" dirty="0"/>
              <a:t>物理依据：光计算中权重存光阵列"</a:t>
            </a:r>
            <a:r>
              <a:rPr lang="en-US" altLang="zh-CN" dirty="0"/>
              <a:t>params </a:t>
            </a:r>
            <a:r>
              <a:rPr lang="zh-CN" altLang="en-US" dirty="0"/>
              <a:t>接近免费"，真正受限的是 </a:t>
            </a:r>
            <a:r>
              <a:rPr lang="en-US" altLang="zh-CN" dirty="0"/>
              <a:t>activation compute——</a:t>
            </a:r>
            <a:r>
              <a:rPr lang="zh-CN" altLang="en-US" dirty="0"/>
              <a:t>但 </a:t>
            </a:r>
            <a:r>
              <a:rPr lang="en-US" altLang="zh-CN" dirty="0"/>
              <a:t>FC </a:t>
            </a:r>
            <a:r>
              <a:rPr lang="zh-CN" altLang="en-US" dirty="0"/>
              <a:t>头把 1024 维向量当 </a:t>
            </a:r>
            <a:r>
              <a:rPr lang="en-US" altLang="zh-CN" dirty="0"/>
              <a:t>GEMM </a:t>
            </a:r>
            <a:r>
              <a:rPr lang="zh-CN" altLang="en-US" dirty="0"/>
              <a:t>打，既占参数又对精度无贡献；</a:t>
            </a:r>
            <a:r>
              <a:rPr lang="en-US" altLang="zh-CN" dirty="0"/>
              <a:t>GAP </a:t>
            </a:r>
            <a:r>
              <a:rPr lang="zh-CN" altLang="en-US" dirty="0"/>
              <a:t>用一次空间平均把它消掉。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生图</a:t>
            </a:r>
            <a:r>
              <a:rPr lang="en-US" altLang="zh-CN" dirty="0"/>
              <a:t> Prompt: </a:t>
            </a:r>
            <a:r>
              <a:rPr lang="zh-CN" altLang="en-US" dirty="0"/>
              <a:t>四宫格极简示意图，白底扁平科技风，每格展示一种卷积核在"同一张特征图"上的工作方式，顶部各有一个小标题。格一"2×2"：特征图上高亮一个 2×2 小方窗，旁边画出窗内 4 个像素×通道数展平成的短向量进入一个小矩阵块（表示光学 </a:t>
            </a:r>
            <a:r>
              <a:rPr lang="en-US" altLang="zh-CN" dirty="0"/>
              <a:t>GEMM tile），</a:t>
            </a:r>
            <a:r>
              <a:rPr lang="zh-CN" altLang="en-US" dirty="0"/>
              <a:t>向量长度标注为 4</a:t>
            </a:r>
            <a:r>
              <a:rPr lang="en-US" altLang="zh-CN" dirty="0"/>
              <a:t>C。</a:t>
            </a:r>
            <a:r>
              <a:rPr lang="zh-CN" altLang="en-US" dirty="0"/>
              <a:t>格二"3×3"：高亮 3×3 方窗，展平成明显更长的向量（9</a:t>
            </a:r>
            <a:r>
              <a:rPr lang="en-US" altLang="zh-CN" dirty="0"/>
              <a:t>C），</a:t>
            </a:r>
            <a:r>
              <a:rPr lang="zh-CN" altLang="en-US" dirty="0"/>
              <a:t>矩阵块被撑大，用虚线阴影标出展平后浪费/冗余的部分。格三"1×1"：只高亮单个像素点，其通道维拉成一条长度恰为 </a:t>
            </a:r>
            <a:r>
              <a:rPr lang="en-US" altLang="zh-CN" dirty="0"/>
              <a:t>C </a:t>
            </a:r>
            <a:r>
              <a:rPr lang="zh-CN" altLang="en-US" dirty="0"/>
              <a:t>的向量，严丝合缝嵌入一个 8 格宽的小矩阵条（表示与 8×2 </a:t>
            </a:r>
            <a:r>
              <a:rPr lang="en-US" altLang="zh-CN" dirty="0"/>
              <a:t>tile </a:t>
            </a:r>
            <a:r>
              <a:rPr lang="zh-CN" altLang="en-US" dirty="0"/>
              <a:t>完美对齐、零浪费），旁边配一行小方块表示"逐点通道混合"。格四"3×3 </a:t>
            </a:r>
            <a:r>
              <a:rPr lang="en-US" altLang="zh-CN" dirty="0"/>
              <a:t>stride2"：</a:t>
            </a:r>
            <a:r>
              <a:rPr lang="zh-CN" altLang="en-US" dirty="0"/>
              <a:t>特征图上 3×3 方窗以跳步方式滑动（画出步长为 2 的跳跃箭头），输出侧特征图尺寸减半（画出从大方块到半尺寸方块的收缩箭头），强调"下采样与卷积合一"。四格统一配色，仅结构差异可视化，不含算力/精度数字。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等预算对照（</a:t>
            </a:r>
            <a:r>
              <a:rPr lang="en-US" altLang="zh-CN" dirty="0"/>
              <a:t>R2，~1.1–1.4M MACs，</a:t>
            </a:r>
            <a:r>
              <a:rPr lang="zh-CN" altLang="en-US" dirty="0"/>
              <a:t>同 </a:t>
            </a:r>
            <a:r>
              <a:rPr lang="en-US" altLang="zh-CN" dirty="0"/>
              <a:t>QAT </a:t>
            </a:r>
            <a:r>
              <a:rPr lang="zh-CN" altLang="en-US" dirty="0"/>
              <a:t>配方）：</a:t>
            </a:r>
          </a:p>
          <a:p>
            <a:endParaRPr lang="en-US" altLang="zh-CN" dirty="0"/>
          </a:p>
          <a:p>
            <a:r>
              <a:rPr lang="en-US" altLang="zh-CN" dirty="0"/>
              <a:t>kernels	MACs	test</a:t>
            </a:r>
          </a:p>
          <a:p>
            <a:r>
              <a:rPr lang="en-US" altLang="zh-CN" dirty="0"/>
              <a:t>[3,3,1]（G1）	1.41M	93.83%</a:t>
            </a:r>
          </a:p>
          <a:p>
            <a:r>
              <a:rPr lang="en-US" altLang="zh-CN" dirty="0"/>
              <a:t>[1,3,1]（I1）	1.14M	93.85%</a:t>
            </a:r>
          </a:p>
          <a:p>
            <a:r>
              <a:rPr lang="en-US" altLang="zh-CN" dirty="0"/>
              <a:t>[3,1,1]（G2）	1.19M	94.11%</a:t>
            </a:r>
          </a:p>
          <a:p>
            <a:r>
              <a:rPr lang="en-US" altLang="zh-CN" dirty="0"/>
              <a:t>[1,1,1]（H1）	1.21M	94.89%</a:t>
            </a:r>
          </a:p>
          <a:p>
            <a:endParaRPr lang="en-US" altLang="zh-CN" dirty="0"/>
          </a:p>
          <a:p>
            <a:r>
              <a:rPr lang="en-US" altLang="zh-CN" dirty="0"/>
              <a:t>2×2（M2）	1.05M	92.20%（int8）</a:t>
            </a:r>
          </a:p>
          <a:p>
            <a:r>
              <a:rPr lang="en-US" altLang="zh-CN" dirty="0"/>
              <a:t>1×1（J1/M6，v5 160ep）	1.38M	96.30%（QAT clean）/ </a:t>
            </a:r>
            <a:r>
              <a:rPr lang="zh-CN" altLang="en-US" dirty="0"/>
              <a:t>真机 90.6–93.8%</a:t>
            </a:r>
          </a:p>
          <a:p>
            <a:r>
              <a:rPr lang="en-US" altLang="zh-CN" dirty="0"/>
              <a:t>3×3s2 + stem max3（M10，v8）	2.56M	96.66%（QAT）/</a:t>
            </a:r>
            <a:r>
              <a:rPr lang="zh-CN" altLang="en-US" dirty="0"/>
              <a:t>真机 96.40%（</a:t>
            </a:r>
            <a:r>
              <a:rPr lang="en-US" altLang="zh-CN" dirty="0"/>
              <a:t>SOTA）</a:t>
            </a:r>
          </a:p>
          <a:p>
            <a:r>
              <a:rPr lang="zh-CN" altLang="en-US" dirty="0"/>
              <a:t>3×3 全程（</a:t>
            </a:r>
            <a:r>
              <a:rPr lang="en-US" altLang="zh-CN" dirty="0"/>
              <a:t>M4E，v5）	17.04M	97.43%（QAT）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047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136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图片占位符 68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927057" cy="6866909"/>
          </a:xfrm>
          <a:custGeom>
            <a:avLst/>
            <a:gdLst>
              <a:gd name="connsiteX0" fmla="*/ 0 w 4927057"/>
              <a:gd name="connsiteY0" fmla="*/ 0 h 6866909"/>
              <a:gd name="connsiteX1" fmla="*/ 4547560 w 4927057"/>
              <a:gd name="connsiteY1" fmla="*/ 0 h 6866909"/>
              <a:gd name="connsiteX2" fmla="*/ 4816571 w 4927057"/>
              <a:gd name="connsiteY2" fmla="*/ 103308 h 6866909"/>
              <a:gd name="connsiteX3" fmla="*/ 4816571 w 4927057"/>
              <a:gd name="connsiteY3" fmla="*/ 613768 h 6866909"/>
              <a:gd name="connsiteX4" fmla="*/ 2331425 w 4927057"/>
              <a:gd name="connsiteY4" fmla="*/ 2971609 h 6866909"/>
              <a:gd name="connsiteX5" fmla="*/ 2331425 w 4927057"/>
              <a:gd name="connsiteY5" fmla="*/ 3475993 h 6866909"/>
              <a:gd name="connsiteX6" fmla="*/ 3843009 w 4927057"/>
              <a:gd name="connsiteY6" fmla="*/ 4916221 h 6866909"/>
              <a:gd name="connsiteX7" fmla="*/ 3843009 w 4927057"/>
              <a:gd name="connsiteY7" fmla="*/ 5420605 h 6866909"/>
              <a:gd name="connsiteX8" fmla="*/ 2433906 w 4927057"/>
              <a:gd name="connsiteY8" fmla="*/ 6763602 h 6866909"/>
              <a:gd name="connsiteX9" fmla="*/ 2164895 w 4927057"/>
              <a:gd name="connsiteY9" fmla="*/ 6866909 h 6866909"/>
              <a:gd name="connsiteX10" fmla="*/ 0 w 4927057"/>
              <a:gd name="connsiteY10" fmla="*/ 6866909 h 6866909"/>
              <a:gd name="connsiteX11" fmla="*/ 0 w 4927057"/>
              <a:gd name="connsiteY11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27057" h="6866909">
                <a:moveTo>
                  <a:pt x="0" y="0"/>
                </a:moveTo>
                <a:lnTo>
                  <a:pt x="4547560" y="0"/>
                </a:lnTo>
                <a:cubicBezTo>
                  <a:pt x="4650041" y="0"/>
                  <a:pt x="4746116" y="36462"/>
                  <a:pt x="4816571" y="103308"/>
                </a:cubicBezTo>
                <a:cubicBezTo>
                  <a:pt x="4963886" y="243077"/>
                  <a:pt x="4963886" y="473999"/>
                  <a:pt x="4816571" y="613768"/>
                </a:cubicBezTo>
                <a:cubicBezTo>
                  <a:pt x="4816571" y="613768"/>
                  <a:pt x="4816571" y="613768"/>
                  <a:pt x="2331425" y="2971609"/>
                </a:cubicBezTo>
                <a:cubicBezTo>
                  <a:pt x="2184110" y="3111379"/>
                  <a:pt x="2184110" y="3336224"/>
                  <a:pt x="2331425" y="3475993"/>
                </a:cubicBezTo>
                <a:cubicBezTo>
                  <a:pt x="2331425" y="3475993"/>
                  <a:pt x="2331425" y="3475993"/>
                  <a:pt x="3843009" y="4916221"/>
                </a:cubicBezTo>
                <a:cubicBezTo>
                  <a:pt x="3990324" y="5055990"/>
                  <a:pt x="3990324" y="5280836"/>
                  <a:pt x="3843009" y="5420605"/>
                </a:cubicBezTo>
                <a:cubicBezTo>
                  <a:pt x="3843009" y="5420605"/>
                  <a:pt x="3843009" y="5420605"/>
                  <a:pt x="2433906" y="6763602"/>
                </a:cubicBezTo>
                <a:cubicBezTo>
                  <a:pt x="2363450" y="6830448"/>
                  <a:pt x="2267375" y="6866909"/>
                  <a:pt x="2164895" y="6866909"/>
                </a:cubicBezTo>
                <a:cubicBezTo>
                  <a:pt x="2164895" y="6866909"/>
                  <a:pt x="2164895" y="6866909"/>
                  <a:pt x="0" y="6866909"/>
                </a:cubicBez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任意多边形: 形状 65"/>
          <p:cNvSpPr/>
          <p:nvPr userDrawn="1"/>
        </p:nvSpPr>
        <p:spPr bwMode="auto">
          <a:xfrm>
            <a:off x="0" y="-8909"/>
            <a:ext cx="146229" cy="6866909"/>
          </a:xfrm>
          <a:custGeom>
            <a:avLst/>
            <a:gdLst>
              <a:gd name="connsiteX0" fmla="*/ 0 w 146229"/>
              <a:gd name="connsiteY0" fmla="*/ 0 h 6866909"/>
              <a:gd name="connsiteX1" fmla="*/ 146229 w 146229"/>
              <a:gd name="connsiteY1" fmla="*/ 0 h 6866909"/>
              <a:gd name="connsiteX2" fmla="*/ 146229 w 146229"/>
              <a:gd name="connsiteY2" fmla="*/ 6866909 h 6866909"/>
              <a:gd name="connsiteX3" fmla="*/ 0 w 146229"/>
              <a:gd name="connsiteY3" fmla="*/ 6866909 h 6866909"/>
              <a:gd name="connsiteX4" fmla="*/ 0 w 146229"/>
              <a:gd name="connsiteY4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29" h="6866909">
                <a:moveTo>
                  <a:pt x="0" y="0"/>
                </a:moveTo>
                <a:lnTo>
                  <a:pt x="146229" y="0"/>
                </a:lnTo>
                <a:cubicBezTo>
                  <a:pt x="146229" y="6866909"/>
                  <a:pt x="146229" y="6866909"/>
                  <a:pt x="146229" y="6866909"/>
                </a:cubicBezTo>
                <a:lnTo>
                  <a:pt x="0" y="6866909"/>
                </a:ln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65" name="任意多边形: 形状 64"/>
          <p:cNvSpPr/>
          <p:nvPr userDrawn="1"/>
        </p:nvSpPr>
        <p:spPr bwMode="auto">
          <a:xfrm>
            <a:off x="2490525" y="0"/>
            <a:ext cx="2946441" cy="6866909"/>
          </a:xfrm>
          <a:custGeom>
            <a:avLst/>
            <a:gdLst>
              <a:gd name="connsiteX0" fmla="*/ 2253196 w 2946441"/>
              <a:gd name="connsiteY0" fmla="*/ 0 h 6866909"/>
              <a:gd name="connsiteX1" fmla="*/ 2592682 w 2946441"/>
              <a:gd name="connsiteY1" fmla="*/ 0 h 6866909"/>
              <a:gd name="connsiteX2" fmla="*/ 2841680 w 2946441"/>
              <a:gd name="connsiteY2" fmla="*/ 103307 h 6866909"/>
              <a:gd name="connsiteX3" fmla="*/ 2841680 w 2946441"/>
              <a:gd name="connsiteY3" fmla="*/ 613768 h 6866909"/>
              <a:gd name="connsiteX4" fmla="*/ 485308 w 2946441"/>
              <a:gd name="connsiteY4" fmla="*/ 2971609 h 6866909"/>
              <a:gd name="connsiteX5" fmla="*/ 485308 w 2946441"/>
              <a:gd name="connsiteY5" fmla="*/ 3475993 h 6866909"/>
              <a:gd name="connsiteX6" fmla="*/ 1924638 w 2946441"/>
              <a:gd name="connsiteY6" fmla="*/ 4916221 h 6866909"/>
              <a:gd name="connsiteX7" fmla="*/ 1924638 w 2946441"/>
              <a:gd name="connsiteY7" fmla="*/ 5420605 h 6866909"/>
              <a:gd name="connsiteX8" fmla="*/ 588551 w 2946441"/>
              <a:gd name="connsiteY8" fmla="*/ 6763602 h 6866909"/>
              <a:gd name="connsiteX9" fmla="*/ 333479 w 2946441"/>
              <a:gd name="connsiteY9" fmla="*/ 6866909 h 6866909"/>
              <a:gd name="connsiteX10" fmla="*/ 42616 w 2946441"/>
              <a:gd name="connsiteY10" fmla="*/ 6866909 h 6866909"/>
              <a:gd name="connsiteX11" fmla="*/ 0 w 2946441"/>
              <a:gd name="connsiteY11" fmla="*/ 6866909 h 6866909"/>
              <a:gd name="connsiteX12" fmla="*/ 255079 w 2946441"/>
              <a:gd name="connsiteY12" fmla="*/ 6763602 h 6866909"/>
              <a:gd name="connsiteX13" fmla="*/ 1591205 w 2946441"/>
              <a:gd name="connsiteY13" fmla="*/ 5420605 h 6866909"/>
              <a:gd name="connsiteX14" fmla="*/ 1591205 w 2946441"/>
              <a:gd name="connsiteY14" fmla="*/ 4916221 h 6866909"/>
              <a:gd name="connsiteX15" fmla="*/ 151833 w 2946441"/>
              <a:gd name="connsiteY15" fmla="*/ 3475993 h 6866909"/>
              <a:gd name="connsiteX16" fmla="*/ 151833 w 2946441"/>
              <a:gd name="connsiteY16" fmla="*/ 2971609 h 6866909"/>
              <a:gd name="connsiteX17" fmla="*/ 2508274 w 2946441"/>
              <a:gd name="connsiteY17" fmla="*/ 613768 h 6866909"/>
              <a:gd name="connsiteX18" fmla="*/ 2508274 w 2946441"/>
              <a:gd name="connsiteY18" fmla="*/ 103307 h 6866909"/>
              <a:gd name="connsiteX19" fmla="*/ 2253196 w 2946441"/>
              <a:gd name="connsiteY19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6441" h="6866909">
                <a:moveTo>
                  <a:pt x="2253196" y="0"/>
                </a:moveTo>
                <a:lnTo>
                  <a:pt x="2592682" y="0"/>
                </a:lnTo>
                <a:cubicBezTo>
                  <a:pt x="2683779" y="0"/>
                  <a:pt x="2774876" y="36461"/>
                  <a:pt x="2841680" y="103307"/>
                </a:cubicBezTo>
                <a:cubicBezTo>
                  <a:pt x="2981362" y="243076"/>
                  <a:pt x="2981362" y="473999"/>
                  <a:pt x="2841680" y="613768"/>
                </a:cubicBezTo>
                <a:cubicBezTo>
                  <a:pt x="2841680" y="613768"/>
                  <a:pt x="2841680" y="613768"/>
                  <a:pt x="485308" y="2971609"/>
                </a:cubicBezTo>
                <a:cubicBezTo>
                  <a:pt x="345626" y="3111378"/>
                  <a:pt x="345626" y="3336224"/>
                  <a:pt x="485308" y="3475993"/>
                </a:cubicBezTo>
                <a:cubicBezTo>
                  <a:pt x="485308" y="3475993"/>
                  <a:pt x="485308" y="3475993"/>
                  <a:pt x="1924638" y="4916221"/>
                </a:cubicBezTo>
                <a:cubicBezTo>
                  <a:pt x="2064320" y="5055990"/>
                  <a:pt x="2064320" y="5280836"/>
                  <a:pt x="1924638" y="5420605"/>
                </a:cubicBezTo>
                <a:cubicBezTo>
                  <a:pt x="1924638" y="5420605"/>
                  <a:pt x="1924638" y="5420605"/>
                  <a:pt x="588551" y="6763602"/>
                </a:cubicBezTo>
                <a:cubicBezTo>
                  <a:pt x="521746" y="6830448"/>
                  <a:pt x="430649" y="6866909"/>
                  <a:pt x="333479" y="6866909"/>
                </a:cubicBezTo>
                <a:cubicBezTo>
                  <a:pt x="333479" y="6866909"/>
                  <a:pt x="333479" y="6866909"/>
                  <a:pt x="42616" y="6866909"/>
                </a:cubicBezTo>
                <a:lnTo>
                  <a:pt x="0" y="6866909"/>
                </a:lnTo>
                <a:cubicBezTo>
                  <a:pt x="97173" y="6866909"/>
                  <a:pt x="188272" y="6830448"/>
                  <a:pt x="255079" y="6763602"/>
                </a:cubicBezTo>
                <a:cubicBezTo>
                  <a:pt x="1591205" y="5420605"/>
                  <a:pt x="1591205" y="5420605"/>
                  <a:pt x="1591205" y="5420605"/>
                </a:cubicBezTo>
                <a:cubicBezTo>
                  <a:pt x="1730891" y="5280836"/>
                  <a:pt x="1730891" y="5055990"/>
                  <a:pt x="1591205" y="4916221"/>
                </a:cubicBezTo>
                <a:cubicBezTo>
                  <a:pt x="151833" y="3475993"/>
                  <a:pt x="151833" y="3475993"/>
                  <a:pt x="151833" y="3475993"/>
                </a:cubicBezTo>
                <a:cubicBezTo>
                  <a:pt x="12147" y="3336224"/>
                  <a:pt x="12147" y="3111378"/>
                  <a:pt x="151833" y="2971609"/>
                </a:cubicBezTo>
                <a:cubicBezTo>
                  <a:pt x="2508274" y="613768"/>
                  <a:pt x="2508274" y="613768"/>
                  <a:pt x="2508274" y="613768"/>
                </a:cubicBezTo>
                <a:cubicBezTo>
                  <a:pt x="2647960" y="473999"/>
                  <a:pt x="2647960" y="243076"/>
                  <a:pt x="2508274" y="103307"/>
                </a:cubicBezTo>
                <a:cubicBezTo>
                  <a:pt x="2441468" y="36461"/>
                  <a:pt x="2350368" y="0"/>
                  <a:pt x="2253196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59" name="Freeform 52"/>
          <p:cNvSpPr/>
          <p:nvPr userDrawn="1"/>
        </p:nvSpPr>
        <p:spPr bwMode="auto">
          <a:xfrm>
            <a:off x="3497795" y="6004160"/>
            <a:ext cx="1836635" cy="862751"/>
          </a:xfrm>
          <a:custGeom>
            <a:avLst/>
            <a:gdLst>
              <a:gd name="T0" fmla="*/ 302 w 302"/>
              <a:gd name="T1" fmla="*/ 142 h 142"/>
              <a:gd name="T2" fmla="*/ 173 w 302"/>
              <a:gd name="T3" fmla="*/ 12 h 142"/>
              <a:gd name="T4" fmla="*/ 129 w 302"/>
              <a:gd name="T5" fmla="*/ 12 h 142"/>
              <a:gd name="T6" fmla="*/ 0 w 302"/>
              <a:gd name="T7" fmla="*/ 142 h 142"/>
              <a:gd name="T8" fmla="*/ 302 w 302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2" h="142">
                <a:moveTo>
                  <a:pt x="302" y="142"/>
                </a:moveTo>
                <a:cubicBezTo>
                  <a:pt x="173" y="12"/>
                  <a:pt x="173" y="12"/>
                  <a:pt x="173" y="12"/>
                </a:cubicBezTo>
                <a:cubicBezTo>
                  <a:pt x="161" y="0"/>
                  <a:pt x="142" y="0"/>
                  <a:pt x="129" y="12"/>
                </a:cubicBezTo>
                <a:cubicBezTo>
                  <a:pt x="0" y="142"/>
                  <a:pt x="0" y="142"/>
                  <a:pt x="0" y="142"/>
                </a:cubicBezTo>
                <a:lnTo>
                  <a:pt x="302" y="14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8" name="Freeform 51"/>
          <p:cNvSpPr/>
          <p:nvPr userDrawn="1"/>
        </p:nvSpPr>
        <p:spPr bwMode="auto">
          <a:xfrm>
            <a:off x="8940801" y="-1"/>
            <a:ext cx="1121717" cy="521688"/>
          </a:xfrm>
          <a:custGeom>
            <a:avLst/>
            <a:gdLst>
              <a:gd name="T0" fmla="*/ 0 w 303"/>
              <a:gd name="T1" fmla="*/ 0 h 141"/>
              <a:gd name="T2" fmla="*/ 130 w 303"/>
              <a:gd name="T3" fmla="*/ 129 h 141"/>
              <a:gd name="T4" fmla="*/ 173 w 303"/>
              <a:gd name="T5" fmla="*/ 129 h 141"/>
              <a:gd name="T6" fmla="*/ 303 w 303"/>
              <a:gd name="T7" fmla="*/ 0 h 141"/>
              <a:gd name="T8" fmla="*/ 0 w 303"/>
              <a:gd name="T9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141">
                <a:moveTo>
                  <a:pt x="0" y="0"/>
                </a:moveTo>
                <a:cubicBezTo>
                  <a:pt x="130" y="129"/>
                  <a:pt x="130" y="129"/>
                  <a:pt x="130" y="129"/>
                </a:cubicBezTo>
                <a:cubicBezTo>
                  <a:pt x="142" y="141"/>
                  <a:pt x="161" y="141"/>
                  <a:pt x="173" y="129"/>
                </a:cubicBezTo>
                <a:cubicBezTo>
                  <a:pt x="303" y="0"/>
                  <a:pt x="303" y="0"/>
                  <a:pt x="30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Freeform 53"/>
          <p:cNvSpPr/>
          <p:nvPr userDrawn="1"/>
        </p:nvSpPr>
        <p:spPr bwMode="auto">
          <a:xfrm>
            <a:off x="9417976" y="-1"/>
            <a:ext cx="2774025" cy="3876157"/>
          </a:xfrm>
          <a:custGeom>
            <a:avLst/>
            <a:gdLst>
              <a:gd name="T0" fmla="*/ 23 w 750"/>
              <a:gd name="T1" fmla="*/ 237 h 1048"/>
              <a:gd name="T2" fmla="*/ 243 w 750"/>
              <a:gd name="T3" fmla="*/ 17 h 1048"/>
              <a:gd name="T4" fmla="*/ 285 w 750"/>
              <a:gd name="T5" fmla="*/ 0 h 1048"/>
              <a:gd name="T6" fmla="*/ 750 w 750"/>
              <a:gd name="T7" fmla="*/ 0 h 1048"/>
              <a:gd name="T8" fmla="*/ 750 w 750"/>
              <a:gd name="T9" fmla="*/ 1048 h 1048"/>
              <a:gd name="T10" fmla="*/ 23 w 750"/>
              <a:gd name="T11" fmla="*/ 321 h 1048"/>
              <a:gd name="T12" fmla="*/ 23 w 750"/>
              <a:gd name="T13" fmla="*/ 237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0" h="1048">
                <a:moveTo>
                  <a:pt x="23" y="237"/>
                </a:moveTo>
                <a:cubicBezTo>
                  <a:pt x="243" y="17"/>
                  <a:pt x="243" y="17"/>
                  <a:pt x="243" y="17"/>
                </a:cubicBezTo>
                <a:cubicBezTo>
                  <a:pt x="254" y="6"/>
                  <a:pt x="269" y="0"/>
                  <a:pt x="285" y="0"/>
                </a:cubicBezTo>
                <a:cubicBezTo>
                  <a:pt x="750" y="0"/>
                  <a:pt x="750" y="0"/>
                  <a:pt x="750" y="0"/>
                </a:cubicBezTo>
                <a:cubicBezTo>
                  <a:pt x="750" y="1048"/>
                  <a:pt x="750" y="1048"/>
                  <a:pt x="750" y="1048"/>
                </a:cubicBezTo>
                <a:cubicBezTo>
                  <a:pt x="23" y="321"/>
                  <a:pt x="23" y="321"/>
                  <a:pt x="23" y="321"/>
                </a:cubicBezTo>
                <a:cubicBezTo>
                  <a:pt x="0" y="298"/>
                  <a:pt x="0" y="260"/>
                  <a:pt x="23" y="237"/>
                </a:cubicBezTo>
                <a:close/>
              </a:path>
            </a:pathLst>
          </a:custGeom>
          <a:solidFill>
            <a:srgbClr val="FFB5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椭圆 63"/>
          <p:cNvSpPr/>
          <p:nvPr userDrawn="1"/>
        </p:nvSpPr>
        <p:spPr>
          <a:xfrm>
            <a:off x="10062518" y="1675446"/>
            <a:ext cx="1279178" cy="1279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ctrTitle" hasCustomPrompt="1"/>
          </p:nvPr>
        </p:nvSpPr>
        <p:spPr>
          <a:xfrm>
            <a:off x="4475845" y="2368777"/>
            <a:ext cx="5426076" cy="162150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3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4475845" y="4675013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75846" y="4378742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C73B0-5CBF-4C2B-913F-C8FC7EDBB2EF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modelscope.cn/datasets/lhh010/EuroSAT_RG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00416" y="1492009"/>
            <a:ext cx="104394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决赛成果汇报</a:t>
            </a:r>
            <a:endParaRPr lang="en-US" altLang="zh-CN" sz="54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r>
              <a:rPr lang="zh-CN" altLang="zh-CN" sz="2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Optic-SpaceNet</a:t>
            </a:r>
            <a:r>
              <a:rPr lang="en-US" altLang="zh-CN" sz="2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 · </a:t>
            </a:r>
            <a:r>
              <a:rPr lang="zh-CN" altLang="en-US" sz="2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光学</a:t>
            </a:r>
            <a:r>
              <a:rPr lang="en-US" altLang="zh-CN" sz="2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CNN</a:t>
            </a:r>
            <a:r>
              <a:rPr lang="zh-CN" altLang="en-US" sz="2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在轨加速系统 </a:t>
            </a:r>
            <a:r>
              <a:rPr lang="en-US" altLang="zh-CN" sz="28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×</a:t>
            </a:r>
            <a:r>
              <a:rPr lang="en-US" altLang="zh-CN" sz="2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  MNIST</a:t>
            </a:r>
          </a:p>
          <a:p>
            <a:pPr algn="ctr"/>
            <a:endParaRPr lang="zh-CN" altLang="zh-CN" sz="44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endParaRPr lang="zh-CN" altLang="en-US" sz="40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16" y="190417"/>
            <a:ext cx="1296000" cy="129600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4317999" y="5373950"/>
            <a:ext cx="3404235" cy="539054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CICC 1003564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296000" y="4567603"/>
            <a:ext cx="3600000" cy="553195"/>
            <a:chOff x="4296000" y="3420000"/>
            <a:chExt cx="3600000" cy="553195"/>
          </a:xfrm>
        </p:grpSpPr>
        <p:sp>
          <p:nvSpPr>
            <p:cNvPr id="6" name="圆角矩形 10"/>
            <p:cNvSpPr/>
            <p:nvPr/>
          </p:nvSpPr>
          <p:spPr>
            <a:xfrm>
              <a:off x="4296000" y="3420000"/>
              <a:ext cx="3600000" cy="540000"/>
            </a:xfrm>
            <a:prstGeom prst="roundRect">
              <a:avLst>
                <a:gd name="adj" fmla="val 15518"/>
              </a:avLst>
            </a:prstGeom>
            <a:solidFill>
              <a:schemeClr val="bg1"/>
            </a:solidFill>
            <a:ln w="25400">
              <a:solidFill>
                <a:srgbClr val="142D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4414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18965" y="3420110"/>
              <a:ext cx="3354070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142DA8"/>
                  </a:solidFill>
                  <a:latin typeface="Times New Roman" panose="02020603050405020304" pitchFamily="18" charset="0"/>
                  <a:ea typeface="HarmonyOS Sans SC Black" panose="00000A00000000000000" charset="-122"/>
                </a:rPr>
                <a:t>曦智科技 命题</a:t>
              </a:r>
            </a:p>
          </p:txBody>
        </p:sp>
      </p:grpSp>
      <p:sp>
        <p:nvSpPr>
          <p:cNvPr id="4" name="Card">
            <a:extLst>
              <a:ext uri="{FF2B5EF4-FFF2-40B4-BE49-F238E27FC236}">
                <a16:creationId xmlns:a16="http://schemas.microsoft.com/office/drawing/2014/main" id="{DEFFA991-584D-146C-20DC-4BB3BB7734B7}"/>
              </a:ext>
            </a:extLst>
          </p:cNvPr>
          <p:cNvSpPr>
            <a:spLocks noGrp="1"/>
          </p:cNvSpPr>
          <p:nvPr/>
        </p:nvSpPr>
        <p:spPr>
          <a:xfrm>
            <a:off x="971587" y="3032807"/>
            <a:ext cx="2900384" cy="130240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8F709B-3849-D7E0-6DA6-41FB30F191D0}"/>
              </a:ext>
            </a:extLst>
          </p:cNvPr>
          <p:cNvSpPr txBox="1"/>
          <p:nvPr/>
        </p:nvSpPr>
        <p:spPr>
          <a:xfrm>
            <a:off x="889040" y="3019724"/>
            <a:ext cx="3076464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9</a:t>
            </a:r>
            <a:r>
              <a:rPr lang="en-US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6.40</a:t>
            </a: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%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真机准确率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EuroSAT 10类测试集</a:t>
            </a:r>
            <a:r>
              <a:rPr lang="en-US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1000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endParaRPr lang="en-US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（全量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5400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张的真机准确率为</a:t>
            </a:r>
            <a:r>
              <a:rPr lang="en-US" altLang="zh-CN" sz="1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95.33%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7" name="Card">
            <a:extLst>
              <a:ext uri="{FF2B5EF4-FFF2-40B4-BE49-F238E27FC236}">
                <a16:creationId xmlns:a16="http://schemas.microsoft.com/office/drawing/2014/main" id="{25F90849-1B9A-491A-708C-CA2F125E9D6E}"/>
              </a:ext>
            </a:extLst>
          </p:cNvPr>
          <p:cNvSpPr>
            <a:spLocks noGrp="1"/>
          </p:cNvSpPr>
          <p:nvPr/>
        </p:nvSpPr>
        <p:spPr>
          <a:xfrm>
            <a:off x="4190814" y="3036928"/>
            <a:ext cx="2267939" cy="1284708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B56B7C2-7A9E-486D-148C-F5A1B7F29085}"/>
              </a:ext>
            </a:extLst>
          </p:cNvPr>
          <p:cNvSpPr txBox="1"/>
          <p:nvPr/>
        </p:nvSpPr>
        <p:spPr>
          <a:xfrm>
            <a:off x="3945348" y="3014997"/>
            <a:ext cx="277139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0.36pt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hw-GPU 极小差距</a:t>
            </a:r>
            <a:endParaRPr lang="en-US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en-US" altLang="zh-CN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1000</a:t>
            </a: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抽样；全量 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−1.43pt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硬件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净</a:t>
            </a: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损失仅 9/1000 样本</a:t>
            </a:r>
          </a:p>
        </p:txBody>
      </p:sp>
      <p:sp>
        <p:nvSpPr>
          <p:cNvPr id="21" name="Card">
            <a:extLst>
              <a:ext uri="{FF2B5EF4-FFF2-40B4-BE49-F238E27FC236}">
                <a16:creationId xmlns:a16="http://schemas.microsoft.com/office/drawing/2014/main" id="{19BF8956-E6A1-4D5B-70A2-63E75B223303}"/>
              </a:ext>
            </a:extLst>
          </p:cNvPr>
          <p:cNvSpPr>
            <a:spLocks noGrp="1"/>
          </p:cNvSpPr>
          <p:nvPr/>
        </p:nvSpPr>
        <p:spPr>
          <a:xfrm>
            <a:off x="6837881" y="3035694"/>
            <a:ext cx="1777931" cy="1214549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4265770-D1DF-5063-099D-5F16B82DC02D}"/>
              </a:ext>
            </a:extLst>
          </p:cNvPr>
          <p:cNvSpPr txBox="1"/>
          <p:nvPr/>
        </p:nvSpPr>
        <p:spPr>
          <a:xfrm>
            <a:off x="6804414" y="3067051"/>
            <a:ext cx="1903977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</a:rPr>
              <a:t>2.56M</a:t>
            </a: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 </a:t>
            </a: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MACs 运算量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en-US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1/61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Model1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的计算量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7" name="Card">
            <a:extLst>
              <a:ext uri="{FF2B5EF4-FFF2-40B4-BE49-F238E27FC236}">
                <a16:creationId xmlns:a16="http://schemas.microsoft.com/office/drawing/2014/main" id="{E8093B35-3B53-9064-36A8-42BBA87E1905}"/>
              </a:ext>
            </a:extLst>
          </p:cNvPr>
          <p:cNvSpPr>
            <a:spLocks noGrp="1"/>
          </p:cNvSpPr>
          <p:nvPr/>
        </p:nvSpPr>
        <p:spPr>
          <a:xfrm>
            <a:off x="8980389" y="3017685"/>
            <a:ext cx="2868465" cy="1219363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5A86AE7-41F6-9B21-3CCE-94D44392E85C}"/>
              </a:ext>
            </a:extLst>
          </p:cNvPr>
          <p:cNvSpPr txBox="1"/>
          <p:nvPr/>
        </p:nvSpPr>
        <p:spPr>
          <a:xfrm>
            <a:off x="9053766" y="3082069"/>
            <a:ext cx="272171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1/103</a:t>
            </a:r>
            <a:r>
              <a:rPr lang="zh-CN" altLang="en-US" sz="3600" dirty="0">
                <a:solidFill>
                  <a:srgbClr val="DA6579"/>
                </a:solidFill>
                <a:latin typeface="Poppins" panose="00000500000000000000" pitchFamily="2" charset="0"/>
              </a:rPr>
              <a:t>算力</a:t>
            </a:r>
            <a:endParaRPr lang="zh-CN" altLang="zh-CN" sz="3600" dirty="0">
              <a:solidFill>
                <a:srgbClr val="DA6579"/>
              </a:solidFill>
              <a:latin typeface="Poppins" panose="00000500000000000000" pitchFamily="2" charset="0"/>
            </a:endParaRP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M9  </a:t>
            </a:r>
            <a:r>
              <a:rPr lang="zh-CN" altLang="en-US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全</a:t>
            </a:r>
            <a:r>
              <a:rPr lang="zh-CN" altLang="en-US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量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94.43% </a:t>
            </a:r>
            <a:endParaRPr lang="en-US" altLang="zh-CN" sz="12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≤2M 预算冠军，双 seed 95.87/95.69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7A7EF-D2D2-F984-DE36-0E78D9A0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01BAEE-8E33-440F-6213-CD15B2606CEA}"/>
              </a:ext>
            </a:extLst>
          </p:cNvPr>
          <p:cNvSpPr txBox="1"/>
          <p:nvPr/>
        </p:nvSpPr>
        <p:spPr>
          <a:xfrm>
            <a:off x="718922" y="19883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快速预览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(1/3)</a:t>
            </a:r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855993-02C8-1E3F-9DA3-EA33ED3EE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930D5BD9-49CB-B095-61D5-83FA38A4F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8AD08F4-FA87-3556-D8D3-5B2B336C5E48}"/>
              </a:ext>
            </a:extLst>
          </p:cNvPr>
          <p:cNvSpPr txBox="1"/>
          <p:nvPr/>
        </p:nvSpPr>
        <p:spPr>
          <a:xfrm>
            <a:off x="3877772" y="374006"/>
            <a:ext cx="551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测量 → 归因 → 建模 → 训练 → 联合设计 → 部署验证</a:t>
            </a:r>
            <a:endParaRPr lang="zh-CN" altLang="en-US" dirty="0"/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863BFA60-C910-ABCE-4A5F-824C73F6E803}"/>
              </a:ext>
            </a:extLst>
          </p:cNvPr>
          <p:cNvSpPr>
            <a:spLocks noGrp="1"/>
          </p:cNvSpPr>
          <p:nvPr/>
        </p:nvSpPr>
        <p:spPr>
          <a:xfrm>
            <a:off x="801469" y="941738"/>
            <a:ext cx="2900384" cy="130240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45ED9A-210D-B324-CEAC-67B27220D1B6}"/>
              </a:ext>
            </a:extLst>
          </p:cNvPr>
          <p:cNvSpPr txBox="1"/>
          <p:nvPr/>
        </p:nvSpPr>
        <p:spPr>
          <a:xfrm>
            <a:off x="718922" y="928655"/>
            <a:ext cx="3076464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9</a:t>
            </a:r>
            <a:r>
              <a:rPr lang="en-US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6.40</a:t>
            </a: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%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真机准确率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EuroSAT 10类测试集</a:t>
            </a:r>
            <a:r>
              <a:rPr lang="en-US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1000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endParaRPr lang="en-US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（全量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5400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张的真机准确率为</a:t>
            </a:r>
            <a:r>
              <a:rPr lang="en-US" altLang="zh-CN" sz="1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95.33%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6" name="Card">
            <a:extLst>
              <a:ext uri="{FF2B5EF4-FFF2-40B4-BE49-F238E27FC236}">
                <a16:creationId xmlns:a16="http://schemas.microsoft.com/office/drawing/2014/main" id="{A478CC24-8559-A018-5ACC-033630EA8120}"/>
              </a:ext>
            </a:extLst>
          </p:cNvPr>
          <p:cNvSpPr>
            <a:spLocks noGrp="1"/>
          </p:cNvSpPr>
          <p:nvPr/>
        </p:nvSpPr>
        <p:spPr>
          <a:xfrm>
            <a:off x="4020696" y="945859"/>
            <a:ext cx="2267939" cy="1284708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66B7B5-2CE4-31F1-9DEC-8AE4FD4A5EE5}"/>
              </a:ext>
            </a:extLst>
          </p:cNvPr>
          <p:cNvSpPr txBox="1"/>
          <p:nvPr/>
        </p:nvSpPr>
        <p:spPr>
          <a:xfrm>
            <a:off x="3775230" y="923928"/>
            <a:ext cx="277139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0.36pt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hw-GPU 极小差距</a:t>
            </a:r>
            <a:endParaRPr lang="en-US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en-US" altLang="zh-CN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1000</a:t>
            </a: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抽样；全量 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−1.43pt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硬件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净</a:t>
            </a: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损失仅 9/1000 样本</a:t>
            </a:r>
          </a:p>
        </p:txBody>
      </p:sp>
      <p:sp>
        <p:nvSpPr>
          <p:cNvPr id="20" name="Card">
            <a:extLst>
              <a:ext uri="{FF2B5EF4-FFF2-40B4-BE49-F238E27FC236}">
                <a16:creationId xmlns:a16="http://schemas.microsoft.com/office/drawing/2014/main" id="{10432BF8-8A70-991A-906E-85D25276E1DA}"/>
              </a:ext>
            </a:extLst>
          </p:cNvPr>
          <p:cNvSpPr>
            <a:spLocks noGrp="1"/>
          </p:cNvSpPr>
          <p:nvPr/>
        </p:nvSpPr>
        <p:spPr>
          <a:xfrm>
            <a:off x="6667763" y="944625"/>
            <a:ext cx="1777931" cy="1214549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5C4613-27E2-BD60-2C6E-FA418981E685}"/>
              </a:ext>
            </a:extLst>
          </p:cNvPr>
          <p:cNvSpPr txBox="1"/>
          <p:nvPr/>
        </p:nvSpPr>
        <p:spPr>
          <a:xfrm>
            <a:off x="6634296" y="975982"/>
            <a:ext cx="1903977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</a:rPr>
              <a:t>2.56M</a:t>
            </a: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 </a:t>
            </a: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MACs 运算量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en-US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1/61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Model1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的计算量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DE51519-2BEE-300A-3CE4-8F66A347EE6A}"/>
              </a:ext>
            </a:extLst>
          </p:cNvPr>
          <p:cNvSpPr txBox="1"/>
          <p:nvPr/>
        </p:nvSpPr>
        <p:spPr>
          <a:xfrm>
            <a:off x="2141215" y="2433050"/>
            <a:ext cx="966978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ts val="13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真机测量</a:t>
            </a:r>
            <a:r>
              <a:rPr lang="zh-CN" altLang="zh-CN" b="0" i="0" dirty="0">
                <a:effectLst/>
                <a:latin typeface="-apple-system"/>
              </a:rPr>
              <a:t>：固定底噪 4.5 counts ≠ 仿真器 ~1% 相对噪声（E5 三值域配对实验）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噪声归因</a:t>
            </a:r>
            <a:r>
              <a:rPr lang="zh-CN" altLang="zh-CN" b="0" i="0" dirty="0">
                <a:effectLst/>
                <a:latin typeface="-apple-system"/>
              </a:rPr>
              <a:t>：三组分结构化（列偏移 4–23% / 列增益 1–3% / δW 21–50%）</a:t>
            </a:r>
            <a:endParaRPr lang="en-US" altLang="zh-CN" dirty="0"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b="0" i="0" dirty="0">
                <a:solidFill>
                  <a:schemeClr val="bg2">
                    <a:lumMod val="75000"/>
                  </a:schemeClr>
                </a:solidFill>
                <a:effectLst/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iid 单标量模型被实测否定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组分训练</a:t>
            </a:r>
            <a:r>
              <a:rPr lang="zh-CN" altLang="zh-CN" b="0" i="0" dirty="0">
                <a:effectLst/>
                <a:latin typeface="-apple-system"/>
              </a:rPr>
              <a:t>：v8 按批重采样三组分×1.5 余量 </a:t>
            </a:r>
            <a:endParaRPr lang="en-US" altLang="zh-CN" dirty="0"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REP 多次投票无效（误差 95% run 间可复现）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架构联合设计</a:t>
            </a:r>
            <a:r>
              <a:rPr lang="zh-CN" altLang="zh-CN" b="0" i="0" dirty="0">
                <a:effectLst/>
                <a:latin typeface="-apple-system"/>
              </a:rPr>
              <a:t>：X0 13 臂对照 → conv3s2 家族胜出 </a:t>
            </a:r>
            <a:endParaRPr lang="en-US" altLang="zh-CN" b="0" i="0" dirty="0">
              <a:effectLst/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MaxPool（M7）有偏传播，决定性对照差 12.1pt；3×3 层（M5）δW 不可校准差 2.6pt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逐列校准</a:t>
            </a:r>
            <a:r>
              <a:rPr lang="zh-CN" altLang="zh-CN" b="0" i="0" dirty="0">
                <a:effectLst/>
                <a:latin typeface="-apple-system"/>
              </a:rPr>
              <a:t>：ABA 净提升 +1.5pt（92.60→94.60）</a:t>
            </a:r>
            <a:endParaRPr lang="en-US" altLang="zh-CN" b="0" i="0" dirty="0">
              <a:effectLst/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 </a:t>
            </a:r>
            <a:r>
              <a:rPr lang="zh-CN" altLang="zh-CN" b="0" i="0" dirty="0">
                <a:effectLst/>
                <a:latin typeface="-apple-system"/>
              </a:rPr>
              <a:t>标量校准 / calib json 跨窗口复用均被否定</a:t>
            </a:r>
          </a:p>
          <a:p>
            <a:pPr marL="342900" marR="0" lvl="0" indent="-342900" algn="l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b="1" i="0" dirty="0">
                <a:effectLst/>
                <a:latin typeface="-apple-system"/>
              </a:rPr>
              <a:t>调度纪律</a:t>
            </a:r>
            <a:r>
              <a:rPr lang="zh-CN" altLang="zh-CN" b="0" i="0" dirty="0">
                <a:effectLst/>
                <a:latin typeface="-apple-system"/>
              </a:rPr>
              <a:t>：20min fresh 校准</a:t>
            </a:r>
            <a:endParaRPr lang="en-US" altLang="zh-CN" b="0" i="0" dirty="0">
              <a:effectLst/>
              <a:latin typeface="-apple-system"/>
            </a:endParaRPr>
          </a:p>
          <a:p>
            <a:pPr lvl="1">
              <a:lnSpc>
                <a:spcPts val="1300"/>
              </a:lnSpc>
              <a:spcBef>
                <a:spcPts val="450"/>
              </a:spcBef>
              <a:spcAft>
                <a:spcPts val="1200"/>
              </a:spcAft>
            </a:pP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latin typeface="-apple-system"/>
              </a:rPr>
              <a:t>✗</a:t>
            </a:r>
            <a:r>
              <a:rPr lang="zh-CN" altLang="zh-CN" b="0" i="0" dirty="0">
                <a:effectLst/>
                <a:latin typeface="-apple-system"/>
              </a:rPr>
              <a:t> stale 校准 −12.5pt；热崩溃 0% → ≥1h 冷却恢复</a:t>
            </a:r>
          </a:p>
        </p:txBody>
      </p:sp>
      <p:sp>
        <p:nvSpPr>
          <p:cNvPr id="46" name="Card">
            <a:extLst>
              <a:ext uri="{FF2B5EF4-FFF2-40B4-BE49-F238E27FC236}">
                <a16:creationId xmlns:a16="http://schemas.microsoft.com/office/drawing/2014/main" id="{25A9A9FD-064A-20DA-9C6D-8D823E574BA7}"/>
              </a:ext>
            </a:extLst>
          </p:cNvPr>
          <p:cNvSpPr>
            <a:spLocks noGrp="1"/>
          </p:cNvSpPr>
          <p:nvPr/>
        </p:nvSpPr>
        <p:spPr>
          <a:xfrm>
            <a:off x="8887844" y="939811"/>
            <a:ext cx="2868465" cy="1219363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2A801D0-175C-F7A6-D36B-D7E42DEAC205}"/>
              </a:ext>
            </a:extLst>
          </p:cNvPr>
          <p:cNvSpPr txBox="1"/>
          <p:nvPr/>
        </p:nvSpPr>
        <p:spPr>
          <a:xfrm>
            <a:off x="8961221" y="1004195"/>
            <a:ext cx="272171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1/103</a:t>
            </a:r>
            <a:r>
              <a:rPr lang="zh-CN" altLang="en-US" sz="3600" dirty="0">
                <a:solidFill>
                  <a:srgbClr val="DA6579"/>
                </a:solidFill>
                <a:latin typeface="Poppins" panose="00000500000000000000" pitchFamily="2" charset="0"/>
              </a:rPr>
              <a:t>算力</a:t>
            </a:r>
            <a:endParaRPr lang="zh-CN" altLang="zh-CN" sz="3600" dirty="0">
              <a:solidFill>
                <a:srgbClr val="DA6579"/>
              </a:solidFill>
              <a:latin typeface="Poppins" panose="00000500000000000000" pitchFamily="2" charset="0"/>
            </a:endParaRP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M9  </a:t>
            </a:r>
            <a:r>
              <a:rPr lang="zh-CN" altLang="en-US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全</a:t>
            </a:r>
            <a:r>
              <a:rPr lang="zh-CN" altLang="en-US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量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94.43% </a:t>
            </a:r>
            <a:endParaRPr lang="en-US" altLang="zh-CN" sz="12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≤2M 预算冠军，双 seed 95.87/95.69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F5C01D-43CE-78AA-7BB8-36E0645C2791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02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7EFF10-441D-CA59-ACCD-39758A3998E4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325174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C724-485E-C8EC-1F68-83F8D557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9858C8-10D3-1135-48DB-2936E3CE612A}"/>
              </a:ext>
            </a:extLst>
          </p:cNvPr>
          <p:cNvSpPr txBox="1"/>
          <p:nvPr/>
        </p:nvSpPr>
        <p:spPr>
          <a:xfrm>
            <a:off x="718922" y="19883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快速预览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(2/3)</a:t>
            </a:r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273EE53-60A4-80C9-4FA4-3B6820F50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40F6E61C-4CE3-5B33-8EA7-74EABAFAE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32343952-879E-6A5A-9AB4-10A73FFEFEA4}"/>
              </a:ext>
            </a:extLst>
          </p:cNvPr>
          <p:cNvSpPr txBox="1"/>
          <p:nvPr/>
        </p:nvSpPr>
        <p:spPr>
          <a:xfrm>
            <a:off x="2453333" y="5889933"/>
            <a:ext cx="8129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i="0" dirty="0">
                <a:effectLst/>
                <a:latin typeface="-apple-system"/>
              </a:rPr>
              <a:t> </a:t>
            </a:r>
            <a:r>
              <a:rPr lang="zh-CN" altLang="zh-CN" sz="1600" b="0" i="0" dirty="0">
                <a:effectLst/>
                <a:latin typeface="-apple-system"/>
              </a:rPr>
              <a:t>QAT clean（R1–R8）· v8（M5–M10）· </a:t>
            </a:r>
            <a:r>
              <a:rPr lang="zh-CN" altLang="zh-CN" sz="1600" i="0" dirty="0">
                <a:effectLst/>
                <a:latin typeface="-apple-system"/>
              </a:rPr>
              <a:t>真机全量 5400（★）</a:t>
            </a:r>
            <a:endParaRPr lang="en-US" altLang="zh-CN" sz="1600" i="0" dirty="0">
              <a:effectLst/>
              <a:latin typeface="-apple-system"/>
            </a:endParaRPr>
          </a:p>
          <a:p>
            <a:r>
              <a:rPr lang="zh-CN" altLang="zh-CN" sz="2400" b="0" i="0" dirty="0">
                <a:solidFill>
                  <a:srgbClr val="00B050"/>
                </a:solidFill>
                <a:effectLst/>
                <a:latin typeface="-apple-system"/>
              </a:rPr>
              <a:t>★</a:t>
            </a:r>
            <a:r>
              <a:rPr lang="zh-CN" altLang="zh-CN" sz="1600" b="0" i="0" dirty="0">
                <a:effectLst/>
                <a:latin typeface="-apple-system"/>
              </a:rPr>
              <a:t> = 2026-08-17 收官</a:t>
            </a:r>
            <a:r>
              <a:rPr lang="en-US" altLang="zh-CN" sz="1600" b="0" i="0" dirty="0">
                <a:effectLst/>
                <a:latin typeface="-apple-system"/>
              </a:rPr>
              <a:t>        </a:t>
            </a:r>
            <a:r>
              <a:rPr lang="zh-CN" altLang="zh-CN" sz="1600" b="0" i="0" dirty="0">
                <a:effectLst/>
                <a:latin typeface="-apple-system"/>
              </a:rPr>
              <a:t> M10 · 2.56M · </a:t>
            </a:r>
            <a:r>
              <a:rPr lang="zh-CN" altLang="zh-CN" sz="1600" b="1" i="0" dirty="0">
                <a:effectLst/>
                <a:latin typeface="-apple-system"/>
              </a:rPr>
              <a:t>95.33%</a:t>
            </a:r>
            <a:r>
              <a:rPr lang="zh-CN" altLang="zh-CN" sz="1600" b="0" i="0" dirty="0">
                <a:effectLst/>
                <a:latin typeface="-apple-system"/>
              </a:rPr>
              <a:t> ｜ M9 · 1.52M · </a:t>
            </a:r>
            <a:r>
              <a:rPr lang="zh-CN" altLang="zh-CN" sz="1600" b="1" i="0" dirty="0">
                <a:effectLst/>
                <a:latin typeface="-apple-system"/>
              </a:rPr>
              <a:t>94.43%</a:t>
            </a:r>
            <a:r>
              <a:rPr lang="zh-CN" altLang="zh-CN" sz="1600" b="0" i="0" dirty="0">
                <a:effectLst/>
                <a:latin typeface="-apple-system"/>
              </a:rPr>
              <a:t>（≤2M 预算内冠军）</a:t>
            </a:r>
            <a:endParaRPr lang="zh-CN" altLang="en-US" sz="2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296DE34-B25C-E298-6A38-3EC1FD0A731D}"/>
              </a:ext>
            </a:extLst>
          </p:cNvPr>
          <p:cNvSpPr txBox="1"/>
          <p:nvPr/>
        </p:nvSpPr>
        <p:spPr>
          <a:xfrm>
            <a:off x="4982166" y="50644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各模型帕累托图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57BA7C-4CB9-40CF-F511-5DE94817E66F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03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39ECEC-F70C-DAF9-FC02-1C33797C9935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9797B7-B91C-D8EB-536D-0D9A5C4B741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" y="1082753"/>
            <a:ext cx="12192000" cy="4876800"/>
          </a:xfrm>
          <a:prstGeom prst="rect">
            <a:avLst/>
          </a:prstGeom>
        </p:spPr>
      </p:pic>
      <p:sp>
        <p:nvSpPr>
          <p:cNvPr id="13" name="箭头: 右 12">
            <a:extLst>
              <a:ext uri="{FF2B5EF4-FFF2-40B4-BE49-F238E27FC236}">
                <a16:creationId xmlns:a16="http://schemas.microsoft.com/office/drawing/2014/main" id="{0C4E4153-1813-1DC2-CB31-F646264EE79B}"/>
              </a:ext>
            </a:extLst>
          </p:cNvPr>
          <p:cNvSpPr/>
          <p:nvPr/>
        </p:nvSpPr>
        <p:spPr>
          <a:xfrm rot="11326064">
            <a:off x="2864783" y="3306155"/>
            <a:ext cx="500049" cy="18514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3B7EBC-6991-99F1-AB58-5E5635733577}"/>
              </a:ext>
            </a:extLst>
          </p:cNvPr>
          <p:cNvSpPr txBox="1"/>
          <p:nvPr/>
        </p:nvSpPr>
        <p:spPr>
          <a:xfrm>
            <a:off x="2885305" y="3464773"/>
            <a:ext cx="151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i="0" dirty="0">
                <a:effectLst/>
                <a:latin typeface="-apple-system"/>
              </a:rPr>
              <a:t>M10 · 2.56M · 真机 96.40% (n=1000) / 95.33% (全量)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B9FAB2-F4E6-9010-145A-ACE3DC7F4E84}"/>
              </a:ext>
            </a:extLst>
          </p:cNvPr>
          <p:cNvSpPr txBox="1"/>
          <p:nvPr/>
        </p:nvSpPr>
        <p:spPr>
          <a:xfrm>
            <a:off x="2319804" y="4306750"/>
            <a:ext cx="1322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0" i="0" dirty="0">
                <a:effectLst/>
                <a:latin typeface="-apple-system"/>
              </a:rPr>
              <a:t>M9 · 1.52M · 真机 94.43% </a:t>
            </a:r>
            <a:endParaRPr lang="en-US" altLang="zh-CN" sz="1200" dirty="0">
              <a:latin typeface="-apple-system"/>
            </a:endParaRPr>
          </a:p>
          <a:p>
            <a:r>
              <a:rPr lang="zh-CN" altLang="zh-CN" sz="1200" b="0" i="0" dirty="0">
                <a:effectLst/>
                <a:latin typeface="-apple-system"/>
              </a:rPr>
              <a:t>≤2M 预算冠军</a:t>
            </a:r>
            <a:endParaRPr lang="zh-CN" altLang="en-US" dirty="0"/>
          </a:p>
        </p:txBody>
      </p:sp>
      <p:sp>
        <p:nvSpPr>
          <p:cNvPr id="20" name="箭头: 燕尾形 19">
            <a:extLst>
              <a:ext uri="{FF2B5EF4-FFF2-40B4-BE49-F238E27FC236}">
                <a16:creationId xmlns:a16="http://schemas.microsoft.com/office/drawing/2014/main" id="{B271E3E5-1F70-86E3-3AB3-3B3D5B7DF988}"/>
              </a:ext>
            </a:extLst>
          </p:cNvPr>
          <p:cNvSpPr/>
          <p:nvPr/>
        </p:nvSpPr>
        <p:spPr>
          <a:xfrm rot="582065">
            <a:off x="4176139" y="3470181"/>
            <a:ext cx="1420368" cy="283946"/>
          </a:xfrm>
          <a:prstGeom prst="notched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B1B19F86-0B09-4EE5-33A5-8128E1CE20F4}"/>
              </a:ext>
            </a:extLst>
          </p:cNvPr>
          <p:cNvSpPr/>
          <p:nvPr/>
        </p:nvSpPr>
        <p:spPr>
          <a:xfrm rot="12863920">
            <a:off x="1857483" y="4048366"/>
            <a:ext cx="886926" cy="12547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8DCEFBA-35BD-A73A-32D7-7A56A8DC9C3A}"/>
              </a:ext>
            </a:extLst>
          </p:cNvPr>
          <p:cNvSpPr txBox="1"/>
          <p:nvPr/>
        </p:nvSpPr>
        <p:spPr>
          <a:xfrm>
            <a:off x="4908685" y="2785832"/>
            <a:ext cx="22107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effectLst/>
                <a:latin typeface="-apple-system"/>
              </a:rPr>
              <a:t>M4 用 6.6× 算力（17M），真机全量反而低 1.14pt（94.19% vs M10 95.33%）→ 模型在噪声口径下收益饱和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720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B2088-6F1F-0333-4E37-B5942021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F4E850-C976-A74D-D33C-9273E049D193}"/>
              </a:ext>
            </a:extLst>
          </p:cNvPr>
          <p:cNvSpPr txBox="1"/>
          <p:nvPr/>
        </p:nvSpPr>
        <p:spPr>
          <a:xfrm>
            <a:off x="718922" y="19883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快速预览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(3/3)</a:t>
            </a:r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865D582-A15F-68F4-A6BE-E7C435BAA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23728491-DD54-6EE8-5DE1-3BF38C99B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05CD63A-033B-3F4C-72CF-71C03ECE16C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26" y="1170351"/>
            <a:ext cx="6369844" cy="415716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706863E6-B643-A84E-928C-6D73C96BE6C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18" y="1530488"/>
            <a:ext cx="5923613" cy="325046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FBC0E5F-1F64-92EF-D0BE-FD62B93FD254}"/>
              </a:ext>
            </a:extLst>
          </p:cNvPr>
          <p:cNvSpPr txBox="1"/>
          <p:nvPr/>
        </p:nvSpPr>
        <p:spPr>
          <a:xfrm>
            <a:off x="6096000" y="5564538"/>
            <a:ext cx="5903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i="0" dirty="0">
                <a:effectLst/>
                <a:latin typeface="-apple-system"/>
              </a:rPr>
              <a:t>同一块 Gazelle 真机、同一任务：90.60% → 96.40%（抽样）→ 全量 5400 上 95.33%，每一步跃升都有实测归因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492BB-DE25-22E4-1331-D9E9766EC3E4}"/>
              </a:ext>
            </a:extLst>
          </p:cNvPr>
          <p:cNvSpPr txBox="1"/>
          <p:nvPr/>
        </p:nvSpPr>
        <p:spPr>
          <a:xfrm>
            <a:off x="2404997" y="5487594"/>
            <a:ext cx="2215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上板精度</a:t>
            </a:r>
            <a:r>
              <a:rPr lang="en-US" altLang="zh-CN" sz="2000" b="1" dirty="0"/>
              <a:t>Pareto</a:t>
            </a:r>
            <a:r>
              <a:rPr lang="zh-CN" altLang="en-US" sz="2000" b="1" dirty="0"/>
              <a:t>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D7B07C-F62F-2466-BC3E-5F3AC9714309}"/>
              </a:ext>
            </a:extLst>
          </p:cNvPr>
          <p:cNvSpPr txBox="1"/>
          <p:nvPr/>
        </p:nvSpPr>
        <p:spPr>
          <a:xfrm>
            <a:off x="7643673" y="4779286"/>
            <a:ext cx="3882019" cy="44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100" b="1" i="0" dirty="0">
                <a:effectLst/>
                <a:latin typeface="-apple-system"/>
              </a:rPr>
              <a:t>各阶段均为真机实测（n=1000，同窗口校准口径）</a:t>
            </a:r>
            <a:endParaRPr lang="en-US" altLang="zh-CN" sz="1100" b="1" i="0" dirty="0">
              <a:effectLst/>
              <a:latin typeface="-apple-system"/>
            </a:endParaRPr>
          </a:p>
          <a:p>
            <a:r>
              <a:rPr lang="zh-CN" altLang="zh-CN" sz="1100" b="1" i="0" dirty="0">
                <a:effectLst/>
                <a:latin typeface="-apple-system"/>
              </a:rPr>
              <a:t>最终全量 5400 张收官：M10 95.33% / M9 94.43%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C105D1-06DF-4BA1-7EF6-EBAA583EF206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04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7382EB-E3EB-1110-FE96-5A92F6152E6F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BD7086-5B6A-9BA6-D927-58E173337940}"/>
              </a:ext>
            </a:extLst>
          </p:cNvPr>
          <p:cNvSpPr txBox="1"/>
          <p:nvPr/>
        </p:nvSpPr>
        <p:spPr>
          <a:xfrm>
            <a:off x="2706934" y="2367517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08348A-9FDA-B44C-45CA-7FD2D6C32083}"/>
              </a:ext>
            </a:extLst>
          </p:cNvPr>
          <p:cNvSpPr txBox="1"/>
          <p:nvPr/>
        </p:nvSpPr>
        <p:spPr>
          <a:xfrm>
            <a:off x="3174905" y="2733550"/>
            <a:ext cx="269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⭐</a:t>
            </a:r>
          </a:p>
        </p:txBody>
      </p:sp>
    </p:spTree>
    <p:extLst>
      <p:ext uri="{BB962C8B-B14F-4D97-AF65-F5344CB8AC3E}">
        <p14:creationId xmlns:p14="http://schemas.microsoft.com/office/powerpoint/2010/main" val="77565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8922" y="19883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在轨遥感计算的结构性困境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49810" y="4938381"/>
            <a:ext cx="4217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光计算核心芯片抗 SEU 辐射能力强，但外围的 DAC/ADC、FPGA 等电气模块仍需辅以常规宇航加固措施。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35567"/>
              </p:ext>
            </p:extLst>
          </p:nvPr>
        </p:nvGraphicFramePr>
        <p:xfrm>
          <a:off x="5347096" y="1013569"/>
          <a:ext cx="6251669" cy="3672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397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评价指标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电子计算 (GPU/ASIC)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光学计算核 (Gazelle)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397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功耗与散热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极高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</a:t>
                      </a:r>
                      <a:r>
                        <a:rPr lang="zh-CN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低</a:t>
                      </a:r>
                      <a:endParaRPr lang="zh-CN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834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单粒子翻转 (SEU)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高发 (需复杂冗余纠错)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天然免疫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201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计算延迟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受寄存器、总线带宽限制</a:t>
                      </a:r>
                      <a:endParaRPr lang="zh-CN" alt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光速波分/并行相干运算</a:t>
                      </a:r>
                      <a:endParaRPr lang="zh-CN" alt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35">
                <a:tc>
                  <a:txBody>
                    <a:bodyPr/>
                    <a:lstStyle/>
                    <a:p>
                      <a:r>
                        <a:rPr lang="zh-CN" altLang="zh-CN" sz="20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太空退化寿命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电学老化、寿命5-10年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无电偏置老化、寿命&gt;10年</a:t>
                      </a:r>
                      <a:endParaRPr lang="zh-CN" altLang="en-US" sz="20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48" y="1446974"/>
            <a:ext cx="4648711" cy="30991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EF1AF3C-78CF-8715-D31E-48BA14C51A5A}"/>
              </a:ext>
            </a:extLst>
          </p:cNvPr>
          <p:cNvSpPr txBox="1"/>
          <p:nvPr/>
        </p:nvSpPr>
        <p:spPr>
          <a:xfrm>
            <a:off x="558829" y="5174897"/>
            <a:ext cx="74922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800" dirty="0"/>
              <a:t>光计算优势：</a:t>
            </a:r>
            <a:r>
              <a:rPr lang="zh-CN" altLang="zh-CN" sz="2800" b="1" dirty="0"/>
              <a:t>低功耗</a:t>
            </a:r>
            <a:r>
              <a:rPr lang="zh-CN" altLang="zh-CN" sz="2800" dirty="0"/>
              <a:t>、</a:t>
            </a:r>
            <a:r>
              <a:rPr lang="zh-CN" altLang="zh-CN" sz="2800" b="1" dirty="0"/>
              <a:t>高吞吐</a:t>
            </a:r>
            <a:r>
              <a:rPr lang="zh-CN" altLang="zh-CN" sz="2800" dirty="0"/>
              <a:t>矩阵乘法；光学器件</a:t>
            </a:r>
            <a:r>
              <a:rPr lang="zh-CN" altLang="zh-CN" sz="2800" b="1" dirty="0"/>
              <a:t>无电荷存储态</a:t>
            </a:r>
            <a:r>
              <a:rPr lang="zh-CN" altLang="zh-CN" sz="2800" dirty="0"/>
              <a:t>，在</a:t>
            </a:r>
            <a:r>
              <a:rPr lang="zh-CN" altLang="en-US" sz="2800" dirty="0"/>
              <a:t>太空环境</a:t>
            </a:r>
            <a:r>
              <a:rPr lang="zh-CN" altLang="zh-CN" sz="2800" dirty="0"/>
              <a:t>有潜在优势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1B542B-2936-2370-9FAC-1504FEB77896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05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F659D1-7584-BD60-8220-F458B7D34155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85915" y="2409570"/>
            <a:ext cx="5552940" cy="251464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9704" y="19181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遥感数据集与十类地物分类任务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193" y="738079"/>
            <a:ext cx="7043576" cy="52014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97680" y="6048460"/>
            <a:ext cx="710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数据集：</a:t>
            </a:r>
            <a:r>
              <a:rPr lang="en-US" altLang="en-US" dirty="0">
                <a:hlinkClick r:id="rId4" action="ppaction://hlinkfile"/>
              </a:rPr>
              <a:t>https://www.modelscope.cn/datasets/lhh010/EuroSAT_RGB</a:t>
            </a:r>
            <a:endParaRPr lang="en-US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FF8654A-4EA0-6025-556E-C3186FC5352A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06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0BBA95-9F47-0378-7D5E-E2FA046E3B85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D5CE-7194-7D15-F56F-0BB03564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4CFD27-0EF4-D018-7814-0669C547FC95}"/>
              </a:ext>
            </a:extLst>
          </p:cNvPr>
          <p:cNvSpPr txBox="1"/>
          <p:nvPr/>
        </p:nvSpPr>
        <p:spPr>
          <a:xfrm>
            <a:off x="780028" y="231454"/>
            <a:ext cx="541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仿真器 vs Gazelle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真机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F8A619D-B48F-923C-B82E-FE92579CF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>
            <a:extLst>
              <a:ext uri="{FF2B5EF4-FFF2-40B4-BE49-F238E27FC236}">
                <a16:creationId xmlns:a16="http://schemas.microsoft.com/office/drawing/2014/main" id="{E23E43F4-EBB8-88FB-3D9B-B2BB702C1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19A2540-58D3-6ACA-AE8D-A90BFD7E3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550634"/>
              </p:ext>
            </p:extLst>
          </p:nvPr>
        </p:nvGraphicFramePr>
        <p:xfrm>
          <a:off x="6922256" y="1372844"/>
          <a:ext cx="4956580" cy="3926397"/>
        </p:xfrm>
        <a:graphic>
          <a:graphicData uri="http://schemas.openxmlformats.org/drawingml/2006/table">
            <a:tbl>
              <a:tblPr/>
              <a:tblGrid>
                <a:gridCol w="1464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455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物理属性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数值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物理约束 / 工程学影响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物理计算 Tile</a:t>
                      </a:r>
                      <a:endParaRPr 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</a:rPr>
                        <a:t>8×2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</a:t>
                      </a:r>
                      <a:endParaRPr lang="en-US" alt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(k=8, n=2)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卷积乘加展平后长度必须被 8 整除，否则硬件必须补零闲置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原生支持精度</a:t>
                      </a:r>
                      <a:endParaRPr 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激活 / </a:t>
                      </a:r>
                      <a:endParaRPr lang="en-US" altLang="zh-CN" sz="16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权重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支持 </a:t>
                      </a:r>
                      <a:r>
                        <a:rPr lang="zh-C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INT8 GEMM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6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运算速率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2.6MOPs</a:t>
                      </a:r>
                      <a:endParaRPr lang="es-ES" altLang="zh-CN" sz="20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算力总容量极其有限，要求工程上必须采用极度轻量化的网络结构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以避免大量计算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6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存在物理噪声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 -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深网络可能会导致准确率明显下降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099C158-6582-21A7-B831-39C8BA9BBE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1608645"/>
            <a:ext cx="6909583" cy="345479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F172C5-AB71-E6DA-C155-22656875BAC7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07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915B5-E4F6-4411-9663-EB8195EBCD0A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17263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C2C9-EDF5-7BDC-8440-C71BBCA1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38BF14B-B269-E303-2DCE-BC76179D07CB}"/>
              </a:ext>
            </a:extLst>
          </p:cNvPr>
          <p:cNvSpPr txBox="1"/>
          <p:nvPr/>
        </p:nvSpPr>
        <p:spPr>
          <a:xfrm>
            <a:off x="780028" y="231454"/>
            <a:ext cx="541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仿真器 vs Gazelle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真机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8F8C41-5A1F-A930-4CD6-07236ADA1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>
            <a:extLst>
              <a:ext uri="{FF2B5EF4-FFF2-40B4-BE49-F238E27FC236}">
                <a16:creationId xmlns:a16="http://schemas.microsoft.com/office/drawing/2014/main" id="{7F81BD93-C7D5-05D0-C040-4641562F4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3D13EEA-C084-CB41-F754-558109DE4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5659"/>
              </p:ext>
            </p:extLst>
          </p:nvPr>
        </p:nvGraphicFramePr>
        <p:xfrm>
          <a:off x="1277899" y="4170437"/>
          <a:ext cx="9260601" cy="2286000"/>
        </p:xfrm>
        <a:graphic>
          <a:graphicData uri="http://schemas.openxmlformats.org/drawingml/2006/table">
            <a:tbl>
              <a:tblPr/>
              <a:tblGrid>
                <a:gridCol w="1703011">
                  <a:extLst>
                    <a:ext uri="{9D8B030D-6E8A-4147-A177-3AD203B41FA5}">
                      <a16:colId xmlns:a16="http://schemas.microsoft.com/office/drawing/2014/main" val="1580719462"/>
                    </a:ext>
                  </a:extLst>
                </a:gridCol>
                <a:gridCol w="3734861">
                  <a:extLst>
                    <a:ext uri="{9D8B030D-6E8A-4147-A177-3AD203B41FA5}">
                      <a16:colId xmlns:a16="http://schemas.microsoft.com/office/drawing/2014/main" val="2075883436"/>
                    </a:ext>
                  </a:extLst>
                </a:gridCol>
                <a:gridCol w="3822729">
                  <a:extLst>
                    <a:ext uri="{9D8B030D-6E8A-4147-A177-3AD203B41FA5}">
                      <a16:colId xmlns:a16="http://schemas.microsoft.com/office/drawing/2014/main" val="1815021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</a:rPr>
                        <a:t>赛题仿真器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</a:rPr>
                        <a:t>真机实测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6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19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噪声与信号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噪声约是信号的固定比例（~1%），信号涨 ~300 倍噪声跟着涨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固定底噪（σ_total ≈ 4.5 counts），几乎与输入无关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998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随机性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每次调用结果都变（同一输入两次不一致）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短窗快噪声仅 ~1.0 count；重复 3 次跑批错误 ~95% 可复现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334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空间结构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全局一个标量噪声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每一列独立的偏移、增益，另有逐元素权重扰动（探针实测）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549787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768447D-82DA-200B-1D63-C93D9964B65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60461" y="105342"/>
            <a:ext cx="2636445" cy="16984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B869EC-CC5C-798D-3DEF-016F3E8589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4"/>
          <a:stretch>
            <a:fillRect/>
          </a:stretch>
        </p:blipFill>
        <p:spPr>
          <a:xfrm>
            <a:off x="0" y="1455952"/>
            <a:ext cx="7055938" cy="255139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615F12F-9784-AD10-D8B8-E66525D2260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" t="4651" r="24735" b="6076"/>
          <a:stretch>
            <a:fillRect/>
          </a:stretch>
        </p:blipFill>
        <p:spPr>
          <a:xfrm>
            <a:off x="7055938" y="401563"/>
            <a:ext cx="4880230" cy="38403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696072-600B-D6EB-CF00-761F1C6FA0A7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08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D181F6-9DA2-1924-FD07-49D8C7A28DC4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419206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95" y="1589405"/>
            <a:ext cx="9742805" cy="4483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5997" y="971984"/>
            <a:ext cx="3002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基线模型架构回顾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210801" y="3234377"/>
            <a:ext cx="1857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2x2</a:t>
            </a:r>
            <a:r>
              <a:rPr lang="zh-CN" altLang="en-US" sz="2000" dirty="0"/>
              <a:t>卷积 和 </a:t>
            </a:r>
            <a:r>
              <a:rPr lang="en-US" altLang="zh-CN" sz="2000" dirty="0"/>
              <a:t>fc1</a:t>
            </a:r>
          </a:p>
          <a:p>
            <a:r>
              <a:rPr lang="en-US" altLang="zh-CN" sz="1200" dirty="0"/>
              <a:t> </a:t>
            </a:r>
          </a:p>
          <a:p>
            <a:r>
              <a:rPr lang="zh-CN" altLang="en-US" sz="2000" dirty="0"/>
              <a:t>贡献了大部分计算量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B0641F-11A6-AD08-7D01-498BE95911C8}"/>
              </a:ext>
            </a:extLst>
          </p:cNvPr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4B409C-8021-5215-65CE-45027CA74D48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09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079C24-718C-3A33-0FEB-2D79228AB802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10" name="图片 9" descr="042fd411-face-43ec-a00a-710e89f17edb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5619" y="1030824"/>
            <a:ext cx="9223780" cy="525186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0354" y="3354069"/>
            <a:ext cx="1485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260K MACs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310495" y="3354069"/>
            <a:ext cx="14852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~10K MACs</a:t>
            </a:r>
          </a:p>
          <a:p>
            <a:endParaRPr lang="en-US" altLang="zh-CN" sz="2000" dirty="0"/>
          </a:p>
          <a:p>
            <a:r>
              <a:rPr lang="zh-CN" altLang="en-US" sz="2000" dirty="0"/>
              <a:t>无精度变化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5722E7-A440-0047-C38E-C490E8F6D269}"/>
              </a:ext>
            </a:extLst>
          </p:cNvPr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DE4DFD-A933-E204-EFE2-091D1DEFEB0A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10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D272AE-0529-B70C-A5B2-BE89DBA2C2EE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558829" y="1741486"/>
            <a:ext cx="17379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硬件对齐</a:t>
            </a:r>
          </a:p>
          <a:p>
            <a:r>
              <a:rPr lang="zh-CN" altLang="en-US" sz="2000" dirty="0"/>
              <a:t>计算量中等</a:t>
            </a:r>
          </a:p>
          <a:p>
            <a:r>
              <a:rPr lang="zh-CN" altLang="en-US" sz="2000" dirty="0"/>
              <a:t>算法表现较差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476076" y="1541664"/>
            <a:ext cx="1943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计算量大</a:t>
            </a:r>
            <a:r>
              <a:rPr lang="en-US" altLang="zh-CN" sz="2000" dirty="0"/>
              <a:t> (~20M MACs)</a:t>
            </a:r>
          </a:p>
          <a:p>
            <a:endParaRPr lang="zh-CN" altLang="en-US" sz="2000" dirty="0"/>
          </a:p>
          <a:p>
            <a:r>
              <a:rPr lang="zh-CN" altLang="en-US" sz="2000" dirty="0"/>
              <a:t>算法表现最好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58829" y="4445000"/>
            <a:ext cx="18729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计算量小</a:t>
            </a:r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(~1M MACs)</a:t>
            </a:r>
          </a:p>
          <a:p>
            <a:endParaRPr lang="zh-CN" altLang="en-US" sz="2000" dirty="0"/>
          </a:p>
          <a:p>
            <a:r>
              <a:rPr lang="zh-CN" altLang="en-US" sz="2000" dirty="0"/>
              <a:t>算法表现中等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476076" y="4320441"/>
            <a:ext cx="1997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计算量略大</a:t>
            </a:r>
            <a:r>
              <a:rPr lang="en-US" altLang="zh-CN" sz="2000" dirty="0"/>
              <a:t> (~3M MACs)</a:t>
            </a:r>
          </a:p>
          <a:p>
            <a:endParaRPr lang="zh-CN" altLang="en-US" sz="2000" dirty="0"/>
          </a:p>
          <a:p>
            <a:r>
              <a:rPr lang="zh-CN" altLang="en-US" sz="2000" dirty="0"/>
              <a:t>算法表现较好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224BBC-B145-0E55-774F-0D1C437DAAE0}"/>
              </a:ext>
            </a:extLst>
          </p:cNvPr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D77E6C-5800-2B5D-03CB-A7FADCA5550C}"/>
              </a:ext>
            </a:extLst>
          </p:cNvPr>
          <p:cNvSpPr/>
          <p:nvPr/>
        </p:nvSpPr>
        <p:spPr>
          <a:xfrm>
            <a:off x="265552" y="3713463"/>
            <a:ext cx="11530208" cy="563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9133FD-C0BD-1E96-D4BD-8850DA6FE922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11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D6C4F1-67AA-38A3-C096-6087E6CD6FA2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1E4D2FA-D6E0-B719-D0DA-85CF8986FD48}"/>
              </a:ext>
            </a:extLst>
          </p:cNvPr>
          <p:cNvGrpSpPr/>
          <p:nvPr/>
        </p:nvGrpSpPr>
        <p:grpSpPr>
          <a:xfrm>
            <a:off x="2813139" y="691856"/>
            <a:ext cx="6146622" cy="6146622"/>
            <a:chOff x="2813139" y="691856"/>
            <a:chExt cx="6146622" cy="6146622"/>
          </a:xfrm>
        </p:grpSpPr>
        <p:pic>
          <p:nvPicPr>
            <p:cNvPr id="2" name="图片 1" descr="aad13a9b-a2b5-4fa5-ba1e-89cea9fcaba9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13139" y="691856"/>
              <a:ext cx="6146622" cy="614662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95DFD41-B66C-09C0-61A5-23B637E85223}"/>
                </a:ext>
              </a:extLst>
            </p:cNvPr>
            <p:cNvSpPr/>
            <p:nvPr/>
          </p:nvSpPr>
          <p:spPr>
            <a:xfrm>
              <a:off x="5830083" y="801665"/>
              <a:ext cx="63413" cy="579328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D674096-5695-0062-861E-255BEB966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3330" y="3947708"/>
              <a:ext cx="78547" cy="1065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9C3FF78-B1E2-7CC2-69D0-AEA8B770B5BE}"/>
              </a:ext>
            </a:extLst>
          </p:cNvPr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DB5022-9ABA-B252-7236-189160166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77E9D2A6-9756-E3F7-1B07-15FD92CD5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60AAB0F-366D-6D37-CF9E-4C31CAB54BF4}"/>
              </a:ext>
            </a:extLst>
          </p:cNvPr>
          <p:cNvSpPr txBox="1"/>
          <p:nvPr/>
        </p:nvSpPr>
        <p:spPr>
          <a:xfrm>
            <a:off x="8313725" y="5546060"/>
            <a:ext cx="37179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/>
              <a:t>*M8 跑批位于器件连续使用 20 h 后的窗口缓降时段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F41C9A0-93D6-FBEE-294B-19B0FBDDE48F}"/>
              </a:ext>
            </a:extLst>
          </p:cNvPr>
          <p:cNvSpPr txBox="1"/>
          <p:nvPr/>
        </p:nvSpPr>
        <p:spPr>
          <a:xfrm>
            <a:off x="160330" y="5455303"/>
            <a:ext cx="7971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/>
              <a:t>M10 以 1/61 于 M1 的 MACs 取得 95.33%；M9 以 1/103 的 MACs 取得 94.43%，且 M9/M10（conv3s2 家族）构成 v8 噪声口径下的帕累托前沿（1.5-2.6M 甜点区间）。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B11E7F1-C74D-C009-B1D5-7BBB290E1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985512"/>
              </p:ext>
            </p:extLst>
          </p:nvPr>
        </p:nvGraphicFramePr>
        <p:xfrm>
          <a:off x="1048442" y="911816"/>
          <a:ext cx="10387821" cy="4415732"/>
        </p:xfrm>
        <a:graphic>
          <a:graphicData uri="http://schemas.openxmlformats.org/drawingml/2006/table">
            <a:tbl>
              <a:tblPr/>
              <a:tblGrid>
                <a:gridCol w="721285">
                  <a:extLst>
                    <a:ext uri="{9D8B030D-6E8A-4147-A177-3AD203B41FA5}">
                      <a16:colId xmlns:a16="http://schemas.microsoft.com/office/drawing/2014/main" val="2790564833"/>
                    </a:ext>
                  </a:extLst>
                </a:gridCol>
                <a:gridCol w="1878904">
                  <a:extLst>
                    <a:ext uri="{9D8B030D-6E8A-4147-A177-3AD203B41FA5}">
                      <a16:colId xmlns:a16="http://schemas.microsoft.com/office/drawing/2014/main" val="3768914782"/>
                    </a:ext>
                  </a:extLst>
                </a:gridCol>
                <a:gridCol w="995819">
                  <a:extLst>
                    <a:ext uri="{9D8B030D-6E8A-4147-A177-3AD203B41FA5}">
                      <a16:colId xmlns:a16="http://schemas.microsoft.com/office/drawing/2014/main" val="1590149129"/>
                    </a:ext>
                  </a:extLst>
                </a:gridCol>
                <a:gridCol w="1559490">
                  <a:extLst>
                    <a:ext uri="{9D8B030D-6E8A-4147-A177-3AD203B41FA5}">
                      <a16:colId xmlns:a16="http://schemas.microsoft.com/office/drawing/2014/main" val="1972656793"/>
                    </a:ext>
                  </a:extLst>
                </a:gridCol>
                <a:gridCol w="2254685">
                  <a:extLst>
                    <a:ext uri="{9D8B030D-6E8A-4147-A177-3AD203B41FA5}">
                      <a16:colId xmlns:a16="http://schemas.microsoft.com/office/drawing/2014/main" val="1048945548"/>
                    </a:ext>
                  </a:extLst>
                </a:gridCol>
                <a:gridCol w="2265779">
                  <a:extLst>
                    <a:ext uri="{9D8B030D-6E8A-4147-A177-3AD203B41FA5}">
                      <a16:colId xmlns:a16="http://schemas.microsoft.com/office/drawing/2014/main" val="1603461021"/>
                    </a:ext>
                  </a:extLst>
                </a:gridCol>
                <a:gridCol w="711859">
                  <a:extLst>
                    <a:ext uri="{9D8B030D-6E8A-4147-A177-3AD203B41FA5}">
                      <a16:colId xmlns:a16="http://schemas.microsoft.com/office/drawing/2014/main" val="213222211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模型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架构要点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MACs/张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训练 test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</a:rPr>
                        <a:t>真机全量 5400</a:t>
                      </a:r>
                      <a:endParaRPr lang="zh-CN" sz="1600" dirty="0">
                        <a:solidFill>
                          <a:schemeClr val="bg1"/>
                        </a:solidFill>
                      </a:endParaRP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干净参考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>
                          <a:solidFill>
                            <a:schemeClr val="bg1"/>
                          </a:solidFill>
                        </a:rPr>
                        <a:t>gap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227872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M1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大参数基准 VGG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156.6M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97.98（v4.1 val）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20/20 = 100%（板端抽样 n=20，全量不可行）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97.87（QAT int8 val）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+2.1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120043"/>
                  </a:ext>
                </a:extLst>
              </a:tr>
              <a:tr h="518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M4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全 3×3 + GAP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17.0M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96.17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94.19%（5086/5400）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95.74（同量化 numpy，5170/5400）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−1.55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19074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含 3×3 双卷积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5.31M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96.65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90.17%（4869/5400）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~96.5（同量化 numpy）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−6.3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08931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全 1×1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1.38M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95.22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92.78%（5010/5400）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~95.5（同量化 numpy）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−2.7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53694"/>
                  </a:ext>
                </a:extLst>
              </a:tr>
              <a:tr h="6734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M7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超窄 C0=12 + MaxPool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0.86M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94.98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81.72%（板端 [0:1800]，架构不匹配暂停）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~95.0（v8 test）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−13.3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168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M8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1×1 + stem k5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/>
                        <a:t>2.16M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96.26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87.78%*（4740/5400）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~95.8（同量化 numpy）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dirty="0"/>
                        <a:t>−8.0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50122"/>
                  </a:ext>
                </a:extLst>
              </a:tr>
              <a:tr h="518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/>
                        <a:t>M9</a:t>
                      </a:r>
                      <a:endParaRPr lang="zh-CN" sz="16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w0.75 + conv3s2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/>
                        <a:t>1.52M</a:t>
                      </a:r>
                      <a:endParaRPr lang="zh-CN" sz="160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95.87/95.69</a:t>
                      </a:r>
                      <a:endParaRPr lang="en-US" altLang="zh-CN" sz="1600" dirty="0"/>
                    </a:p>
                    <a:p>
                      <a:pPr>
                        <a:buNone/>
                      </a:pPr>
                      <a:r>
                        <a:rPr lang="zh-CN" sz="1600" dirty="0"/>
                        <a:t>（双 seed）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94.43%</a:t>
                      </a:r>
                      <a:r>
                        <a:rPr lang="zh-CN" sz="1600" dirty="0"/>
                        <a:t>（</a:t>
                      </a:r>
                      <a:r>
                        <a:rPr lang="en-US" altLang="zh-CN" sz="1600" dirty="0"/>
                        <a:t>5099</a:t>
                      </a:r>
                      <a:r>
                        <a:rPr lang="zh-CN" sz="1600" dirty="0"/>
                        <a:t>/5400 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95.87（GPU QAT，部署 seed42）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−1.44</a:t>
                      </a:r>
                      <a:endParaRPr lang="zh-CN" sz="16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5261"/>
                  </a:ext>
                </a:extLst>
              </a:tr>
              <a:tr h="518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M10</a:t>
                      </a:r>
                      <a:endParaRPr lang="zh-CN" sz="16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conv3s2 + stem max3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2.56M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96.76/96.56</a:t>
                      </a:r>
                      <a:endParaRPr lang="en-US" altLang="zh-CN" sz="1600" dirty="0"/>
                    </a:p>
                    <a:p>
                      <a:pPr>
                        <a:buNone/>
                      </a:pPr>
                      <a:r>
                        <a:rPr lang="zh-CN" sz="1600" dirty="0"/>
                        <a:t>（双 seed）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/>
                        <a:t>95.33%</a:t>
                      </a:r>
                      <a:r>
                        <a:rPr lang="zh-CN" sz="1600" dirty="0"/>
                        <a:t>（</a:t>
                      </a:r>
                      <a:r>
                        <a:rPr lang="en-US" altLang="zh-CN" sz="1600" dirty="0"/>
                        <a:t>5148</a:t>
                      </a:r>
                      <a:r>
                        <a:rPr lang="zh-CN" sz="1600" dirty="0"/>
                        <a:t>/5400 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96.76（GPU QAT，部署 seed42）</a:t>
                      </a:r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600" b="1" dirty="0"/>
                        <a:t>−1.43</a:t>
                      </a:r>
                      <a:endParaRPr lang="zh-CN" sz="1600" dirty="0"/>
                    </a:p>
                  </a:txBody>
                  <a:tcPr marL="51802" marR="51802" marT="25901" marB="259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166177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2DD2724-3688-67A4-64F6-2A5E5008D0F4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12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FD162C-DF4A-E941-F68D-F638122BA310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66471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D85FB-1D32-EDFD-4B1B-8CEE409E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9E49C4-7552-4CF2-EF57-1301486C2FE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" y="1267041"/>
            <a:ext cx="12192000" cy="4876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D26BE2A-C8E6-8BB2-C27A-04B0E8D5302B}"/>
              </a:ext>
            </a:extLst>
          </p:cNvPr>
          <p:cNvSpPr txBox="1"/>
          <p:nvPr/>
        </p:nvSpPr>
        <p:spPr>
          <a:xfrm>
            <a:off x="764481" y="206187"/>
            <a:ext cx="6763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探索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：MACs 预算下的最优结构</a:t>
            </a:r>
          </a:p>
          <a:p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812A36-D49F-EFBD-93EC-FA3A453EA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CA91E2C7-07EE-E788-AAB9-30A7AE236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0" name="箭头: 右 29">
            <a:extLst>
              <a:ext uri="{FF2B5EF4-FFF2-40B4-BE49-F238E27FC236}">
                <a16:creationId xmlns:a16="http://schemas.microsoft.com/office/drawing/2014/main" id="{3BB0482C-24A0-06F7-B97F-49C6E98BB60B}"/>
              </a:ext>
            </a:extLst>
          </p:cNvPr>
          <p:cNvSpPr/>
          <p:nvPr/>
        </p:nvSpPr>
        <p:spPr>
          <a:xfrm rot="11326064">
            <a:off x="2864783" y="3490443"/>
            <a:ext cx="500049" cy="18514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1421B7E-133B-0BF1-0DCC-0478D845EA6E}"/>
              </a:ext>
            </a:extLst>
          </p:cNvPr>
          <p:cNvSpPr txBox="1"/>
          <p:nvPr/>
        </p:nvSpPr>
        <p:spPr>
          <a:xfrm>
            <a:off x="2885305" y="3649061"/>
            <a:ext cx="1515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i="0" dirty="0">
                <a:effectLst/>
                <a:latin typeface="-apple-system"/>
              </a:rPr>
              <a:t>M10 · 2.56M · 真机 96.40% (n=1000) / 95.33% (全量)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1C3851F-E942-6079-B057-58A02BC4BF77}"/>
              </a:ext>
            </a:extLst>
          </p:cNvPr>
          <p:cNvSpPr txBox="1"/>
          <p:nvPr/>
        </p:nvSpPr>
        <p:spPr>
          <a:xfrm>
            <a:off x="2319804" y="4491038"/>
            <a:ext cx="1322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0" i="0" dirty="0">
                <a:effectLst/>
                <a:latin typeface="-apple-system"/>
              </a:rPr>
              <a:t>M9 · 1.52M · 真机 94.43% </a:t>
            </a:r>
            <a:endParaRPr lang="en-US" altLang="zh-CN" sz="1200" dirty="0">
              <a:latin typeface="-apple-system"/>
            </a:endParaRPr>
          </a:p>
          <a:p>
            <a:r>
              <a:rPr lang="zh-CN" altLang="zh-CN" sz="1200" b="0" i="0" dirty="0">
                <a:effectLst/>
                <a:latin typeface="-apple-system"/>
              </a:rPr>
              <a:t>≤2M 预算冠军</a:t>
            </a:r>
            <a:endParaRPr lang="zh-CN" altLang="en-US" dirty="0"/>
          </a:p>
        </p:txBody>
      </p:sp>
      <p:sp>
        <p:nvSpPr>
          <p:cNvPr id="36" name="箭头: 燕尾形 35">
            <a:extLst>
              <a:ext uri="{FF2B5EF4-FFF2-40B4-BE49-F238E27FC236}">
                <a16:creationId xmlns:a16="http://schemas.microsoft.com/office/drawing/2014/main" id="{18727744-86C1-895E-A1F8-E1C515C20EFB}"/>
              </a:ext>
            </a:extLst>
          </p:cNvPr>
          <p:cNvSpPr/>
          <p:nvPr/>
        </p:nvSpPr>
        <p:spPr>
          <a:xfrm rot="582065">
            <a:off x="4176139" y="3654469"/>
            <a:ext cx="1420368" cy="283946"/>
          </a:xfrm>
          <a:prstGeom prst="notched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6B47D1B6-3704-733F-15C0-7A8127373163}"/>
              </a:ext>
            </a:extLst>
          </p:cNvPr>
          <p:cNvSpPr/>
          <p:nvPr/>
        </p:nvSpPr>
        <p:spPr>
          <a:xfrm rot="12863920">
            <a:off x="1857483" y="4232654"/>
            <a:ext cx="886926" cy="12547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B885E5B-97B5-F8E3-A3D4-4EFCD00172C5}"/>
              </a:ext>
            </a:extLst>
          </p:cNvPr>
          <p:cNvSpPr txBox="1"/>
          <p:nvPr/>
        </p:nvSpPr>
        <p:spPr>
          <a:xfrm>
            <a:off x="4908685" y="2970120"/>
            <a:ext cx="22107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i="0" dirty="0">
                <a:effectLst/>
                <a:latin typeface="-apple-system"/>
              </a:rPr>
              <a:t>M4 用 6.6× 算力（17M），真机全量反而低 1.14pt（94.19% vs M10 95.33%）→ 模型在噪声口径下收益饱和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E38970-6901-7FD3-BA2C-FB7F72F75C36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13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811F16-1EBC-9D91-3058-2091430A1607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1280052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51074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真机错分样本分析</a:t>
            </a:r>
            <a:endParaRPr lang="en-US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以线状结构</a:t>
            </a:r>
            <a:r>
              <a:rPr lang="zh-CN" altLang="zh-CN" sz="24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Highway / River</a:t>
            </a:r>
            <a:r>
              <a:rPr lang="zh-CN" altLang="en-US" sz="24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为例</a:t>
            </a:r>
            <a:endParaRPr lang="zh-CN" altLang="zh-CN" sz="24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488E339-0FF6-32E1-5A82-33755E6BE86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076" y="310411"/>
            <a:ext cx="3602907" cy="365668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292B443-58BE-677B-F5FB-FDC5EC85840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29" y="1273514"/>
            <a:ext cx="5107488" cy="526388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3FFEEE-7F7E-C01A-5669-F23EF8816D69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14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46E2D3-7430-CD7E-AB1A-3910D969FDC0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1C8A4F-3BD9-CCA3-CE55-052DEEF72197}"/>
              </a:ext>
            </a:extLst>
          </p:cNvPr>
          <p:cNvSpPr txBox="1"/>
          <p:nvPr/>
        </p:nvSpPr>
        <p:spPr>
          <a:xfrm>
            <a:off x="6183798" y="4136742"/>
            <a:ext cx="50228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M4（17M，感受野最大）的真机错误仍集中在 Highway/River 互混——</a:t>
            </a:r>
            <a:r>
              <a:rPr lang="zh-CN" altLang="zh-CN" sz="2000" b="1" dirty="0"/>
              <a:t>线状结构</a:t>
            </a:r>
            <a:r>
              <a:rPr lang="zh-CN" altLang="zh-CN" sz="2000" dirty="0"/>
              <a:t>是噪声下最脆弱一环，堆算力也无法完全消除。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zh-CN" sz="2000" dirty="0"/>
              <a:t>小算力代价：J1（1.38M，RF 17px）Highway/River F1 差 −3.6/−2.7pt，感受野扩至 49px 可补回 +2.9/+2.3。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0618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噪声归因与组分训练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F91A6FB-AA5D-6FD8-3A77-F004E31AB3CB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15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357808-23A2-A52C-0FFD-76B28CB8B30D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8A3A929-24B2-C0A7-32C5-F542E02DAFB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" t="10110" r="1972" b="3007"/>
          <a:stretch>
            <a:fillRect/>
          </a:stretch>
        </p:blipFill>
        <p:spPr>
          <a:xfrm>
            <a:off x="1778875" y="919817"/>
            <a:ext cx="8803760" cy="530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0322-86CD-F458-943A-BCC3A1321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rd">
            <a:extLst>
              <a:ext uri="{FF2B5EF4-FFF2-40B4-BE49-F238E27FC236}">
                <a16:creationId xmlns:a16="http://schemas.microsoft.com/office/drawing/2014/main" id="{0B4417F6-709D-6A7C-EF5B-73306F3591F8}"/>
              </a:ext>
            </a:extLst>
          </p:cNvPr>
          <p:cNvSpPr>
            <a:spLocks noGrp="1"/>
          </p:cNvSpPr>
          <p:nvPr/>
        </p:nvSpPr>
        <p:spPr>
          <a:xfrm>
            <a:off x="394616" y="2440365"/>
            <a:ext cx="4617843" cy="3451071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19219B-3256-F17A-10AF-08A3B28D6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9" name="图片 8" descr="集创赛1">
            <a:extLst>
              <a:ext uri="{FF2B5EF4-FFF2-40B4-BE49-F238E27FC236}">
                <a16:creationId xmlns:a16="http://schemas.microsoft.com/office/drawing/2014/main" id="{BFBB3D01-3BE7-4FBF-4956-FA1E6BA99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D738D1D-2B5C-4A69-43CE-FFCA40CF4312}"/>
              </a:ext>
            </a:extLst>
          </p:cNvPr>
          <p:cNvSpPr txBox="1"/>
          <p:nvPr/>
        </p:nvSpPr>
        <p:spPr>
          <a:xfrm>
            <a:off x="764546" y="304205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模型部署与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逐列校准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AE6456-938C-74C5-E49D-1CA14B59796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EFE"/>
              </a:clrFrom>
              <a:clrTo>
                <a:srgbClr val="FFFEFE">
                  <a:alpha val="0"/>
                </a:srgbClr>
              </a:clrTo>
            </a:clrChange>
          </a:blip>
          <a:srcRect t="39911" b="26542"/>
          <a:stretch>
            <a:fillRect/>
          </a:stretch>
        </p:blipFill>
        <p:spPr>
          <a:xfrm>
            <a:off x="938644" y="1080241"/>
            <a:ext cx="10671366" cy="113258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5E137A6-0F55-0722-74CC-39FC2119FEA9}"/>
              </a:ext>
            </a:extLst>
          </p:cNvPr>
          <p:cNvSpPr txBox="1"/>
          <p:nvPr/>
        </p:nvSpPr>
        <p:spPr>
          <a:xfrm>
            <a:off x="533104" y="2511302"/>
            <a:ext cx="4362753" cy="3380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zh-CN" altLang="zh-CN" sz="24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同窗口逐列校准 (Col Calib)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标定原理：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推理前输入已知探测向量，测量每列当前零点与增益，并在推理硬件指令中逐列修正。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ABA 对照实验：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标量 92.60% → 逐列 94.60% → 标量复测 93.60%，逐列校准净提升 </a:t>
            </a: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+1.5pt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时间敏感性：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列偏差存在跨窗口漂移，校准与跑批必须在同一窗口背靠背完成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F4CE705-696E-F9EC-661E-6932BD5BF1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947" y="2599759"/>
            <a:ext cx="6320682" cy="34597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48890E-7EC9-62CC-6B6A-FF6FA608F776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16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334BAE-9D21-A569-D08D-89FD00714B3A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2283581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61C65-0FEC-DE74-BEE6-1F7B5D48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rd">
            <a:extLst>
              <a:ext uri="{FF2B5EF4-FFF2-40B4-BE49-F238E27FC236}">
                <a16:creationId xmlns:a16="http://schemas.microsoft.com/office/drawing/2014/main" id="{6E07B2E0-E7F4-459E-2086-9E5DF1ECEFCC}"/>
              </a:ext>
            </a:extLst>
          </p:cNvPr>
          <p:cNvSpPr>
            <a:spLocks noGrp="1"/>
          </p:cNvSpPr>
          <p:nvPr/>
        </p:nvSpPr>
        <p:spPr>
          <a:xfrm>
            <a:off x="123327" y="1298898"/>
            <a:ext cx="6097022" cy="3923615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ard">
            <a:extLst>
              <a:ext uri="{FF2B5EF4-FFF2-40B4-BE49-F238E27FC236}">
                <a16:creationId xmlns:a16="http://schemas.microsoft.com/office/drawing/2014/main" id="{B1681362-5C91-D2AF-3900-FEB241851EBE}"/>
              </a:ext>
            </a:extLst>
          </p:cNvPr>
          <p:cNvSpPr>
            <a:spLocks noGrp="1"/>
          </p:cNvSpPr>
          <p:nvPr/>
        </p:nvSpPr>
        <p:spPr>
          <a:xfrm>
            <a:off x="6441712" y="423447"/>
            <a:ext cx="5579988" cy="5431167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607FA4-48E8-1804-2A9E-DDE667E02D02}"/>
              </a:ext>
            </a:extLst>
          </p:cNvPr>
          <p:cNvSpPr txBox="1"/>
          <p:nvPr/>
        </p:nvSpPr>
        <p:spPr>
          <a:xfrm>
            <a:off x="764481" y="206187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热漂移与上板工程规则</a:t>
            </a:r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497D6E-BBE1-047D-675B-6C8C9156D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90010A42-5075-D737-F83C-6114F269B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FA3895-3560-7E94-01A9-A4808E3D0842}"/>
              </a:ext>
            </a:extLst>
          </p:cNvPr>
          <p:cNvSpPr txBox="1"/>
          <p:nvPr/>
        </p:nvSpPr>
        <p:spPr>
          <a:xfrm>
            <a:off x="764481" y="1355017"/>
            <a:ext cx="609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i="0" dirty="0">
                <a:effectLst/>
                <a:latin typeface="Plus Jakarta Sans"/>
              </a:rPr>
              <a:t>热漂移定量证据</a:t>
            </a:r>
            <a:endParaRPr lang="zh-CN" altLang="en-US" sz="4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15A816-6068-B838-549B-D97AF76CCE83}"/>
              </a:ext>
            </a:extLst>
          </p:cNvPr>
          <p:cNvSpPr txBox="1"/>
          <p:nvPr/>
        </p:nvSpPr>
        <p:spPr>
          <a:xfrm>
            <a:off x="170300" y="2208428"/>
            <a:ext cx="6097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fresh 校准下连续跑批段序精度 </a:t>
            </a:r>
            <a:r>
              <a:rPr lang="zh-CN" altLang="zh-CN" b="1" dirty="0"/>
              <a:t>95.0 → 93.5 → 93.5 → 92.0</a:t>
            </a:r>
            <a:r>
              <a:rPr lang="zh-CN" altLang="zh-CN" dirty="0"/>
              <a:t>（~2h 窗口内缓降）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zh-CN" dirty="0"/>
              <a:t>stale 校准（超 20 min 未重校）</a:t>
            </a:r>
            <a:r>
              <a:rPr lang="zh-CN" altLang="zh-CN" b="1" dirty="0"/>
              <a:t>82.5%（−12.5pt）</a:t>
            </a:r>
            <a:r>
              <a:rPr lang="zh-CN" altLang="zh-CN" dirty="0"/>
              <a:t> → 同批 fresh 重跑 </a:t>
            </a:r>
            <a:r>
              <a:rPr lang="zh-CN" altLang="zh-CN" b="1" dirty="0"/>
              <a:t>92.5%（+10pt）</a:t>
            </a:r>
            <a:endParaRPr lang="en-US" altLang="zh-CN" b="1" dirty="0"/>
          </a:p>
          <a:p>
            <a:pPr>
              <a:buNone/>
            </a:pPr>
            <a:endParaRPr lang="zh-CN" altLang="zh-CN" dirty="0"/>
          </a:p>
          <a:p>
            <a:pPr lvl="0"/>
            <a:r>
              <a:rPr lang="zh-CN" altLang="zh-CN" dirty="0"/>
              <a:t>连续工作 ~2h 后器件 </a:t>
            </a:r>
            <a:r>
              <a:rPr lang="zh-CN" altLang="zh-CN" b="1" dirty="0"/>
              <a:t>0% 输出崩溃</a:t>
            </a:r>
            <a:r>
              <a:rPr lang="zh-CN" altLang="zh-CN" dirty="0"/>
              <a:t>（两次独立复现）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dirty="0"/>
              <a:t>列校准参数跨窗口漂移：留出改善 w1 </a:t>
            </a:r>
            <a:r>
              <a:rPr lang="zh-CN" altLang="zh-CN" b="1" dirty="0"/>
              <a:t>−24.4%</a:t>
            </a:r>
            <a:r>
              <a:rPr lang="zh-CN" altLang="zh-CN" dirty="0"/>
              <a:t> → w2 </a:t>
            </a:r>
            <a:r>
              <a:rPr lang="zh-CN" altLang="zh-CN" b="1" dirty="0"/>
              <a:t>−7.8%</a:t>
            </a:r>
            <a:r>
              <a:rPr lang="zh-CN" altLang="zh-CN" dirty="0"/>
              <a:t> → 校准不可跨窗口复用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5D8019D-91A1-36B0-5881-30DAD404692A}"/>
              </a:ext>
            </a:extLst>
          </p:cNvPr>
          <p:cNvSpPr txBox="1"/>
          <p:nvPr/>
        </p:nvSpPr>
        <p:spPr>
          <a:xfrm>
            <a:off x="8088157" y="543267"/>
            <a:ext cx="2450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b="1" dirty="0"/>
              <a:t>上板规则卡片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F3FBBC-CDC8-74E1-E25C-E2981A577C62}"/>
              </a:ext>
            </a:extLst>
          </p:cNvPr>
          <p:cNvSpPr txBox="1"/>
          <p:nvPr/>
        </p:nvSpPr>
        <p:spPr>
          <a:xfrm>
            <a:off x="6570217" y="1170350"/>
            <a:ext cx="5579988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  </a:t>
            </a:r>
            <a:r>
              <a:rPr lang="en-US" altLang="zh-CN" sz="2400" dirty="0"/>
              <a:t> </a:t>
            </a:r>
            <a:r>
              <a:rPr lang="zh-CN" altLang="zh-CN" sz="2400" dirty="0"/>
              <a:t>放行判据</a:t>
            </a:r>
            <a:r>
              <a:rPr lang="zh-CN" altLang="zh-CN" dirty="0"/>
              <a:t>（每次开窗必查，四项全过）：</a:t>
            </a:r>
            <a:endParaRPr lang="en-US" altLang="zh-CN" dirty="0"/>
          </a:p>
          <a:p>
            <a:pPr lvl="0">
              <a:spcAft>
                <a:spcPts val="900"/>
              </a:spcAft>
            </a:pP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✔️</a:t>
            </a:r>
            <a:r>
              <a:rPr lang="zh-CN" altLang="zh-CN" b="1" dirty="0"/>
              <a:t>EBR 动态范围</a:t>
            </a:r>
            <a:r>
              <a:rPr lang="zh-CN" altLang="zh-CN" dirty="0"/>
              <a:t>： EBR ≥ 8 (实测 9.77/9.84 通过)</a:t>
            </a:r>
          </a:p>
          <a:p>
            <a:pPr lvl="0">
              <a:spcAft>
                <a:spcPts val="900"/>
              </a:spcAft>
            </a:pPr>
            <a:r>
              <a:rPr lang="zh-CN" altLang="en-US" dirty="0"/>
              <a:t>✔️</a:t>
            </a:r>
            <a:r>
              <a:rPr lang="zh-CN" altLang="zh-CN" b="1" dirty="0"/>
              <a:t>残差偏差控制</a:t>
            </a:r>
            <a:r>
              <a:rPr lang="zh-CN" altLang="zh-CN" dirty="0"/>
              <a:t>： error_std 偏差 &lt; ±2%</a:t>
            </a:r>
          </a:p>
          <a:p>
            <a:pPr lvl="0">
              <a:spcAft>
                <a:spcPts val="900"/>
              </a:spcAft>
            </a:pPr>
            <a:r>
              <a:rPr lang="zh-CN" altLang="en-US" dirty="0"/>
              <a:t>✔️ </a:t>
            </a:r>
            <a:r>
              <a:rPr lang="zh-CN" altLang="zh-CN" b="1" dirty="0"/>
              <a:t>MNIST Canary 校验</a:t>
            </a:r>
            <a:r>
              <a:rPr lang="zh-CN" altLang="zh-CN" dirty="0"/>
              <a:t>： Canary 精度 gap </a:t>
            </a:r>
            <a:r>
              <a:rPr lang="en-US" altLang="zh-CN" dirty="0"/>
              <a:t>&lt; 0.50</a:t>
            </a:r>
            <a:r>
              <a:rPr lang="zh-CN" altLang="zh-CN" dirty="0"/>
              <a:t>pt (C2 实测 0.10pt)</a:t>
            </a:r>
          </a:p>
          <a:p>
            <a:pPr lvl="0">
              <a:spcAft>
                <a:spcPts val="900"/>
              </a:spcAft>
            </a:pPr>
            <a:r>
              <a:rPr lang="zh-CN" altLang="en-US" dirty="0"/>
              <a:t>✔️ </a:t>
            </a:r>
            <a:r>
              <a:rPr lang="zh-CN" altLang="zh-CN" b="1" dirty="0"/>
              <a:t>Mini-run 采样对齐</a:t>
            </a:r>
            <a:r>
              <a:rPr lang="zh-CN" altLang="zh-CN" dirty="0"/>
              <a:t>： 200 样本预跑一致性验证</a:t>
            </a:r>
            <a:endParaRPr lang="en-US" altLang="zh-CN" dirty="0"/>
          </a:p>
          <a:p>
            <a:pPr lvl="0">
              <a:spcAft>
                <a:spcPts val="900"/>
              </a:spcAft>
            </a:pP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调度纪律：单次调用（含校准）&lt;30 min；两次调用间冷却 ≥</a:t>
            </a:r>
            <a:r>
              <a:rPr lang="en-US" altLang="zh-CN" dirty="0"/>
              <a:t>5</a:t>
            </a:r>
            <a:r>
              <a:rPr lang="zh-CN" altLang="zh-CN" dirty="0"/>
              <a:t> min；每 2 段窗口间冷却 20–30 min；0% 崩溃 → 冷却 ≥1h + fresh compass_cali 恢复</a:t>
            </a:r>
            <a:endParaRPr lang="en-US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校准纪律：连续跑批每 ~20 min 背靠背 fresh 校准；校准与跑批必须同窗口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FB583E-0E27-1171-674E-5C03B58051D3}"/>
              </a:ext>
            </a:extLst>
          </p:cNvPr>
          <p:cNvSpPr txBox="1"/>
          <p:nvPr/>
        </p:nvSpPr>
        <p:spPr>
          <a:xfrm>
            <a:off x="2355040" y="5980280"/>
            <a:ext cx="738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b="1" dirty="0"/>
              <a:t>所有对外精度数字均为“新鲜校准 + 同窗口”口径，可复现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FEC567-492D-D9CD-32C1-34BBDF1CEAE1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17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5ED64A-7D40-4614-BC35-ED7B0459B316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1356452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8AF1-C96B-420E-0284-7C0A2BF8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85DCC92-492B-3C1E-6245-404333A3F0AF}"/>
              </a:ext>
            </a:extLst>
          </p:cNvPr>
          <p:cNvSpPr txBox="1"/>
          <p:nvPr/>
        </p:nvSpPr>
        <p:spPr>
          <a:xfrm>
            <a:off x="764481" y="20618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上板精度图</a:t>
            </a:r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937966-4AF6-F63A-5EA6-8195CEC5D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087FF722-682A-4AB2-5EF2-F4ED039E5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E41AD11-542E-F18A-9D29-754D6AB4BC4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56" y="614072"/>
            <a:ext cx="9448923" cy="616666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10A6533-8986-2C5C-3625-586E9B8A1CD0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18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72D1A2-D4FD-6737-9CF2-EE496835A952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2577285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0524-E4E6-063B-7059-A2FAE4FE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6C26AD-06A3-1525-7127-817B6A701336}"/>
              </a:ext>
            </a:extLst>
          </p:cNvPr>
          <p:cNvSpPr txBox="1"/>
          <p:nvPr/>
        </p:nvSpPr>
        <p:spPr>
          <a:xfrm>
            <a:off x="764481" y="206187"/>
            <a:ext cx="4116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架构与噪声联合设计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16E279-416E-F69C-A5ED-80E6E4ABD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42D103F5-067E-2D97-D1DD-26307A6EC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EA06C90-F59A-7EA8-FC96-23816CB72392}"/>
              </a:ext>
            </a:extLst>
          </p:cNvPr>
          <p:cNvSpPr txBox="1"/>
          <p:nvPr/>
        </p:nvSpPr>
        <p:spPr>
          <a:xfrm>
            <a:off x="11430" y="1675903"/>
            <a:ext cx="4740646" cy="380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750"/>
              </a:spcAft>
              <a:buNone/>
            </a:pPr>
            <a:r>
              <a:rPr lang="zh-CN" altLang="zh-CN" sz="24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噪声环境下的 Pareto 反转现象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软件 vs 物理噪声口径：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无噪声下 rf_s2k3 (96.93%) &gt; w200 (96.39%)；但在 QAT 噪声代理下，</a:t>
            </a: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w200 (96.74%) 完成反超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反转原因分析：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3×3 卷积 im2col 展平 (k=9) 暴露更多列噪声（残差是 1×1 的 2.5–3 倍）。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GAP 作用局限：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空间平均可滤除 i.i.d 快噪声 (1/</a:t>
            </a:r>
            <a:r>
              <a:rPr lang="en-US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sqrt(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N</a:t>
            </a:r>
            <a:r>
              <a:rPr lang="en-US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)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抑制)，但无法滤除同通道共享的列结构偏差。</a:t>
            </a:r>
          </a:p>
          <a:p>
            <a:pPr marL="342900" marR="0" lvl="0" indent="-3429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zh-CN" sz="16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创新设计：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 使用 conv3s2 替代 Patchify 完成下采样，</a:t>
            </a:r>
            <a:r>
              <a:rPr lang="zh-CN" altLang="zh-CN" sz="2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兼顾感受野扩展与列噪声控制</a:t>
            </a:r>
            <a:r>
              <a:rPr lang="zh-CN" altLang="zh-CN" sz="16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638019-53EB-1EAC-CA3A-C9384D6487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055" y="1680115"/>
            <a:ext cx="7683795" cy="5011172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01CF95F7-8FC6-6317-8C3D-EC853FC72F6B}"/>
              </a:ext>
            </a:extLst>
          </p:cNvPr>
          <p:cNvSpPr/>
          <p:nvPr/>
        </p:nvSpPr>
        <p:spPr>
          <a:xfrm rot="7895948">
            <a:off x="7432747" y="2322445"/>
            <a:ext cx="524539" cy="170944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62FB1E-41C9-863A-4680-DDEB0C2B1F21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19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7E2B83-7921-DAE4-30A2-05FBE7D770A6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CCD1E6A-59F8-53A6-36C7-630D6F612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550070"/>
              </p:ext>
            </p:extLst>
          </p:nvPr>
        </p:nvGraphicFramePr>
        <p:xfrm>
          <a:off x="4816540" y="72892"/>
          <a:ext cx="5766095" cy="1582673"/>
        </p:xfrm>
        <a:graphic>
          <a:graphicData uri="http://schemas.openxmlformats.org/drawingml/2006/table">
            <a:tbl>
              <a:tblPr/>
              <a:tblGrid>
                <a:gridCol w="1255688">
                  <a:extLst>
                    <a:ext uri="{9D8B030D-6E8A-4147-A177-3AD203B41FA5}">
                      <a16:colId xmlns:a16="http://schemas.microsoft.com/office/drawing/2014/main" val="1999998678"/>
                    </a:ext>
                  </a:extLst>
                </a:gridCol>
                <a:gridCol w="1890152">
                  <a:extLst>
                    <a:ext uri="{9D8B030D-6E8A-4147-A177-3AD203B41FA5}">
                      <a16:colId xmlns:a16="http://schemas.microsoft.com/office/drawing/2014/main" val="2385822599"/>
                    </a:ext>
                  </a:extLst>
                </a:gridCol>
                <a:gridCol w="1063256">
                  <a:extLst>
                    <a:ext uri="{9D8B030D-6E8A-4147-A177-3AD203B41FA5}">
                      <a16:colId xmlns:a16="http://schemas.microsoft.com/office/drawing/2014/main" val="3946616383"/>
                    </a:ext>
                  </a:extLst>
                </a:gridCol>
                <a:gridCol w="1556999">
                  <a:extLst>
                    <a:ext uri="{9D8B030D-6E8A-4147-A177-3AD203B41FA5}">
                      <a16:colId xmlns:a16="http://schemas.microsoft.com/office/drawing/2014/main" val="2992753683"/>
                    </a:ext>
                  </a:extLst>
                </a:gridCol>
              </a:tblGrid>
              <a:tr h="4142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solidFill>
                            <a:schemeClr val="bg2"/>
                          </a:solidFill>
                          <a:effectLst/>
                        </a:rPr>
                        <a:t>模型</a:t>
                      </a:r>
                      <a:endParaRPr lang="zh-CN" sz="16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solidFill>
                            <a:schemeClr val="bg2"/>
                          </a:solidFill>
                          <a:effectLst/>
                        </a:rPr>
                        <a:t>特点</a:t>
                      </a:r>
                      <a:endParaRPr lang="zh-CN" sz="16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 dirty="0">
                          <a:solidFill>
                            <a:schemeClr val="bg2"/>
                          </a:solidFill>
                          <a:effectLst/>
                        </a:rPr>
                        <a:t>无噪声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600" dirty="0">
                          <a:solidFill>
                            <a:schemeClr val="bg2"/>
                          </a:solidFill>
                          <a:effectLst/>
                        </a:rPr>
                        <a:t>噪声口径（v8）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35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rf_s2k3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4.52M MACs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感受野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（3×3 层）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96.93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 ✓ 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96.39 ✗ 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738518"/>
                  </a:ext>
                </a:extLst>
              </a:tr>
              <a:tr h="3399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1600" dirty="0">
                          <a:solidFill>
                            <a:schemeClr val="tx1"/>
                          </a:solidFill>
                          <a:effectLst/>
                        </a:rPr>
                        <a:t>W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4.62M MACs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zh-CN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宽度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（更多通道）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96.39 ✗ 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 dirty="0">
                          <a:solidFill>
                            <a:schemeClr val="tx1"/>
                          </a:solidFill>
                          <a:effectLst/>
                        </a:rPr>
                        <a:t>96.74</a:t>
                      </a:r>
                      <a:r>
                        <a:rPr lang="zh-CN" sz="1600" dirty="0">
                          <a:solidFill>
                            <a:schemeClr val="tx1"/>
                          </a:solidFill>
                          <a:effectLst/>
                        </a:rPr>
                        <a:t> ✓ 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971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206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1F96-A97C-B512-43BB-9194ECFA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B00868D-9FDC-BDF2-095E-B13EC940628A}"/>
              </a:ext>
            </a:extLst>
          </p:cNvPr>
          <p:cNvSpPr txBox="1"/>
          <p:nvPr/>
        </p:nvSpPr>
        <p:spPr>
          <a:xfrm>
            <a:off x="764481" y="206187"/>
            <a:ext cx="5051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架构与噪声联合设计 (M10)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C56B58B-309C-02EB-E90B-DBCCA43BA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5B8F7AF0-5658-E6C5-3E38-DE5D33AA9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498EB67-6913-09B0-BA49-EC2A975ED6CB}"/>
              </a:ext>
            </a:extLst>
          </p:cNvPr>
          <p:cNvSpPr txBox="1"/>
          <p:nvPr/>
        </p:nvSpPr>
        <p:spPr>
          <a:xfrm>
            <a:off x="160562" y="3074712"/>
            <a:ext cx="3081293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336600"/>
                </a:solidFill>
              </a:rPr>
              <a:t> </a:t>
            </a:r>
            <a:r>
              <a:rPr lang="zh-CN" altLang="zh-CN" sz="4000" b="1" dirty="0">
                <a:solidFill>
                  <a:srgbClr val="336600"/>
                </a:solidFill>
                <a:cs typeface="Times New Roman" panose="02020603050405020304" pitchFamily="18" charset="0"/>
              </a:rPr>
              <a:t>M</a:t>
            </a:r>
            <a:r>
              <a:rPr lang="en-US" altLang="zh-CN" sz="4000" b="1" dirty="0" err="1">
                <a:solidFill>
                  <a:srgbClr val="336600"/>
                </a:solidFill>
                <a:cs typeface="Times New Roman" panose="02020603050405020304" pitchFamily="18" charset="0"/>
              </a:rPr>
              <a:t>odel</a:t>
            </a:r>
            <a:r>
              <a:rPr lang="en-US" altLang="zh-CN" sz="4000" b="1" dirty="0">
                <a:solidFill>
                  <a:srgbClr val="336600"/>
                </a:solidFill>
                <a:cs typeface="Times New Roman" panose="02020603050405020304" pitchFamily="18" charset="0"/>
              </a:rPr>
              <a:t> 10</a:t>
            </a:r>
            <a:endParaRPr lang="en-US" altLang="zh-CN" sz="3600" b="1" dirty="0">
              <a:solidFill>
                <a:srgbClr val="336600"/>
              </a:solidFill>
              <a:cs typeface="Times New Roman" panose="02020603050405020304" pitchFamily="18" charset="0"/>
            </a:endParaRPr>
          </a:p>
          <a:p>
            <a:r>
              <a:rPr lang="zh-CN" altLang="zh-CN" b="1" dirty="0"/>
              <a:t>Stem 3×3 (s=2) + MaxPool </a:t>
            </a:r>
            <a:endParaRPr lang="en-US" altLang="zh-CN" b="1" dirty="0"/>
          </a:p>
          <a:p>
            <a:r>
              <a:rPr lang="zh-CN" altLang="zh-CN" b="1" dirty="0"/>
              <a:t>→ conv3s2 下采样 </a:t>
            </a:r>
            <a:endParaRPr lang="en-US" altLang="zh-CN" b="1" dirty="0"/>
          </a:p>
          <a:p>
            <a:r>
              <a:rPr lang="zh-CN" altLang="zh-CN" b="1" dirty="0"/>
              <a:t>→ 1×1 Stages </a:t>
            </a:r>
            <a:endParaRPr lang="en-US" altLang="zh-CN" b="1" dirty="0"/>
          </a:p>
          <a:p>
            <a:r>
              <a:rPr lang="zh-CN" altLang="zh-CN" b="1" dirty="0"/>
              <a:t>→ GAP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DFE016-D792-9D03-1E10-F58166086104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20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26E2D2E-619F-477E-7A29-454410A5D096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E240A55-2666-62DD-1607-D91BBA9293E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150" y="498574"/>
            <a:ext cx="8660914" cy="577394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CE350B2-A816-3BB6-987B-9135A8EF6A41}"/>
              </a:ext>
            </a:extLst>
          </p:cNvPr>
          <p:cNvSpPr txBox="1"/>
          <p:nvPr/>
        </p:nvSpPr>
        <p:spPr>
          <a:xfrm>
            <a:off x="193855" y="60433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3×3 只放在下采样位置，主体全</a:t>
            </a:r>
            <a:r>
              <a:rPr lang="zh-CN" altLang="en-US" dirty="0"/>
              <a:t>部</a:t>
            </a:r>
            <a:r>
              <a:rPr lang="zh-CN" altLang="zh-CN" dirty="0"/>
              <a:t> 1×1，GAP 收尾</a:t>
            </a:r>
          </a:p>
        </p:txBody>
      </p:sp>
    </p:spTree>
    <p:extLst>
      <p:ext uri="{BB962C8B-B14F-4D97-AF65-F5344CB8AC3E}">
        <p14:creationId xmlns:p14="http://schemas.microsoft.com/office/powerpoint/2010/main" val="2364320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8DA9-A789-C9CD-319D-3B744E10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11F9A35-48D3-0866-BBA4-0619E3D7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9" name="图片 8" descr="集创赛1">
            <a:extLst>
              <a:ext uri="{FF2B5EF4-FFF2-40B4-BE49-F238E27FC236}">
                <a16:creationId xmlns:a16="http://schemas.microsoft.com/office/drawing/2014/main" id="{CD0AEB68-F466-0592-2DD1-B84E5FD68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533373E-4489-8726-9224-F2364D755C2E}"/>
              </a:ext>
            </a:extLst>
          </p:cNvPr>
          <p:cNvSpPr txBox="1"/>
          <p:nvPr/>
        </p:nvSpPr>
        <p:spPr>
          <a:xfrm>
            <a:off x="718922" y="19694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最终成果总结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47CEFA-EE5B-AB9E-2F03-63C932B2782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8391" y="363959"/>
            <a:ext cx="8911810" cy="4890179"/>
          </a:xfrm>
          <a:prstGeom prst="rect">
            <a:avLst/>
          </a:prstGeom>
        </p:spPr>
      </p:pic>
      <p:sp>
        <p:nvSpPr>
          <p:cNvPr id="3" name="Card">
            <a:extLst>
              <a:ext uri="{FF2B5EF4-FFF2-40B4-BE49-F238E27FC236}">
                <a16:creationId xmlns:a16="http://schemas.microsoft.com/office/drawing/2014/main" id="{1DE131D1-4E9A-698C-82A5-C760A2FD3836}"/>
              </a:ext>
            </a:extLst>
          </p:cNvPr>
          <p:cNvSpPr>
            <a:spLocks noGrp="1"/>
          </p:cNvSpPr>
          <p:nvPr/>
        </p:nvSpPr>
        <p:spPr>
          <a:xfrm>
            <a:off x="287119" y="5407257"/>
            <a:ext cx="2900384" cy="125380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C69D32-C266-1717-4D5F-FC6F3975983B}"/>
              </a:ext>
            </a:extLst>
          </p:cNvPr>
          <p:cNvSpPr txBox="1"/>
          <p:nvPr/>
        </p:nvSpPr>
        <p:spPr>
          <a:xfrm>
            <a:off x="204572" y="5394174"/>
            <a:ext cx="3076464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9</a:t>
            </a:r>
            <a:r>
              <a:rPr lang="en-US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6.40</a:t>
            </a:r>
            <a:r>
              <a:rPr lang="zh-CN" altLang="zh-C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%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真机准确率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EuroSAT 10类测试集</a:t>
            </a:r>
            <a:r>
              <a:rPr lang="en-US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1000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endParaRPr lang="en-US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（全量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5400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张的真机准确率为</a:t>
            </a:r>
            <a:r>
              <a:rPr lang="en-US" altLang="zh-CN" sz="14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95.33%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B8CBEFA0-6740-7F0B-8DF9-ED5EA64DB024}"/>
              </a:ext>
            </a:extLst>
          </p:cNvPr>
          <p:cNvSpPr>
            <a:spLocks noGrp="1"/>
          </p:cNvSpPr>
          <p:nvPr/>
        </p:nvSpPr>
        <p:spPr>
          <a:xfrm>
            <a:off x="3506346" y="5411378"/>
            <a:ext cx="2267939" cy="1236768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66D93E-A8A9-0EA9-844A-FC7CD112CDBB}"/>
              </a:ext>
            </a:extLst>
          </p:cNvPr>
          <p:cNvSpPr txBox="1"/>
          <p:nvPr/>
        </p:nvSpPr>
        <p:spPr>
          <a:xfrm>
            <a:off x="3260880" y="5389447"/>
            <a:ext cx="277139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chemeClr val="accent2">
                    <a:lumMod val="75000"/>
                  </a:schemeClr>
                </a:solidFill>
                <a:effectLst/>
                <a:latin typeface="Poppins" panose="00000500000000000000" pitchFamily="2" charset="0"/>
              </a:rPr>
              <a:t>0.36pt</a:t>
            </a:r>
          </a:p>
          <a:p>
            <a:pPr marL="0" marR="0" indent="0" algn="ctr">
              <a:spcBef>
                <a:spcPts val="450"/>
              </a:spcBef>
              <a:buNone/>
            </a:pP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hw-GPU 极小差距</a:t>
            </a:r>
            <a:endParaRPr lang="en-US" altLang="zh-CN" sz="1200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（</a:t>
            </a:r>
            <a:r>
              <a:rPr lang="en-US" altLang="zh-CN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1000</a:t>
            </a:r>
            <a:r>
              <a:rPr lang="zh-CN" altLang="en-US" sz="120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样本</a:t>
            </a: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抽样；全量 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−1.43pt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硬件</a:t>
            </a:r>
            <a:r>
              <a:rPr lang="zh-CN" altLang="en-US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净</a:t>
            </a:r>
            <a: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损失仅 9/1000 样本</a:t>
            </a: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A33C3FB8-DE54-860C-D499-321263386B61}"/>
              </a:ext>
            </a:extLst>
          </p:cNvPr>
          <p:cNvSpPr>
            <a:spLocks noGrp="1"/>
          </p:cNvSpPr>
          <p:nvPr/>
        </p:nvSpPr>
        <p:spPr>
          <a:xfrm>
            <a:off x="6153413" y="5410144"/>
            <a:ext cx="1777931" cy="1169227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608C1B-4CCC-A563-DDD8-015428ECBE0E}"/>
              </a:ext>
            </a:extLst>
          </p:cNvPr>
          <p:cNvSpPr txBox="1"/>
          <p:nvPr/>
        </p:nvSpPr>
        <p:spPr>
          <a:xfrm>
            <a:off x="6119946" y="5441501"/>
            <a:ext cx="1903977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zh-CN" altLang="zh-CN" sz="3600" b="1" i="0" dirty="0">
                <a:solidFill>
                  <a:srgbClr val="00B050"/>
                </a:solidFill>
                <a:effectLst/>
                <a:latin typeface="Poppins" panose="00000500000000000000" pitchFamily="2" charset="0"/>
              </a:rPr>
              <a:t>2.56M</a:t>
            </a: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M10  </a:t>
            </a:r>
            <a:r>
              <a:rPr lang="zh-CN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MACs 运算量</a:t>
            </a:r>
            <a:br>
              <a:rPr lang="zh-CN" altLang="zh-CN" sz="1200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</a:br>
            <a:r>
              <a:rPr lang="en-US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1/61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 </a:t>
            </a:r>
            <a:r>
              <a:rPr lang="en-US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Model1</a:t>
            </a:r>
            <a:r>
              <a:rPr lang="zh-CN" altLang="en-US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的计算量</a:t>
            </a:r>
            <a:endParaRPr lang="zh-CN" altLang="zh-CN" sz="1200" b="0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5" name="Card">
            <a:extLst>
              <a:ext uri="{FF2B5EF4-FFF2-40B4-BE49-F238E27FC236}">
                <a16:creationId xmlns:a16="http://schemas.microsoft.com/office/drawing/2014/main" id="{1B46CE54-F4B5-BE37-D3FA-D1B1C95841C2}"/>
              </a:ext>
            </a:extLst>
          </p:cNvPr>
          <p:cNvSpPr>
            <a:spLocks noGrp="1"/>
          </p:cNvSpPr>
          <p:nvPr/>
        </p:nvSpPr>
        <p:spPr>
          <a:xfrm>
            <a:off x="8373494" y="5405331"/>
            <a:ext cx="2868465" cy="1242816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E210D1-2962-B201-3D50-461CD0CDF75F}"/>
              </a:ext>
            </a:extLst>
          </p:cNvPr>
          <p:cNvSpPr txBox="1"/>
          <p:nvPr/>
        </p:nvSpPr>
        <p:spPr>
          <a:xfrm>
            <a:off x="8446871" y="5469714"/>
            <a:ext cx="272171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DA6579"/>
                </a:solidFill>
                <a:latin typeface="Poppins" panose="00000500000000000000" pitchFamily="2" charset="0"/>
              </a:rPr>
              <a:t>1/103</a:t>
            </a:r>
            <a:r>
              <a:rPr lang="zh-CN" altLang="en-US" sz="3600" dirty="0">
                <a:solidFill>
                  <a:srgbClr val="DA6579"/>
                </a:solidFill>
                <a:latin typeface="Poppins" panose="00000500000000000000" pitchFamily="2" charset="0"/>
              </a:rPr>
              <a:t>算力</a:t>
            </a:r>
            <a:endParaRPr lang="zh-CN" altLang="zh-CN" sz="3600" dirty="0">
              <a:solidFill>
                <a:srgbClr val="DA6579"/>
              </a:solidFill>
              <a:latin typeface="Poppins" panose="00000500000000000000" pitchFamily="2" charset="0"/>
            </a:endParaRPr>
          </a:p>
          <a:p>
            <a:pPr algn="ctr">
              <a:spcBef>
                <a:spcPts val="450"/>
              </a:spcBef>
            </a:pPr>
            <a:r>
              <a:rPr lang="en-US" altLang="zh-CN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M9  </a:t>
            </a:r>
            <a:r>
              <a:rPr lang="zh-CN" altLang="en-US" sz="1200" b="1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全</a:t>
            </a:r>
            <a:r>
              <a:rPr lang="zh-CN" altLang="en-US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量</a:t>
            </a:r>
            <a:r>
              <a:rPr lang="zh-CN" altLang="zh-CN" sz="1200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94.43% </a:t>
            </a:r>
            <a:endParaRPr lang="en-US" altLang="zh-CN" sz="1200" b="1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  <a:p>
            <a:pPr algn="ctr">
              <a:spcBef>
                <a:spcPts val="450"/>
              </a:spcBef>
            </a:pPr>
            <a:r>
              <a:rPr lang="zh-CN" altLang="zh-CN" sz="1200" dirty="0">
                <a:latin typeface="Noto Sans SC" panose="020B0200000000000000" pitchFamily="34" charset="-122"/>
                <a:ea typeface="Noto Sans SC" panose="020B0200000000000000" pitchFamily="34" charset="-122"/>
              </a:rPr>
              <a:t>≤2M 预算冠军，双 seed 95.87/95.69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E840D32-B038-04CC-1199-80C39AA6032C}"/>
              </a:ext>
            </a:extLst>
          </p:cNvPr>
          <p:cNvSpPr txBox="1"/>
          <p:nvPr/>
        </p:nvSpPr>
        <p:spPr>
          <a:xfrm>
            <a:off x="3584270" y="5137569"/>
            <a:ext cx="73854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b="1" i="0" dirty="0">
                <a:effectLst/>
                <a:latin typeface="-apple-system"/>
              </a:rPr>
              <a:t>各阶段均为真机实测（n=1000，同窗口校准口径）；最终全量 5400 张收官：M10 95.33% / M9 94.43%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598015-273C-07A5-72FC-0095C165CEF2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21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995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52282E1-7284-9CFC-D81C-09500C4A6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9" name="图片 8" descr="集创赛1">
            <a:extLst>
              <a:ext uri="{FF2B5EF4-FFF2-40B4-BE49-F238E27FC236}">
                <a16:creationId xmlns:a16="http://schemas.microsoft.com/office/drawing/2014/main" id="{5A45B8AA-0C6A-D8E4-2AEC-630CC569D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82B22F4-BAB5-7CE9-71A2-863FA328184C}"/>
              </a:ext>
            </a:extLst>
          </p:cNvPr>
          <p:cNvSpPr txBox="1"/>
          <p:nvPr/>
        </p:nvSpPr>
        <p:spPr>
          <a:xfrm>
            <a:off x="764546" y="304205"/>
            <a:ext cx="4767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初赛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Gazelle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真机部署结果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DBA9355-7418-D1FE-10CB-31F09B610CA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51"/>
            <a:ext cx="8343014" cy="4972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48814E6-B1AC-BB85-A50C-66E474691571}"/>
                  </a:ext>
                </a:extLst>
              </p:cNvPr>
              <p:cNvSpPr txBox="1"/>
              <p:nvPr/>
            </p:nvSpPr>
            <p:spPr>
              <a:xfrm>
                <a:off x="8127937" y="579770"/>
                <a:ext cx="412543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2000" b="1" dirty="0">
                    <a:effectLst/>
                  </a:rPr>
                  <a:t>链路无损</a:t>
                </a:r>
                <a:r>
                  <a:rPr lang="zh-CN" altLang="zh-CN" sz="2000" dirty="0">
                    <a:effectLst/>
                  </a:rPr>
                  <a:t>：硬件与理想软件路径精度偏差 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nor/>
                      </m:rPr>
                      <a:rPr lang="zh-CN" altLang="en-US" sz="2000" i="0"/>
                      <m:t>pt</m:t>
                    </m:r>
                  </m:oMath>
                </a14:m>
                <a:r>
                  <a:rPr lang="zh-CN" altLang="zh-CN" sz="2000" dirty="0">
                    <a:effectLst/>
                  </a:rPr>
                  <a:t>（总体硬件路径无明显信息损失）。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2000" b="1" dirty="0">
                    <a:effectLst/>
                  </a:rPr>
                  <a:t>算力充足</a:t>
                </a:r>
                <a:r>
                  <a:rPr lang="zh-CN" altLang="zh-CN" sz="2000" dirty="0">
                    <a:effectLst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00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,000</m:t>
                    </m:r>
                    <m:r>
                      <m:rPr>
                        <m:nor/>
                      </m:rPr>
                      <a:rPr lang="zh-CN" altLang="en-US" sz="2000" i="0"/>
                      <m:t>张</m:t>
                    </m:r>
                    <m:r>
                      <a:rPr lang="zh-CN" altLang="en-US" sz="2000" i="0">
                        <a:latin typeface="Cambria Math" panose="02040503050406030204" pitchFamily="18" charset="0"/>
                      </a:rPr>
                      <m:t>×3</m:t>
                    </m:r>
                    <m:r>
                      <m:rPr>
                        <m:nor/>
                      </m:rPr>
                      <a:rPr lang="zh-CN" altLang="en-US" sz="2000" i="0"/>
                      <m:t>层</m:t>
                    </m:r>
                  </m:oMath>
                </a14:m>
                <a:r>
                  <a:rPr lang="zh-CN" altLang="zh-CN" sz="2000" dirty="0">
                    <a:effectLst/>
                  </a:rPr>
                  <a:t> 全光计算推理仅耗时 </a:t>
                </a:r>
                <a:r>
                  <a:rPr lang="en-US" altLang="zh-CN" sz="2000" b="1" dirty="0"/>
                  <a:t>~</a:t>
                </a:r>
                <a:r>
                  <a:rPr lang="zh-CN" altLang="zh-CN" sz="2000" b="1" dirty="0">
                    <a:effectLst/>
                  </a:rPr>
                  <a:t>4 分钟</a:t>
                </a:r>
                <a:r>
                  <a:rPr lang="zh-CN" altLang="zh-CN" sz="2000" dirty="0">
                    <a:effectLst/>
                  </a:rPr>
                  <a:t>，真机算力支持高频次迭代。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48814E6-B1AC-BB85-A50C-66E474691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937" y="579770"/>
                <a:ext cx="4125433" cy="1938992"/>
              </a:xfrm>
              <a:prstGeom prst="rect">
                <a:avLst/>
              </a:prstGeom>
              <a:blipFill>
                <a:blip r:embed="rId5"/>
                <a:stretch>
                  <a:fillRect l="-1329" t="-1572" r="-886"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6543861F-ECFC-2E67-5901-4CB573E7E49A}"/>
              </a:ext>
            </a:extLst>
          </p:cNvPr>
          <p:cNvSpPr txBox="1"/>
          <p:nvPr/>
        </p:nvSpPr>
        <p:spPr>
          <a:xfrm>
            <a:off x="8127936" y="2774534"/>
            <a:ext cx="41254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先校准再谈精度</a:t>
            </a:r>
            <a:r>
              <a:rPr lang="zh-CN" altLang="zh-CN" dirty="0"/>
              <a:t>：EBR 5.08→9.74（compass_cali）后，硬件准确率从 12.10%（≈随机）→ 94.85%；EBR≥8 成为所有上板的放行判据</a:t>
            </a:r>
            <a:endParaRPr lang="en-US" altLang="zh-CN" dirty="0"/>
          </a:p>
          <a:p>
            <a:pPr>
              <a:buNone/>
            </a:pPr>
            <a:endParaRPr lang="zh-CN" altLang="zh-CN" dirty="0"/>
          </a:p>
          <a:p>
            <a:pPr lvl="0"/>
            <a:r>
              <a:rPr lang="zh-CN" altLang="zh-CN" b="1" dirty="0"/>
              <a:t>小数值必须放大</a:t>
            </a:r>
            <a:r>
              <a:rPr lang="zh-CN" altLang="zh-CN" dirty="0"/>
              <a:t>：光计算噪声是绝对量级（~4-5 counts 底噪），输入/权重用 scale ×16 顶满 8-bit 值域（uint4 仅占 ~6% 量程会被噪声淹没）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zh-CN" altLang="zh-CN" b="1" dirty="0"/>
              <a:t>SDK 副作用规避</a:t>
            </a:r>
            <a:r>
              <a:rPr lang="zh-CN" altLang="zh-CN" dirty="0"/>
              <a:t>：compass_sdk 篡改 sys.argv → 部署脚本一律环境变量传参；sudo 清空环境 → </a:t>
            </a:r>
            <a:r>
              <a:rPr lang="zh-CN" altLang="zh-CN" dirty="0">
                <a:latin typeface="Courier New" panose="02070309020205020404" pitchFamily="49" charset="0"/>
              </a:rPr>
              <a:t>sudo env VAR=...</a:t>
            </a:r>
            <a:endParaRPr lang="zh-C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709509-F6EC-B79C-2B9E-EAECF5F77894}"/>
              </a:ext>
            </a:extLst>
          </p:cNvPr>
          <p:cNvSpPr txBox="1"/>
          <p:nvPr/>
        </p:nvSpPr>
        <p:spPr>
          <a:xfrm>
            <a:off x="11206657" y="638351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22 / 23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E6CB11-E869-4B29-D9BD-382E0537664A}"/>
              </a:ext>
            </a:extLst>
          </p:cNvPr>
          <p:cNvSpPr txBox="1"/>
          <p:nvPr/>
        </p:nvSpPr>
        <p:spPr>
          <a:xfrm>
            <a:off x="57150" y="65527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决赛成果汇报    </a:t>
            </a:r>
            <a:r>
              <a:rPr lang="es-ES" altLang="zh-CN" sz="1200" dirty="0"/>
              <a:t>Optic-SpaceNet · </a:t>
            </a:r>
            <a:r>
              <a:rPr lang="zh-CN" altLang="en-US" sz="1200" dirty="0"/>
              <a:t>光学</a:t>
            </a:r>
            <a:r>
              <a:rPr lang="es-ES" altLang="zh-CN" sz="1200" dirty="0"/>
              <a:t>CNN</a:t>
            </a:r>
            <a:r>
              <a:rPr lang="zh-CN" altLang="en-US" sz="1200" dirty="0"/>
              <a:t>在轨加速系统 </a:t>
            </a:r>
            <a:r>
              <a:rPr lang="en-US" altLang="zh-CN" sz="1200" dirty="0"/>
              <a:t>×  </a:t>
            </a:r>
            <a:r>
              <a:rPr lang="es-ES" altLang="zh-CN" sz="1200" dirty="0"/>
              <a:t>MNIST</a:t>
            </a:r>
          </a:p>
        </p:txBody>
      </p:sp>
    </p:spTree>
    <p:extLst>
      <p:ext uri="{BB962C8B-B14F-4D97-AF65-F5344CB8AC3E}">
        <p14:creationId xmlns:p14="http://schemas.microsoft.com/office/powerpoint/2010/main" val="145448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964446" y="1356258"/>
            <a:ext cx="5789541" cy="3170265"/>
            <a:chOff x="2855913" y="-477838"/>
            <a:chExt cx="5757862" cy="2501900"/>
          </a:xfrm>
          <a:solidFill>
            <a:schemeClr val="accent3"/>
          </a:solidFill>
        </p:grpSpPr>
        <p:sp>
          <p:nvSpPr>
            <p:cNvPr id="10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10128669" y="1735494"/>
            <a:ext cx="1150294" cy="115029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20" name="图片占位符 19" descr="图片包含 建筑物, 户外, 天空&#10;&#10;自动生成的说明"/>
          <p:cNvPicPr>
            <a:picLocks noGrp="1" noChangeAspect="1"/>
          </p:cNvPicPr>
          <p:nvPr>
            <p:ph type="pic" sz="quarter" idx="19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693" y="0"/>
            <a:ext cx="4927057" cy="6866909"/>
          </a:xfrm>
        </p:spPr>
      </p:pic>
      <p:sp>
        <p:nvSpPr>
          <p:cNvPr id="2" name="文本框 1"/>
          <p:cNvSpPr txBox="1"/>
          <p:nvPr/>
        </p:nvSpPr>
        <p:spPr>
          <a:xfrm>
            <a:off x="6832985" y="5247060"/>
            <a:ext cx="2448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CICC 1003564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3" y="1948366"/>
            <a:ext cx="1281897" cy="7245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5845</Words>
  <Application>Microsoft Office PowerPoint</Application>
  <PresentationFormat>宽屏</PresentationFormat>
  <Paragraphs>355</Paragraphs>
  <Slides>23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-apple-system</vt:lpstr>
      <vt:lpstr>Noto Sans SC</vt:lpstr>
      <vt:lpstr>Plus Jakarta Sans</vt:lpstr>
      <vt:lpstr>等线</vt:lpstr>
      <vt:lpstr>等线 Light</vt:lpstr>
      <vt:lpstr>宋体</vt:lpstr>
      <vt:lpstr>Arial</vt:lpstr>
      <vt:lpstr>Cambria Math</vt:lpstr>
      <vt:lpstr>Courier New</vt:lpstr>
      <vt:lpstr>Impact</vt:lpstr>
      <vt:lpstr>Poppins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lhhisdd@163.com</dc:creator>
  <cp:lastModifiedBy>lhhisdd@163.com</cp:lastModifiedBy>
  <cp:revision>241</cp:revision>
  <dcterms:created xsi:type="dcterms:W3CDTF">2026-07-19T14:35:31Z</dcterms:created>
  <dcterms:modified xsi:type="dcterms:W3CDTF">2026-08-21T04:29:59Z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98F8192F1548C28650D65C6A50D4CD3A_43</vt:lpwstr>
  </property>
</Properties>
</file>